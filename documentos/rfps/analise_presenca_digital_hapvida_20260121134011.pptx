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png"/><Relationship Id="rId23" Type="http://schemas.openxmlformats.org/officeDocument/2006/relationships/image" Target="../media/image-23-23.png"/><Relationship Id="rId24" Type="http://schemas.openxmlformats.org/officeDocument/2006/relationships/image" Target="../media/image-23-24.png"/><Relationship Id="rId25" Type="http://schemas.openxmlformats.org/officeDocument/2006/relationships/image" Target="../media/image-23-25.png"/><Relationship Id="rId26" Type="http://schemas.openxmlformats.org/officeDocument/2006/relationships/image" Target="../media/image-23-26.png"/><Relationship Id="rId27" Type="http://schemas.openxmlformats.org/officeDocument/2006/relationships/image" Target="../media/image-23-27.png"/><Relationship Id="rId28" Type="http://schemas.openxmlformats.org/officeDocument/2006/relationships/image" Target="../media/image-23-28.png"/><Relationship Id="rId29" Type="http://schemas.openxmlformats.org/officeDocument/2006/relationships/image" Target="../media/image-23-29.png"/><Relationship Id="rId30" Type="http://schemas.openxmlformats.org/officeDocument/2006/relationships/image" Target="../media/image-23-30.png"/><Relationship Id="rId31" Type="http://schemas.openxmlformats.org/officeDocument/2006/relationships/image" Target="../media/image-23-31.png"/><Relationship Id="rId32" Type="http://schemas.openxmlformats.org/officeDocument/2006/relationships/image" Target="../media/image-23-32.png"/><Relationship Id="rId33" Type="http://schemas.openxmlformats.org/officeDocument/2006/relationships/image" Target="../media/image-23-33.png"/><Relationship Id="rId34" Type="http://schemas.openxmlformats.org/officeDocument/2006/relationships/image" Target="../media/image-23-34.png"/><Relationship Id="rId35" Type="http://schemas.openxmlformats.org/officeDocument/2006/relationships/image" Target="../media/image-23-35.png"/><Relationship Id="rId36" Type="http://schemas.openxmlformats.org/officeDocument/2006/relationships/image" Target="../media/image-23-36.png"/><Relationship Id="rId37" Type="http://schemas.openxmlformats.org/officeDocument/2006/relationships/image" Target="../media/image-23-37.png"/><Relationship Id="rId38" Type="http://schemas.openxmlformats.org/officeDocument/2006/relationships/image" Target="../media/image-23-38.png"/><Relationship Id="rId39" Type="http://schemas.openxmlformats.org/officeDocument/2006/relationships/image" Target="../media/image-23-39.png"/><Relationship Id="rId40" Type="http://schemas.openxmlformats.org/officeDocument/2006/relationships/image" Target="../media/image-23-40.png"/><Relationship Id="rId41" Type="http://schemas.openxmlformats.org/officeDocument/2006/relationships/image" Target="../media/image-23-41.png"/><Relationship Id="rId42" Type="http://schemas.openxmlformats.org/officeDocument/2006/relationships/image" Target="../media/image-23-42.png"/><Relationship Id="rId43" Type="http://schemas.openxmlformats.org/officeDocument/2006/relationships/image" Target="../media/image-23-43.png"/><Relationship Id="rId44" Type="http://schemas.openxmlformats.org/officeDocument/2006/relationships/image" Target="../media/image-23-44.png"/><Relationship Id="rId45" Type="http://schemas.openxmlformats.org/officeDocument/2006/relationships/image" Target="../media/image-23-45.png"/><Relationship Id="rId46" Type="http://schemas.openxmlformats.org/officeDocument/2006/relationships/image" Target="../media/image-23-46.png"/><Relationship Id="rId47" Type="http://schemas.openxmlformats.org/officeDocument/2006/relationships/image" Target="../media/image-23-47.png"/><Relationship Id="rId48" Type="http://schemas.openxmlformats.org/officeDocument/2006/relationships/image" Target="../media/image-23-48.png"/><Relationship Id="rId49" Type="http://schemas.openxmlformats.org/officeDocument/2006/relationships/image" Target="../media/image-23-49.png"/><Relationship Id="rId50" Type="http://schemas.openxmlformats.org/officeDocument/2006/relationships/slideLayout" Target="../slideLayouts/slideLayout1.xml"/><Relationship Id="rId51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8382305" y="0"/>
            <a:ext cx="3810305" cy="38103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2759659"/>
            <a:ext cx="95098" cy="1343254"/>
          </a:xfrm>
          <a:prstGeom prst="rect">
            <a:avLst/>
          </a:prstGeom>
          <a:solidFill>
            <a:srgbClr val="F5732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2759659"/>
            <a:ext cx="75968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Análise de Presença Digital</a:t>
            </a:r>
            <a:endParaRPr lang="en-US" sz="37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59836"/>
            <a:ext cx="786841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Hapvida</a:t>
            </a: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761695" y="1676095"/>
            <a:ext cx="5219395" cy="3952951"/>
          </a:xfrm>
          <a:prstGeom prst="roundRect">
            <a:avLst>
              <a:gd name="adj" fmla="val 44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22408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0354" y="2276856"/>
            <a:ext cx="47439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1000354" y="1957730"/>
            <a:ext cx="219456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5705" y="1923898"/>
            <a:ext cx="1924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Abordagem Analítica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0" b="0"/>
          <a:stretch/>
        </p:blipFill>
        <p:spPr>
          <a:xfrm>
            <a:off x="1000354" y="2447849"/>
            <a:ext cx="114300" cy="1143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l="0" r="0" t="0" b="0"/>
          <a:stretch/>
        </p:blipFill>
        <p:spPr>
          <a:xfrm>
            <a:off x="1000354" y="3133649"/>
            <a:ext cx="114300" cy="11430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rcRect l="0" r="0" t="0" b="0"/>
          <a:stretch/>
        </p:blipFill>
        <p:spPr>
          <a:xfrm>
            <a:off x="1000354" y="3819449"/>
            <a:ext cx="114300" cy="1143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90549" y="2409444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Triangulação Multi-Fonte: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1190549" y="2409444"/>
            <a:ext cx="451073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2408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Cruzamento de dados de tráfego (SEMrush, SimilarWeb), tecnologia (BuiltWith, Wappalyzer) e regulatórios (ANS).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1190549" y="3095244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Normalização Temporal: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1190549" y="3095244"/>
            <a:ext cx="451073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2408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referentes ao fechamento de Dezembro/2025 e snapshots de Janeiro/2026 para consistência comparativa.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1190549" y="378104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Validação Manual: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1190549" y="3781044"/>
            <a:ext cx="45107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2408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Crawling de URLs de saída, inspeção de código-fonte (DOM) e testes de jornada do usuário.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210605" y="1676095"/>
            <a:ext cx="5219395" cy="3952951"/>
          </a:xfrm>
          <a:prstGeom prst="roundRect">
            <a:avLst>
              <a:gd name="adj" fmla="val 44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22408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48349" y="2276856"/>
            <a:ext cx="47439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6448349" y="1957730"/>
            <a:ext cx="219456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743700" y="1923898"/>
            <a:ext cx="2419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Classificação de Evidências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448349" y="2409444"/>
            <a:ext cx="4743907" cy="886054"/>
          </a:xfrm>
          <a:prstGeom prst="roundRect">
            <a:avLst>
              <a:gd name="adj" fmla="val 6658"/>
            </a:avLst>
          </a:prstGeom>
          <a:solidFill>
            <a:srgbClr val="22C55E">
              <a:alpha val="10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6448349" y="2409444"/>
            <a:ext cx="38405" cy="88605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01054" y="2523744"/>
            <a:ext cx="133502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10451" y="2486254"/>
            <a:ext cx="28977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DETERMINÍSTICOS (Alta Certeza)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6810451" y="2667305"/>
            <a:ext cx="4297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Métricas internas (quando disponíveis: GA4, CRM), observações diretas (tecnologias detectadas no código, existência de links, dados ANS).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6448349" y="3402482"/>
            <a:ext cx="4743907" cy="886054"/>
          </a:xfrm>
          <a:prstGeom prst="roundRect">
            <a:avLst>
              <a:gd name="adj" fmla="val 6658"/>
            </a:avLst>
          </a:prstGeom>
          <a:solidFill>
            <a:srgbClr val="EAB308">
              <a:alpha val="10000"/>
            </a:srgbClr>
          </a:solidFill>
          <a:ln/>
        </p:spPr>
      </p:sp>
      <p:sp>
        <p:nvSpPr>
          <p:cNvPr id="26" name="Shape 18"/>
          <p:cNvSpPr/>
          <p:nvPr/>
        </p:nvSpPr>
        <p:spPr>
          <a:xfrm>
            <a:off x="6448349" y="3402482"/>
            <a:ext cx="38405" cy="886054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01054" y="3516782"/>
            <a:ext cx="133502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810451" y="3478378"/>
            <a:ext cx="26691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3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PROBABILÍSTICOS (Estimados)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6810451" y="3659429"/>
            <a:ext cx="4297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3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Estimativas de tráfego, volumes de keywords e share de canais baseados em painéis amostrais de terceiros (SEMrush, SimilarWeb).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448349" y="4394606"/>
            <a:ext cx="4743907" cy="886054"/>
          </a:xfrm>
          <a:prstGeom prst="roundRect">
            <a:avLst>
              <a:gd name="adj" fmla="val 6658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1" name="Shape 22"/>
          <p:cNvSpPr/>
          <p:nvPr/>
        </p:nvSpPr>
        <p:spPr>
          <a:xfrm>
            <a:off x="6448349" y="4394606"/>
            <a:ext cx="38405" cy="88605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601054" y="4508906"/>
            <a:ext cx="133502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810451" y="4470502"/>
            <a:ext cx="181234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MODELAGENS (Projeções)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6810451" y="4652467"/>
            <a:ext cx="414589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C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Cálculos derivados sem dado direto (ex: distribuição regional de demanda, % da receita em mídia paga). Sempre sinalizados com disclaimer.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09905" y="5853989"/>
            <a:ext cx="10972800" cy="1920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61695" y="6063386"/>
            <a:ext cx="152705" cy="1527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028700" y="6024982"/>
            <a:ext cx="10487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DE RECALIBRAÇÃO: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1028700" y="6216091"/>
            <a:ext cx="104872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Este material foi construído com dados de "Market Intelligence". Caso</a:t>
            </a:r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internos determinísticos</a:t>
            </a:r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sejam disponibilizados (acesso ao GA4, CRM, integrações de WhatsApp API ou dados de faturamento real), recalibramos</a:t>
            </a:r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 os números</a:t>
            </a:r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invertendo a prioridade das fontes:</a:t>
            </a:r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Interno &gt; Terceiros &gt; Modelagem</a:t>
            </a:r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9370771" y="828446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do Material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761695" y="485546"/>
            <a:ext cx="66778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METODOLOGIA DE CONSTRUÇÃO</a:t>
            </a:r>
            <a:endParaRPr lang="en-US" sz="3600" dirty="0"/>
          </a:p>
        </p:txBody>
      </p:sp>
      <p:sp>
        <p:nvSpPr>
          <p:cNvPr id="41" name="Shape 30"/>
          <p:cNvSpPr/>
          <p:nvPr/>
        </p:nvSpPr>
        <p:spPr>
          <a:xfrm>
            <a:off x="9322308" y="743407"/>
            <a:ext cx="21150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2" name="Text 31"/>
          <p:cNvSpPr txBox="1"/>
          <p:nvPr/>
        </p:nvSpPr>
        <p:spPr>
          <a:xfrm>
            <a:off x="9575597" y="1095451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Intelligence</a:t>
            </a:r>
            <a:endParaRPr lang="en-US" sz="10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rcRect l="-2644" r="-2644" t="0" b="0"/>
          <a:stretch/>
        </p:blipFill>
        <p:spPr>
          <a:xfrm>
            <a:off x="761695" y="1143000"/>
            <a:ext cx="200254" cy="19019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37844" y="1104595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Abordagem Analítica &amp; Transparência de Dados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390449"/>
            <a:ext cx="5334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FERRAMENTAS &amp; FONTES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-1282" r="-1282" t="0" b="0"/>
          <a:stretch/>
        </p:blipFill>
        <p:spPr>
          <a:xfrm>
            <a:off x="761695" y="1047902"/>
            <a:ext cx="219456" cy="190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7046" y="1009498"/>
            <a:ext cx="46771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de Análise &amp; Market Intelligence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1695" y="1505102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23544" y="2352751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Tráfego estimado, canais, Traffic Journey, volumes de keywords e análise de concorrência.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69003" y="1505102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30852" y="1666951"/>
            <a:ext cx="342900" cy="381305"/>
          </a:xfrm>
          <a:prstGeom prst="roundRect">
            <a:avLst>
              <a:gd name="adj" fmla="val 59259"/>
            </a:avLst>
          </a:prstGeom>
          <a:solidFill>
            <a:srgbClr val="EFF6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30852" y="2352751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Corroboração de share de canais, total de visitas e benchmarks setoriais globais.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75397" y="1505102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37246" y="1666951"/>
            <a:ext cx="390449" cy="381305"/>
          </a:xfrm>
          <a:prstGeom prst="roundRect">
            <a:avLst>
              <a:gd name="adj" fmla="val 47962"/>
            </a:avLst>
          </a:prstGeom>
          <a:solidFill>
            <a:srgbClr val="ECFD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37246" y="2352751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Auditoria de backlinks, authority score, referring domains e saúde técnica de SEO.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695" y="3238805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23544" y="3400654"/>
            <a:ext cx="342900" cy="381305"/>
          </a:xfrm>
          <a:prstGeom prst="roundRect">
            <a:avLst>
              <a:gd name="adj" fmla="val 59259"/>
            </a:avLst>
          </a:prstGeom>
          <a:solidFill>
            <a:srgbClr val="FE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23544" y="4086454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Interesse relativo por marca, sazonalidade de busca e distribuição regional de demanda.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69003" y="3238805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0852" y="3400654"/>
            <a:ext cx="342900" cy="381305"/>
          </a:xfrm>
          <a:prstGeom prst="roundRect">
            <a:avLst>
              <a:gd name="adj" fmla="val 59259"/>
            </a:avLst>
          </a:prstGeom>
          <a:solidFill>
            <a:srgbClr val="EEF2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30852" y="4086454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oficial de beneficiários, market share regulatório e séries históricas do setor.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5397" y="3238805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137246" y="3400654"/>
            <a:ext cx="390449" cy="381305"/>
          </a:xfrm>
          <a:prstGeom prst="roundRect">
            <a:avLst>
              <a:gd name="adj" fmla="val 47962"/>
            </a:avLst>
          </a:prstGeom>
          <a:solidFill>
            <a:srgbClr val="F3F4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7246" y="4086454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Detecção de stack tecnológico, servidores, frameworks e tags de marketing/analytics.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1695" y="4972507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3544" y="5134356"/>
            <a:ext cx="342900" cy="381305"/>
          </a:xfrm>
          <a:prstGeom prst="roundRect">
            <a:avLst>
              <a:gd name="adj" fmla="val 59259"/>
            </a:avLst>
          </a:prstGeom>
          <a:solidFill>
            <a:srgbClr val="F5F3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23544" y="5820156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Validação de tecnologias client-side, scripts de tracking e plataformas de CMS.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69003" y="4972507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30852" y="5134356"/>
            <a:ext cx="342900" cy="381305"/>
          </a:xfrm>
          <a:prstGeom prst="roundRect">
            <a:avLst>
              <a:gd name="adj" fmla="val 59259"/>
            </a:avLst>
          </a:prstGeom>
          <a:solidFill>
            <a:srgbClr val="ECFDF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30852" y="5820156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de Core Web Vitals, experiência do usuário (UX) e performance mobile/desktop.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75397" y="4972507"/>
            <a:ext cx="3457346" cy="1580998"/>
          </a:xfrm>
          <a:prstGeom prst="roundRect">
            <a:avLst>
              <a:gd name="adj" fmla="val 278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224088">
                <a:alpha val="8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137246" y="5820156"/>
            <a:ext cx="3248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visual de dados, diagramas Sankey, gráficos Radar e projeções estatísticas.</a:t>
            </a:r>
            <a:endParaRPr lang="en-US" sz="12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0354" y="1747418"/>
            <a:ext cx="190195" cy="190195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01745" y="1705356"/>
            <a:ext cx="152705" cy="15270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23544" y="2124151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SEMrush Traffic Analytics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06747" y="1747418"/>
            <a:ext cx="190195" cy="190195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09053" y="1705356"/>
            <a:ext cx="152705" cy="15270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530852" y="2124151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SimilarWeb</a:t>
            </a:r>
            <a:endParaRPr lang="en-US" sz="1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14055" y="1747418"/>
            <a:ext cx="237744" cy="190195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115446" y="1705356"/>
            <a:ext cx="152705" cy="1527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137246" y="21241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Ahrefs</a:t>
            </a:r>
            <a:endParaRPr lang="en-US" sz="10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00354" y="3481121"/>
            <a:ext cx="190195" cy="190195"/>
          </a:xfrm>
          <a:prstGeom prst="rect">
            <a:avLst/>
          </a:prstGeom>
        </p:spPr>
      </p:pic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901745" y="3438144"/>
            <a:ext cx="152705" cy="152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23544" y="3857854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Trends</a:t>
            </a:r>
            <a:endParaRPr lang="en-US" sz="10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06747" y="3481121"/>
            <a:ext cx="190195" cy="190195"/>
          </a:xfrm>
          <a:prstGeom prst="rect">
            <a:avLst/>
          </a:prstGeom>
        </p:spPr>
      </p:pic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509053" y="3438144"/>
            <a:ext cx="152705" cy="152705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4530852" y="385785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Dados Abertos</a:t>
            </a:r>
            <a:endParaRPr lang="en-US" sz="10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214055" y="3481121"/>
            <a:ext cx="237744" cy="190195"/>
          </a:xfrm>
          <a:prstGeom prst="rect">
            <a:avLst/>
          </a:prstGeom>
        </p:spPr>
      </p:pic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1115446" y="3438144"/>
            <a:ext cx="152705" cy="15270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8137246" y="3857854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BuiltWith</a:t>
            </a:r>
            <a:endParaRPr lang="en-US" sz="10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00354" y="5214823"/>
            <a:ext cx="190195" cy="190195"/>
          </a:xfrm>
          <a:prstGeom prst="rect">
            <a:avLst/>
          </a:prstGeom>
        </p:spPr>
      </p:pic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901745" y="5171846"/>
            <a:ext cx="152705" cy="152705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923544" y="5591556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Wappalyzer</a:t>
            </a:r>
            <a:endParaRPr lang="en-US" sz="100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606747" y="5214823"/>
            <a:ext cx="190195" cy="190195"/>
          </a:xfrm>
          <a:prstGeom prst="rect">
            <a:avLst/>
          </a:prstGeom>
        </p:spPr>
      </p:pic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509053" y="5171846"/>
            <a:ext cx="152705" cy="152705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4530852" y="5591556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CrUX / PageSpeed</a:t>
            </a:r>
            <a:endParaRPr lang="en-US" sz="100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rcRect l="-1282" r="-1282" t="0" b="0"/>
          <a:stretch/>
        </p:blipFill>
        <p:spPr>
          <a:xfrm>
            <a:off x="8214055" y="5214823"/>
            <a:ext cx="219456" cy="190195"/>
          </a:xfrm>
          <a:prstGeom prst="rect">
            <a:avLst/>
          </a:prstGeom>
        </p:spPr>
      </p:pic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rcRect l="-33" r="-33" t="0" b="0"/>
          <a:stretch/>
        </p:blipFill>
        <p:spPr>
          <a:xfrm>
            <a:off x="11096244" y="5171846"/>
            <a:ext cx="171907" cy="152705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137246" y="5591556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Chart.js / ECharts</a:t>
            </a:r>
            <a:endParaRPr lang="en-US" sz="1000" dirty="0"/>
          </a:p>
        </p:txBody>
      </p:sp>
      <p:sp>
        <p:nvSpPr>
          <p:cNvPr id="58" name="Shape 37"/>
          <p:cNvSpPr/>
          <p:nvPr/>
        </p:nvSpPr>
        <p:spPr>
          <a:xfrm>
            <a:off x="761695" y="6858000"/>
            <a:ext cx="10668305" cy="9144"/>
          </a:xfrm>
          <a:prstGeom prst="rect">
            <a:avLst/>
          </a:prstGeom>
          <a:solidFill>
            <a:srgbClr val="E5E7EB">
              <a:alpha val="10000"/>
            </a:srgbClr>
          </a:solidFill>
          <a:ln/>
        </p:spPr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>
            <a:alphaModFix amt="70000"/>
          </a:blip>
          <a:srcRect l="0" r="0" t="0" b="0"/>
          <a:stretch/>
        </p:blipFill>
        <p:spPr>
          <a:xfrm>
            <a:off x="761695" y="7095744"/>
            <a:ext cx="152705" cy="152705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990295" y="6943954"/>
            <a:ext cx="7715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Todas as fontes possuem links clicáveis para verificação nos rodapés dos slides detalhados.</a:t>
            </a:r>
            <a:endParaRPr lang="en-US" sz="1200" dirty="0"/>
          </a:p>
        </p:txBody>
      </p:sp>
      <p:sp>
        <p:nvSpPr>
          <p:cNvPr id="61" name="Text 39"/>
          <p:cNvSpPr txBox="1"/>
          <p:nvPr/>
        </p:nvSpPr>
        <p:spPr>
          <a:xfrm>
            <a:off x="8585302" y="6943954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Market Intelligence Hub • Jan/2026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7905902" y="2572207"/>
            <a:ext cx="476219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485546"/>
            <a:ext cx="34774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MARKET SHARE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1114654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Panorama Competitivo 2025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1695" y="1595628"/>
            <a:ext cx="3409798" cy="4381805"/>
          </a:xfrm>
          <a:prstGeom prst="roundRect">
            <a:avLst>
              <a:gd name="adj" fmla="val 59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22408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00354" y="1833372"/>
            <a:ext cx="3033979" cy="173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a fusão estratégica, o</a:t>
            </a:r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Hapvida NotreDame Intermédica</a:t>
            </a:r>
            <a:pPr algn="l" indent="0" marL="0">
              <a:buNone/>
            </a:pPr>
            <a:r>
              <a:rPr lang="en-US" sz="10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consolida sua liderança absoluta no mercado. Detendo</a:t>
            </a:r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16.6%</a:t>
            </a:r>
            <a:pPr algn="l" indent="0" marL="0">
              <a:buNone/>
            </a:pPr>
            <a:r>
              <a:rPr lang="en-US" sz="10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market share, a companhia se distancia significativamente dos concorrentes, reforçando sua robustez e presença nacional.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00354" y="4025189"/>
            <a:ext cx="293339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90549" y="3757270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NDI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0354" y="4453128"/>
            <a:ext cx="293339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90549" y="4186123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 Saúde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00354" y="4881982"/>
            <a:ext cx="293339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90549" y="4614977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00354" y="5310835"/>
            <a:ext cx="293339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90549" y="5043830"/>
            <a:ext cx="909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90549" y="5510174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484778" y="3728923"/>
            <a:ext cx="5769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16.6%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82619" y="4157777"/>
            <a:ext cx="48188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7.1%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549701" y="4586630"/>
            <a:ext cx="5102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6.0%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544214" y="5014570"/>
            <a:ext cx="5193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5.5%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457346" y="5481828"/>
            <a:ext cx="60533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64.8%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22292" y="1600200"/>
            <a:ext cx="6810451" cy="4371746"/>
          </a:xfrm>
          <a:prstGeom prst="roundRect">
            <a:avLst>
              <a:gd name="adj" fmla="val 5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84141" y="2143354"/>
            <a:ext cx="6486754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73952" y="1752905"/>
            <a:ext cx="31053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Distribuição de Market Share</a:t>
            </a:r>
            <a:endParaRPr lang="en-US" sz="18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4784141" y="2305202"/>
            <a:ext cx="6486754" cy="3504895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61695" y="5971946"/>
            <a:ext cx="1066830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61695" y="6133795"/>
            <a:ext cx="3657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Fontes: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761695" y="6324905"/>
            <a:ext cx="3657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Agência Nacional de Saúde Suplementar (ANS) - Tabnet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9286646" y="6152998"/>
            <a:ext cx="2153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Dados referentes a: Março 2025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286646" y="6324905"/>
            <a:ext cx="2153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56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Extraído em: Maio/2025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8382305" y="0"/>
            <a:ext cx="3810305" cy="3810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485546"/>
            <a:ext cx="46104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MATURIDADE DIGITAL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0452506" y="838505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GLOBAL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546690" y="1000354"/>
            <a:ext cx="6053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3.8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1282" r="-1282" t="0" b="0"/>
          <a:stretch/>
        </p:blipFill>
        <p:spPr>
          <a:xfrm>
            <a:off x="761695" y="1143000"/>
            <a:ext cx="219456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7046" y="1104595"/>
            <a:ext cx="4200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Análise Técnica de Tags &amp; Métricas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013948" y="1114654"/>
            <a:ext cx="4242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4088">
                    <a:alpha val="5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/5.0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61695" y="1943100"/>
            <a:ext cx="1362456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7"/>
          <p:cNvSpPr/>
          <p:nvPr/>
        </p:nvSpPr>
        <p:spPr>
          <a:xfrm>
            <a:off x="761695" y="2115007"/>
            <a:ext cx="3409798" cy="78089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761695" y="2115007"/>
            <a:ext cx="38405" cy="780898"/>
          </a:xfrm>
          <a:prstGeom prst="rect">
            <a:avLst/>
          </a:prstGeom>
          <a:solidFill>
            <a:srgbClr val="F5732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539" b="-1539"/>
          <a:stretch/>
        </p:blipFill>
        <p:spPr>
          <a:xfrm>
            <a:off x="875995" y="2219249"/>
            <a:ext cx="123444" cy="1335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6249" y="2190902"/>
            <a:ext cx="1310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&amp; GTM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479292" y="2190902"/>
            <a:ext cx="619049" cy="181051"/>
          </a:xfrm>
          <a:prstGeom prst="roundRect">
            <a:avLst>
              <a:gd name="adj" fmla="val 318980"/>
            </a:avLst>
          </a:prstGeom>
          <a:solidFill>
            <a:srgbClr val="DDEFC9"/>
          </a:solidFill>
          <a:ln/>
        </p:spPr>
      </p:sp>
      <p:sp>
        <p:nvSpPr>
          <p:cNvPr id="16" name="Shape 11"/>
          <p:cNvSpPr/>
          <p:nvPr/>
        </p:nvSpPr>
        <p:spPr>
          <a:xfrm>
            <a:off x="761695" y="2964485"/>
            <a:ext cx="3409798" cy="78089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761695" y="2964485"/>
            <a:ext cx="38405" cy="780898"/>
          </a:xfrm>
          <a:prstGeom prst="rect">
            <a:avLst/>
          </a:prstGeom>
          <a:solidFill>
            <a:srgbClr val="F5732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5995" y="3068726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86307" y="3040380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 Pixels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479292" y="3040380"/>
            <a:ext cx="619049" cy="181051"/>
          </a:xfrm>
          <a:prstGeom prst="roundRect">
            <a:avLst>
              <a:gd name="adj" fmla="val 318980"/>
            </a:avLst>
          </a:prstGeom>
          <a:solidFill>
            <a:srgbClr val="DDEFC9"/>
          </a:solidFill>
          <a:ln/>
        </p:spPr>
      </p:sp>
      <p:sp>
        <p:nvSpPr>
          <p:cNvPr id="21" name="Shape 15"/>
          <p:cNvSpPr/>
          <p:nvPr/>
        </p:nvSpPr>
        <p:spPr>
          <a:xfrm>
            <a:off x="761695" y="3813962"/>
            <a:ext cx="3409798" cy="78089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761695" y="3813962"/>
            <a:ext cx="38405" cy="780898"/>
          </a:xfrm>
          <a:prstGeom prst="rect">
            <a:avLst/>
          </a:prstGeom>
          <a:solidFill>
            <a:srgbClr val="F5732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875995" y="3919118"/>
            <a:ext cx="171907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23798" y="3890772"/>
            <a:ext cx="1310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Automação &amp; CRM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193999" y="3890772"/>
            <a:ext cx="905256" cy="181051"/>
          </a:xfrm>
          <a:prstGeom prst="roundRect">
            <a:avLst>
              <a:gd name="adj" fmla="val 318980"/>
            </a:avLst>
          </a:prstGeom>
          <a:solidFill>
            <a:srgbClr val="FEEBC8"/>
          </a:solidFill>
          <a:ln/>
        </p:spPr>
      </p:sp>
      <p:sp>
        <p:nvSpPr>
          <p:cNvPr id="26" name="Shape 19"/>
          <p:cNvSpPr/>
          <p:nvPr/>
        </p:nvSpPr>
        <p:spPr>
          <a:xfrm>
            <a:off x="761695" y="4664354"/>
            <a:ext cx="3409798" cy="78089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761695" y="4664354"/>
            <a:ext cx="38405" cy="780898"/>
          </a:xfrm>
          <a:prstGeom prst="rect">
            <a:avLst/>
          </a:prstGeom>
          <a:solidFill>
            <a:srgbClr val="F5732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875995" y="4768596"/>
            <a:ext cx="171907" cy="1335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123798" y="4740250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Personalização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593592" y="4740250"/>
            <a:ext cx="504749" cy="181051"/>
          </a:xfrm>
          <a:prstGeom prst="roundRect">
            <a:avLst>
              <a:gd name="adj" fmla="val 318980"/>
            </a:avLst>
          </a:prstGeom>
          <a:solidFill>
            <a:srgbClr val="FED7D7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761695" y="1609344"/>
            <a:ext cx="14913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Stack Identificado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3556102" y="2219249"/>
            <a:ext cx="543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AVANÇADO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3556102" y="3068726"/>
            <a:ext cx="543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AVANÇADO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3269894" y="3919118"/>
            <a:ext cx="8293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INTERMEDIÁRIO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3670402" y="4768596"/>
            <a:ext cx="4288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BÁSICO</a:t>
            </a:r>
            <a:endParaRPr lang="en-US" sz="800" dirty="0"/>
          </a:p>
        </p:txBody>
      </p:sp>
      <p:sp>
        <p:nvSpPr>
          <p:cNvPr id="36" name="Text 28"/>
          <p:cNvSpPr txBox="1"/>
          <p:nvPr/>
        </p:nvSpPr>
        <p:spPr>
          <a:xfrm>
            <a:off x="875995" y="2400300"/>
            <a:ext cx="3305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Analytics 4 implementado via GTM. DataLayer estruturado para eventos de conversão e e-commerce.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875995" y="3249778"/>
            <a:ext cx="3305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Pixel (Facebook) e Google Ads Remarketing ativos com disparos dinâmicos em páginas chave.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875995" y="4100170"/>
            <a:ext cx="3305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 Salesforce detectada, mas disparos de eventos de funil parecem limitados no front-end.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875995" y="4949647"/>
            <a:ext cx="3305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Pouca evidência de personalização em tempo real (CRO/A/B testing) via ferramentas como Optimize ou VWO.</a:t>
            </a:r>
            <a:endParaRPr lang="en-US" sz="9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-75" r="-75" t="0" b="0"/>
          <a:stretch/>
        </p:blipFill>
        <p:spPr>
          <a:xfrm>
            <a:off x="4774997" y="1752905"/>
            <a:ext cx="6505956" cy="4067251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10176358" y="1600200"/>
            <a:ext cx="1257300" cy="705002"/>
          </a:xfrm>
          <a:prstGeom prst="roundRect">
            <a:avLst>
              <a:gd name="adj" fmla="val 701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2" name="Text 33"/>
          <p:cNvSpPr txBox="1"/>
          <p:nvPr/>
        </p:nvSpPr>
        <p:spPr>
          <a:xfrm>
            <a:off x="10262311" y="1686154"/>
            <a:ext cx="1172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Legenda: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10452506" y="1876349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10452506" y="2066544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Mercado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761695" y="5971946"/>
            <a:ext cx="1066830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761695" y="6133795"/>
            <a:ext cx="7363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Metodologia: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761695" y="6324905"/>
            <a:ext cx="7363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Análise técnica via crawling (Wappalyzer/BuiltWith) e inspeção manual de código-fonte (DataLayer/Network).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9149486" y="6324905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Análise realizada em: 20/01/2026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8382305" y="0"/>
            <a:ext cx="3810305" cy="3810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5131" y="580644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vs Líder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390449"/>
            <a:ext cx="783915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BENCHMARK DE MATURIDADE DIGITAL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9917582" y="495605"/>
            <a:ext cx="1514246" cy="780898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864547" y="819302"/>
            <a:ext cx="6053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3.8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436962" y="972007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1554" y="875995"/>
            <a:ext cx="4864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4.5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2644" r="-2644" t="0" b="0"/>
          <a:stretch/>
        </p:blipFill>
        <p:spPr>
          <a:xfrm>
            <a:off x="761695" y="1047902"/>
            <a:ext cx="200254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37844" y="1009498"/>
            <a:ext cx="45537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 de Stack &amp; Tags (6 Eixos)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37890" y="1505102"/>
            <a:ext cx="1600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(3.8) - Sólido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108753" y="1505102"/>
            <a:ext cx="17337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 (4.5) - Líder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116775" y="1505102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 (4.2)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164678" y="1505102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 (3.5)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61695" y="1772107"/>
            <a:ext cx="10668305" cy="4048049"/>
          </a:xfrm>
          <a:prstGeom prst="roundRect">
            <a:avLst>
              <a:gd name="adj" fmla="val 1276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" b="-5"/>
          <a:stretch/>
        </p:blipFill>
        <p:spPr>
          <a:xfrm>
            <a:off x="914400" y="1923898"/>
            <a:ext cx="10362895" cy="374355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4400" y="3831336"/>
            <a:ext cx="3657600" cy="1837944"/>
          </a:xfrm>
          <a:prstGeom prst="roundRect">
            <a:avLst>
              <a:gd name="adj" fmla="val 20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1076249" y="3993185"/>
            <a:ext cx="3419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Metodológico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76249" y="4221785"/>
            <a:ext cx="3434486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gráfico evidencia que a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(Linha Sólida)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possui fundações fortes (Analytics/Pixels), mas retrai significativamente nos eixos de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Personalização &amp; CRO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 Integration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 aos líderes (linhas pontilhadas).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61695" y="5820156"/>
            <a:ext cx="1066830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61695" y="5982005"/>
            <a:ext cx="6801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Fontes: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61695" y="6172200"/>
            <a:ext cx="6801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BuiltWith, Wappalyzer, Análise Técnica de Tags (Jan/2026). Escala 0-5 baseada na densidade do stack.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385609" y="6172200"/>
            <a:ext cx="40489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Metodologia: Avaliação de 6 eixos técnicos conforme Slide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485546"/>
            <a:ext cx="6096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EVOLUÇÃO DE BENEFICIÁRIOS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858146" y="838505"/>
            <a:ext cx="1581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(PROJEÇÃO DEZ)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564063" y="1000354"/>
            <a:ext cx="73883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8.88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2644" r="-2644" t="0" b="0"/>
          <a:stretch/>
        </p:blipFill>
        <p:spPr>
          <a:xfrm>
            <a:off x="761695" y="1143000"/>
            <a:ext cx="200254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37844" y="1104595"/>
            <a:ext cx="2648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Análise de Vidas 2025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165738" y="1114654"/>
            <a:ext cx="2715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4088">
                    <a:alpha val="5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61695" y="2102206"/>
            <a:ext cx="3429000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61695" y="2340864"/>
            <a:ext cx="3429000" cy="100949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761695" y="2340864"/>
            <a:ext cx="38405" cy="1009498"/>
          </a:xfrm>
          <a:prstGeom prst="rect">
            <a:avLst/>
          </a:prstGeom>
          <a:solidFill>
            <a:srgbClr val="F57325"/>
          </a:solidFill>
          <a:ln/>
        </p:spPr>
      </p:sp>
      <p:sp>
        <p:nvSpPr>
          <p:cNvPr id="13" name="Shape 9"/>
          <p:cNvSpPr/>
          <p:nvPr/>
        </p:nvSpPr>
        <p:spPr>
          <a:xfrm>
            <a:off x="3581705" y="2498141"/>
            <a:ext cx="466344" cy="181051"/>
          </a:xfrm>
          <a:prstGeom prst="roundRect">
            <a:avLst>
              <a:gd name="adj" fmla="val 106327"/>
            </a:avLst>
          </a:prstGeom>
          <a:solidFill>
            <a:srgbClr val="FED7D7"/>
          </a:solidFill>
          <a:ln/>
        </p:spPr>
      </p:sp>
      <p:sp>
        <p:nvSpPr>
          <p:cNvPr id="14" name="Shape 10"/>
          <p:cNvSpPr/>
          <p:nvPr/>
        </p:nvSpPr>
        <p:spPr>
          <a:xfrm>
            <a:off x="761695" y="3498494"/>
            <a:ext cx="3429000" cy="100949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61695" y="3498494"/>
            <a:ext cx="38405" cy="1009498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16" name="Shape 12"/>
          <p:cNvSpPr/>
          <p:nvPr/>
        </p:nvSpPr>
        <p:spPr>
          <a:xfrm>
            <a:off x="3571646" y="3654857"/>
            <a:ext cx="476402" cy="181051"/>
          </a:xfrm>
          <a:prstGeom prst="roundRect">
            <a:avLst>
              <a:gd name="adj" fmla="val 106327"/>
            </a:avLst>
          </a:prstGeom>
          <a:solidFill>
            <a:srgbClr val="FEEBC8"/>
          </a:solidFill>
          <a:ln/>
        </p:spPr>
      </p:sp>
      <p:sp>
        <p:nvSpPr>
          <p:cNvPr id="17" name="Shape 13"/>
          <p:cNvSpPr/>
          <p:nvPr/>
        </p:nvSpPr>
        <p:spPr>
          <a:xfrm>
            <a:off x="761695" y="4655210"/>
            <a:ext cx="3429000" cy="100949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761695" y="4655210"/>
            <a:ext cx="38405" cy="1009498"/>
          </a:xfrm>
          <a:prstGeom prst="rect">
            <a:avLst/>
          </a:prstGeom>
          <a:solidFill>
            <a:srgbClr val="F57325"/>
          </a:solidFill>
          <a:ln/>
        </p:spPr>
      </p:sp>
      <p:sp>
        <p:nvSpPr>
          <p:cNvPr id="19" name="Shape 15"/>
          <p:cNvSpPr/>
          <p:nvPr/>
        </p:nvSpPr>
        <p:spPr>
          <a:xfrm>
            <a:off x="3581705" y="4812487"/>
            <a:ext cx="466344" cy="181051"/>
          </a:xfrm>
          <a:prstGeom prst="roundRect">
            <a:avLst>
              <a:gd name="adj" fmla="val 106327"/>
            </a:avLst>
          </a:prstGeom>
          <a:solidFill>
            <a:srgbClr val="FED7D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61695" y="1769364"/>
            <a:ext cx="17958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Eventos Chave do Ano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2493569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Janeiro 2025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3205" r="-3205" t="0" b="0"/>
          <a:stretch/>
        </p:blipFill>
        <p:spPr>
          <a:xfrm>
            <a:off x="3638398" y="2538374"/>
            <a:ext cx="75895" cy="9509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752698" y="2526487"/>
            <a:ext cx="3145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-41K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650285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3º Trimestre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3629254" y="3696005"/>
            <a:ext cx="85954" cy="9509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752698" y="3684118"/>
            <a:ext cx="3145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+13K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952805" y="4807915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Novembro 2025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3205" r="-3205" t="0" b="0"/>
          <a:stretch/>
        </p:blipFill>
        <p:spPr>
          <a:xfrm>
            <a:off x="3638398" y="4852721"/>
            <a:ext cx="75895" cy="9509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752698" y="4840834"/>
            <a:ext cx="3145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-18K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952805" y="2722169"/>
            <a:ext cx="31720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 do ano marcado por ajuste na carteira e perda de 41 mil vidas, impactando a base inicial.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952805" y="3878885"/>
            <a:ext cx="31720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Crescimento abaixo do esperado (44k projetado). Desaceleração no ritmo de novas adesões líquidas.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52805" y="5036515"/>
            <a:ext cx="31720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Volatilidade no final do ano com nova retração pontual, recuperada na projeção de dezembro.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72000" y="1600200"/>
            <a:ext cx="6858000" cy="4219956"/>
          </a:xfrm>
          <a:prstGeom prst="roundRect">
            <a:avLst>
              <a:gd name="adj" fmla="val 587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22408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4772254" y="1800454"/>
            <a:ext cx="6458407" cy="3819449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761695" y="5820156"/>
            <a:ext cx="1066830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761695" y="5982005"/>
            <a:ext cx="5505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Nota Metodológica: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761695" y="6172200"/>
            <a:ext cx="5505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Dados mensais estimados por interpolação linear e ajustes pontuais.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761695" y="6324905"/>
            <a:ext cx="5505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Base: Relatórios Trimestrais ANS 2025 e Fatos Relevantes divulgados ao mercado.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9766706" y="6324905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Período: Jan - Dez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390449"/>
            <a:ext cx="5715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BENCHMARK COMPETITIVO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669426" y="743407"/>
            <a:ext cx="2762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DE CRESCIMENTO (HAPVIDA VS AMIL)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602114" y="905256"/>
            <a:ext cx="833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+30k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457993" y="905256"/>
            <a:ext cx="97657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+874k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2115" r="-2115" t="0" b="0"/>
          <a:stretch/>
        </p:blipFill>
        <p:spPr>
          <a:xfrm>
            <a:off x="761695" y="1047902"/>
            <a:ext cx="247802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6307" y="1009498"/>
            <a:ext cx="3838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 de Crescimento 2025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342778" y="1019556"/>
            <a:ext cx="3008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>
                    <a:alpha val="4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vs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61695" y="1991563"/>
            <a:ext cx="3457346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761695" y="2076602"/>
            <a:ext cx="3457346" cy="97200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761695" y="2076602"/>
            <a:ext cx="38405" cy="972007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14" name="Shape 10"/>
          <p:cNvSpPr/>
          <p:nvPr/>
        </p:nvSpPr>
        <p:spPr>
          <a:xfrm>
            <a:off x="3050438" y="2174443"/>
            <a:ext cx="1037844" cy="152705"/>
          </a:xfrm>
          <a:prstGeom prst="roundRect">
            <a:avLst>
              <a:gd name="adj" fmla="val 112275"/>
            </a:avLst>
          </a:prstGeom>
          <a:solidFill>
            <a:srgbClr val="E0E7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61695" y="3116275"/>
            <a:ext cx="3457346" cy="81930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61695" y="3116275"/>
            <a:ext cx="38405" cy="8193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8514" y="3214116"/>
            <a:ext cx="428854" cy="152705"/>
          </a:xfrm>
          <a:prstGeom prst="roundRect">
            <a:avLst>
              <a:gd name="adj" fmla="val 112275"/>
            </a:avLst>
          </a:prstGeom>
          <a:solidFill>
            <a:srgbClr val="DBEAFE"/>
          </a:solidFill>
          <a:ln/>
        </p:spPr>
      </p:sp>
      <p:sp>
        <p:nvSpPr>
          <p:cNvPr id="18" name="Shape 14"/>
          <p:cNvSpPr/>
          <p:nvPr/>
        </p:nvSpPr>
        <p:spPr>
          <a:xfrm>
            <a:off x="761695" y="4007815"/>
            <a:ext cx="3457346" cy="81930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761695" y="4007815"/>
            <a:ext cx="38405" cy="819302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20" name="Shape 16"/>
          <p:cNvSpPr/>
          <p:nvPr/>
        </p:nvSpPr>
        <p:spPr>
          <a:xfrm>
            <a:off x="3606394" y="4105656"/>
            <a:ext cx="485546" cy="152705"/>
          </a:xfrm>
          <a:prstGeom prst="roundRect">
            <a:avLst>
              <a:gd name="adj" fmla="val 112275"/>
            </a:avLst>
          </a:prstGeom>
          <a:solidFill>
            <a:srgbClr val="FEE2E2"/>
          </a:solidFill>
          <a:ln/>
        </p:spPr>
      </p:sp>
      <p:sp>
        <p:nvSpPr>
          <p:cNvPr id="21" name="Shape 17"/>
          <p:cNvSpPr/>
          <p:nvPr/>
        </p:nvSpPr>
        <p:spPr>
          <a:xfrm>
            <a:off x="761695" y="4899355"/>
            <a:ext cx="3457346" cy="81930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761695" y="4899355"/>
            <a:ext cx="38405" cy="81930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19"/>
          <p:cNvSpPr/>
          <p:nvPr/>
        </p:nvSpPr>
        <p:spPr>
          <a:xfrm>
            <a:off x="3359506" y="4997196"/>
            <a:ext cx="733349" cy="152705"/>
          </a:xfrm>
          <a:prstGeom prst="roundRect">
            <a:avLst>
              <a:gd name="adj" fmla="val 112275"/>
            </a:avLst>
          </a:prstGeom>
          <a:solidFill>
            <a:srgbClr val="FFEDD5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61695" y="1695298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Análise de Performance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33602" y="2171700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NDI</a:t>
            </a:r>
            <a:endParaRPr lang="en-US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-455" r="-455" t="0" b="0"/>
          <a:stretch/>
        </p:blipFill>
        <p:spPr>
          <a:xfrm>
            <a:off x="3097987" y="2203704"/>
            <a:ext cx="75895" cy="8595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3212287" y="2193646"/>
            <a:ext cx="9052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+30K (ESTAGNADO)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933602" y="3212287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 Assistência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06063" y="3244291"/>
            <a:ext cx="85954" cy="8595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829507" y="3233318"/>
            <a:ext cx="2862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+13%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933602" y="4102913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 Saúde</a:t>
            </a:r>
            <a:endParaRPr lang="en-US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53942" y="4135831"/>
            <a:ext cx="85954" cy="8595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3778301" y="4124858"/>
            <a:ext cx="3429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+216K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933602" y="4994453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9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-455" r="-455" t="0" b="0"/>
          <a:stretch/>
        </p:blipFill>
        <p:spPr>
          <a:xfrm>
            <a:off x="3407054" y="5027371"/>
            <a:ext cx="75895" cy="8595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521354" y="5016398"/>
            <a:ext cx="6007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+84.5K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933602" y="2343607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Volatilidade e Crescimento Anêmico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933602" y="2499970"/>
            <a:ext cx="3238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Líder de mercado com crescimento travado. Altas oscilações mensais (Jan -41k) vs. explosão da concorrência.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933602" y="3383280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Líder Absoluto de Crescimento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933602" y="3539642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Adição recorde de 874 mil vidas. Momentum agressivo com captação corporativa massiva.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933602" y="4274820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Consistência e Pico em Agosto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933602" y="4431182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Crescimento sólido de +216k no acumulado. Recuperou fôlego forte no 2º semestre.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933602" y="5166360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Crescimento Pontual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933602" y="5322722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irregular (+70k total), mas com spike relevante em Outubro.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4520794" y="1505102"/>
            <a:ext cx="6915607" cy="4466844"/>
          </a:xfrm>
          <a:prstGeom prst="roundRect">
            <a:avLst>
              <a:gd name="adj" fmla="val 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22408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rcRect l="-72" r="-72" t="0" b="0"/>
          <a:stretch/>
        </p:blipFill>
        <p:spPr>
          <a:xfrm>
            <a:off x="4721047" y="1705356"/>
            <a:ext cx="6515100" cy="4067251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61695" y="5971946"/>
            <a:ext cx="1066830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761695" y="6133795"/>
            <a:ext cx="6334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Nota Metodológica: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761695" y="6324905"/>
            <a:ext cx="6334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Dados mensais interpolados linearmente a partir de marcos trimestrais oficiais da ANS 2025.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7915046" y="6324905"/>
            <a:ext cx="3525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Período: Jan - Dez 2025 (Estimativa de fechamento)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47640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Canais de Tráfego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933602"/>
            <a:ext cx="43580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Consolidação multi‑fonte • Dez/2025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82582" y="705002"/>
            <a:ext cx="1943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 visitas (Dez/2025)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554566" y="857707"/>
            <a:ext cx="20720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2,26</a:t>
            </a:r>
            <a:pPr algn="r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71500" y="1352398"/>
            <a:ext cx="6314846" cy="4600346"/>
          </a:xfrm>
          <a:prstGeom prst="roundRect">
            <a:avLst>
              <a:gd name="adj" fmla="val 49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224088">
                <a:alpha val="12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3349" y="1514246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Distribuição por Canal (%)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50154" y="1591056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Base: hapvida.com.br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84" r="-84" t="0" b="0"/>
          <a:stretch/>
        </p:blipFill>
        <p:spPr>
          <a:xfrm>
            <a:off x="733349" y="1895551"/>
            <a:ext cx="5991149" cy="30476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3349" y="50575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Direto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268626" y="50575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 (Orgânico)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803904" y="50575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Search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339182" y="50575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(Facebook)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33349" y="52861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268626" y="52861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E‑mail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803904" y="52861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339182" y="5286146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12203" y="1352398"/>
            <a:ext cx="4515307" cy="2800807"/>
          </a:xfrm>
          <a:prstGeom prst="roundRect">
            <a:avLst>
              <a:gd name="adj" fmla="val 133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224088">
                <a:alpha val="12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35647" y="1476756"/>
            <a:ext cx="44101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Tabelas de Volumes (Dez/2025)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245706" y="1819656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696298" y="181965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Traf.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657332" y="181965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245706" y="2038198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22408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35901" y="202905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Direto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696298" y="2029054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64%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657332" y="2029054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1,45M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45706" y="2229307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22C55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435901" y="2219249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 (Orgânico)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696298" y="2219249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657332" y="2219249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452 mil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245706" y="24195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8B5CF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435901" y="2409444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Search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9696298" y="240944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0657332" y="240944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 mil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245706" y="2609698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1877F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435901" y="2600554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(Facebook)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9696298" y="260055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0657332" y="260055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mil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245706" y="2800807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435901" y="2790749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Referral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9696298" y="2790749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0657332" y="2790749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 mil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245706" y="29910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435901" y="298094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E‑mail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9696298" y="298094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1%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0657332" y="298094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mil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245706" y="3181198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EF4444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435901" y="31720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9696298" y="317205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1%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10657332" y="317205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mil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7245706" y="3372307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9CA3A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435901" y="3362249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9696298" y="3362249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1%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10657332" y="3362249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mil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7235647" y="3571646"/>
            <a:ext cx="4381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estimados e arredondados a partir de 2,26M visitas.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7112203" y="4267505"/>
            <a:ext cx="4515307" cy="1686154"/>
          </a:xfrm>
          <a:prstGeom prst="roundRect">
            <a:avLst>
              <a:gd name="adj" fmla="val 367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224088">
                <a:alpha val="1200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274052" y="4429354"/>
            <a:ext cx="4291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críticos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7426757" y="4695444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(3%)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7426757" y="4695444"/>
            <a:ext cx="37243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muito abaixo da média de mercado (8–12%) → oportunidade de crescimento em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9484157" y="4848149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10032797" y="4848149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social pago.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7426757" y="5076749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Search (5%)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7426757" y="5076749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alta recente (+995%) indica espaço para escalar campanhas performance (SQRs, RSA e cobertura de marca).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71500" y="6067044"/>
            <a:ext cx="11048695" cy="9144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571500" y="6152998"/>
            <a:ext cx="6191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Fontes: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571500" y="6324905"/>
            <a:ext cx="6191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SEMrush (Dez/2025). Consolidação: SimilarWeb, Ahrefs, Google Analytics, SpyFu, BuiltWith.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7213702" y="6324905"/>
            <a:ext cx="4410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 percentuais consolidados; Social comparado à média 8–12%.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14554"/>
            <a:ext cx="37719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BENCHMARK DE CANAIS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082735" y="485546"/>
            <a:ext cx="2543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 FINANCEIRO (OPORTUNIDADE)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65869" y="647395"/>
            <a:ext cx="9866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~450k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-1064" r="-1064" t="0" b="0"/>
          <a:stretch/>
        </p:blipFill>
        <p:spPr>
          <a:xfrm>
            <a:off x="571500" y="809244"/>
            <a:ext cx="219456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6851" y="761695"/>
            <a:ext cx="45299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vs Amil vs Bradesco vs SulAmérica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360152" y="800100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visitas/mês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39405" y="1257300"/>
            <a:ext cx="3581705" cy="2257654"/>
          </a:xfrm>
          <a:prstGeom prst="roundRect">
            <a:avLst>
              <a:gd name="adj" fmla="val 2051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224088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38744" y="2085746"/>
            <a:ext cx="1276502" cy="19202"/>
          </a:xfrm>
          <a:prstGeom prst="rect">
            <a:avLst/>
          </a:prstGeom>
          <a:solidFill>
            <a:srgbClr val="224088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9511589" y="2085746"/>
            <a:ext cx="800100" cy="19202"/>
          </a:xfrm>
          <a:prstGeom prst="rect">
            <a:avLst/>
          </a:prstGeom>
          <a:solidFill>
            <a:srgbClr val="224088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307117" y="2085746"/>
            <a:ext cx="1114654" cy="19202"/>
          </a:xfrm>
          <a:prstGeom prst="rect">
            <a:avLst/>
          </a:prstGeom>
          <a:solidFill>
            <a:srgbClr val="224088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238744" y="2486254"/>
            <a:ext cx="1276502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511589" y="2486254"/>
            <a:ext cx="800100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307117" y="2486254"/>
            <a:ext cx="1114654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238744" y="2876702"/>
            <a:ext cx="1276502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511589" y="2876702"/>
            <a:ext cx="800100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307117" y="2876702"/>
            <a:ext cx="1114654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238744" y="3000146"/>
            <a:ext cx="318119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89366" y="3124505"/>
            <a:ext cx="3281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Anual: ~5,4 Milhões de Visitas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38744" y="1497787"/>
            <a:ext cx="171907" cy="17190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486546" y="1466698"/>
            <a:ext cx="11292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Gaps Críticos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248802" y="1857146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520733" y="1857146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0316261" y="1857146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Perda/Mês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238744" y="2210105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Search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9511589" y="2210105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-13 pp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015777" y="2221992"/>
            <a:ext cx="4078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-294k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8238744" y="2595982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511589" y="2595982"/>
            <a:ext cx="474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 pp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1043209" y="2607869"/>
            <a:ext cx="3794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-158k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71500" y="1257300"/>
            <a:ext cx="7162495" cy="5000854"/>
          </a:xfrm>
          <a:prstGeom prst="roundRect">
            <a:avLst>
              <a:gd name="adj" fmla="val 41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224088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09244" y="1876349"/>
            <a:ext cx="66870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809244" y="1495044"/>
            <a:ext cx="17437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Mix de Tráfego (%)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3243377" y="1552651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22408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3471977" y="1514246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341571" y="1552651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4570171" y="1514246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164531" y="1552651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CC092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5393131" y="1514246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6353251" y="1552651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2" name="Text 38"/>
          <p:cNvSpPr txBox="1"/>
          <p:nvPr/>
        </p:nvSpPr>
        <p:spPr>
          <a:xfrm>
            <a:off x="6581851" y="1514246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12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809244" y="2038198"/>
            <a:ext cx="6687007" cy="3752698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1949501" y="5867705"/>
            <a:ext cx="4410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*Canais menores (Email, Display) agrupados para clareza visual.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571500" y="6258154"/>
            <a:ext cx="1104869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-2571" r="-2571" t="0" b="0"/>
          <a:stretch/>
        </p:blipFill>
        <p:spPr>
          <a:xfrm>
            <a:off x="571500" y="6439205"/>
            <a:ext cx="105156" cy="114300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752551" y="6429146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Fontes: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232611" y="6429146"/>
            <a:ext cx="53721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Hapvida (SEMrush Dez/2025); Amil/Bradesco/SulAmérica (Benchmarks de mercado).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7641641" y="6429146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Nota: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7985455" y="6429146"/>
            <a:ext cx="3724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Impacto calculado sobre base mensal de 2.26M visitas.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58154"/>
            <a:ext cx="1104869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2571" r="-2571" t="0" b="0"/>
          <a:stretch/>
        </p:blipFill>
        <p:spPr>
          <a:xfrm>
            <a:off x="571500" y="6439205"/>
            <a:ext cx="105156" cy="114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2551" y="6420002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Fontes: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308506" y="6429146"/>
            <a:ext cx="2563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SEMrush Organic Research (Dez/2025).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848295" y="6429146"/>
            <a:ext cx="3867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Nota: Keywords classificadas por intenção transacional.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314554"/>
            <a:ext cx="44010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KEYWORDS TRANSACIONAIS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9425635" y="504749"/>
            <a:ext cx="2200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TOTAL (TOP 10)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482682" y="714146"/>
            <a:ext cx="8193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192.5k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1773" r="-1773" t="0" b="0"/>
          <a:stretch/>
        </p:blipFill>
        <p:spPr>
          <a:xfrm>
            <a:off x="571500" y="809244"/>
            <a:ext cx="200254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7649" y="761695"/>
            <a:ext cx="48536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Oportunidades de Alto Valor (Fundo de Funil)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200486" y="83850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4088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1500" y="1181405"/>
            <a:ext cx="8115300" cy="5076749"/>
          </a:xfrm>
          <a:prstGeom prst="roundRect">
            <a:avLst>
              <a:gd name="adj" fmla="val 406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E5E7EB">
                <a:alpha val="1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9049" y="1580998"/>
            <a:ext cx="409651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1020470" y="1580998"/>
            <a:ext cx="2809951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3826764" y="1580998"/>
            <a:ext cx="9720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4789627" y="1580998"/>
            <a:ext cx="1285646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072530" y="1580998"/>
            <a:ext cx="1285646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7355434" y="1580998"/>
            <a:ext cx="1285646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19049" y="1633118"/>
            <a:ext cx="409651" cy="304495"/>
          </a:xfrm>
          <a:prstGeom prst="roundRect">
            <a:avLst>
              <a:gd name="adj" fmla="val 56306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20470" y="1633118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83103" y="1718158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26764" y="1633118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789627" y="1633118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41" b="-841"/>
          <a:stretch/>
        </p:blipFill>
        <p:spPr>
          <a:xfrm>
            <a:off x="4970678" y="1741018"/>
            <a:ext cx="95098" cy="8595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103266" y="1719072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072530" y="1633118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253582" y="1720901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7355434" y="1633118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536485" y="1720901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19049" y="1974190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20470" y="1974190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757830" y="2058314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826764" y="1974190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789627" y="1974190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1" b="-841"/>
          <a:stretch/>
        </p:blipFill>
        <p:spPr>
          <a:xfrm>
            <a:off x="4970678" y="2081174"/>
            <a:ext cx="95098" cy="8595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5103266" y="2060143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6072530" y="1974190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253582" y="2061058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7355434" y="1974190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536485" y="2061058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619049" y="2314346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020470" y="2314346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2820924" y="2399386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3826764" y="2314346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789627" y="2314346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1" b="-841"/>
          <a:stretch/>
        </p:blipFill>
        <p:spPr>
          <a:xfrm>
            <a:off x="4970678" y="2421331"/>
            <a:ext cx="95098" cy="85954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5103266" y="2400300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6072530" y="2314346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253582" y="2401214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7355434" y="2314346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7536485" y="2401214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619049" y="2655418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020470" y="2655418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3826764" y="2655418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4789627" y="2655418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41" b="-841"/>
          <a:stretch/>
        </p:blipFill>
        <p:spPr>
          <a:xfrm>
            <a:off x="4970678" y="2762402"/>
            <a:ext cx="95098" cy="85954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5103266" y="2740457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6072530" y="2655418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6253582" y="2742286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7355434" y="2655418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7536485" y="2742286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619049" y="2995574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1020470" y="2995574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2631643" y="3079699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3826764" y="2995574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4789627" y="2995574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6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1" b="-841"/>
          <a:stretch/>
        </p:blipFill>
        <p:spPr>
          <a:xfrm>
            <a:off x="4970678" y="3102559"/>
            <a:ext cx="95098" cy="85954"/>
          </a:xfrm>
          <a:prstGeom prst="rect">
            <a:avLst/>
          </a:prstGeom>
        </p:spPr>
      </p:pic>
      <p:sp>
        <p:nvSpPr>
          <p:cNvPr id="70" name="Text 61"/>
          <p:cNvSpPr txBox="1"/>
          <p:nvPr/>
        </p:nvSpPr>
        <p:spPr>
          <a:xfrm>
            <a:off x="5103266" y="3081528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Comparador</a:t>
            </a:r>
            <a:endParaRPr lang="en-US" sz="800" dirty="0"/>
          </a:p>
        </p:txBody>
      </p:sp>
      <p:sp>
        <p:nvSpPr>
          <p:cNvPr id="71" name="Shape 62"/>
          <p:cNvSpPr/>
          <p:nvPr/>
        </p:nvSpPr>
        <p:spPr>
          <a:xfrm>
            <a:off x="6072530" y="2995574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2" name="Text 63"/>
          <p:cNvSpPr txBox="1"/>
          <p:nvPr/>
        </p:nvSpPr>
        <p:spPr>
          <a:xfrm>
            <a:off x="6253582" y="3082442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73" name="Shape 64"/>
          <p:cNvSpPr/>
          <p:nvPr/>
        </p:nvSpPr>
        <p:spPr>
          <a:xfrm>
            <a:off x="7355434" y="2995574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4" name="Text 65"/>
          <p:cNvSpPr txBox="1"/>
          <p:nvPr/>
        </p:nvSpPr>
        <p:spPr>
          <a:xfrm>
            <a:off x="7536485" y="3082442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75" name="Shape 66"/>
          <p:cNvSpPr/>
          <p:nvPr/>
        </p:nvSpPr>
        <p:spPr>
          <a:xfrm>
            <a:off x="619049" y="3335731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1020470" y="3335731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2631643" y="3420770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3826764" y="3335731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4789627" y="3335731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8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1" b="-841"/>
          <a:stretch/>
        </p:blipFill>
        <p:spPr>
          <a:xfrm>
            <a:off x="4970678" y="3443630"/>
            <a:ext cx="95098" cy="85954"/>
          </a:xfrm>
          <a:prstGeom prst="rect">
            <a:avLst/>
          </a:prstGeom>
        </p:spPr>
      </p:pic>
      <p:sp>
        <p:nvSpPr>
          <p:cNvPr id="81" name="Text 71"/>
          <p:cNvSpPr txBox="1"/>
          <p:nvPr/>
        </p:nvSpPr>
        <p:spPr>
          <a:xfrm>
            <a:off x="5103266" y="3421685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82" name="Shape 72"/>
          <p:cNvSpPr/>
          <p:nvPr/>
        </p:nvSpPr>
        <p:spPr>
          <a:xfrm>
            <a:off x="6072530" y="3335731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3" name="Text 73"/>
          <p:cNvSpPr txBox="1"/>
          <p:nvPr/>
        </p:nvSpPr>
        <p:spPr>
          <a:xfrm>
            <a:off x="6253582" y="3422599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84" name="Shape 74"/>
          <p:cNvSpPr/>
          <p:nvPr/>
        </p:nvSpPr>
        <p:spPr>
          <a:xfrm>
            <a:off x="7355434" y="3335731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5" name="Text 75"/>
          <p:cNvSpPr txBox="1"/>
          <p:nvPr/>
        </p:nvSpPr>
        <p:spPr>
          <a:xfrm>
            <a:off x="7536485" y="3422599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800" dirty="0"/>
          </a:p>
        </p:txBody>
      </p:sp>
      <p:sp>
        <p:nvSpPr>
          <p:cNvPr id="86" name="Shape 76"/>
          <p:cNvSpPr/>
          <p:nvPr/>
        </p:nvSpPr>
        <p:spPr>
          <a:xfrm>
            <a:off x="619049" y="3676802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1020470" y="3676802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2946197" y="3760927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3826764" y="3676802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90" name="Shape 80"/>
          <p:cNvSpPr/>
          <p:nvPr/>
        </p:nvSpPr>
        <p:spPr>
          <a:xfrm>
            <a:off x="4789627" y="3676802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9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41" b="-841"/>
          <a:stretch/>
        </p:blipFill>
        <p:spPr>
          <a:xfrm>
            <a:off x="4970678" y="3783787"/>
            <a:ext cx="95098" cy="85954"/>
          </a:xfrm>
          <a:prstGeom prst="rect">
            <a:avLst/>
          </a:prstGeom>
        </p:spPr>
      </p:pic>
      <p:sp>
        <p:nvSpPr>
          <p:cNvPr id="92" name="Text 81"/>
          <p:cNvSpPr txBox="1"/>
          <p:nvPr/>
        </p:nvSpPr>
        <p:spPr>
          <a:xfrm>
            <a:off x="5103266" y="3762756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93" name="Shape 82"/>
          <p:cNvSpPr/>
          <p:nvPr/>
        </p:nvSpPr>
        <p:spPr>
          <a:xfrm>
            <a:off x="6072530" y="3676802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94" name="Text 83"/>
          <p:cNvSpPr txBox="1"/>
          <p:nvPr/>
        </p:nvSpPr>
        <p:spPr>
          <a:xfrm>
            <a:off x="6253582" y="3763670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95" name="Shape 84"/>
          <p:cNvSpPr/>
          <p:nvPr/>
        </p:nvSpPr>
        <p:spPr>
          <a:xfrm>
            <a:off x="7355434" y="3676802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96" name="Text 85"/>
          <p:cNvSpPr txBox="1"/>
          <p:nvPr/>
        </p:nvSpPr>
        <p:spPr>
          <a:xfrm>
            <a:off x="7536485" y="3763670"/>
            <a:ext cx="3429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Porto</a:t>
            </a:r>
            <a:endParaRPr lang="en-US" sz="800" dirty="0"/>
          </a:p>
        </p:txBody>
      </p:sp>
      <p:sp>
        <p:nvSpPr>
          <p:cNvPr id="97" name="Shape 86"/>
          <p:cNvSpPr/>
          <p:nvPr/>
        </p:nvSpPr>
        <p:spPr>
          <a:xfrm>
            <a:off x="619049" y="4016959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98" name="Shape 87"/>
          <p:cNvSpPr/>
          <p:nvPr/>
        </p:nvSpPr>
        <p:spPr>
          <a:xfrm>
            <a:off x="1020470" y="4016959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99" name="Shape 88"/>
          <p:cNvSpPr/>
          <p:nvPr/>
        </p:nvSpPr>
        <p:spPr>
          <a:xfrm>
            <a:off x="3826764" y="4016959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0" name="Shape 89"/>
          <p:cNvSpPr/>
          <p:nvPr/>
        </p:nvSpPr>
        <p:spPr>
          <a:xfrm>
            <a:off x="4789627" y="4016959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10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41" b="-841"/>
          <a:stretch/>
        </p:blipFill>
        <p:spPr>
          <a:xfrm>
            <a:off x="4970678" y="4123944"/>
            <a:ext cx="95098" cy="85954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5103266" y="4102913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Comparador</a:t>
            </a:r>
            <a:endParaRPr lang="en-US" sz="800" dirty="0"/>
          </a:p>
        </p:txBody>
      </p:sp>
      <p:sp>
        <p:nvSpPr>
          <p:cNvPr id="103" name="Shape 91"/>
          <p:cNvSpPr/>
          <p:nvPr/>
        </p:nvSpPr>
        <p:spPr>
          <a:xfrm>
            <a:off x="6072530" y="4016959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4" name="Text 92"/>
          <p:cNvSpPr txBox="1"/>
          <p:nvPr/>
        </p:nvSpPr>
        <p:spPr>
          <a:xfrm>
            <a:off x="6253582" y="4103827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800" dirty="0"/>
          </a:p>
        </p:txBody>
      </p:sp>
      <p:sp>
        <p:nvSpPr>
          <p:cNvPr id="105" name="Shape 93"/>
          <p:cNvSpPr/>
          <p:nvPr/>
        </p:nvSpPr>
        <p:spPr>
          <a:xfrm>
            <a:off x="7355434" y="4016959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6" name="Text 94"/>
          <p:cNvSpPr txBox="1"/>
          <p:nvPr/>
        </p:nvSpPr>
        <p:spPr>
          <a:xfrm>
            <a:off x="7536485" y="4103827"/>
            <a:ext cx="3913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653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Unimed</a:t>
            </a:r>
            <a:endParaRPr lang="en-US" sz="800" dirty="0"/>
          </a:p>
        </p:txBody>
      </p:sp>
      <p:sp>
        <p:nvSpPr>
          <p:cNvPr id="107" name="Shape 95"/>
          <p:cNvSpPr/>
          <p:nvPr/>
        </p:nvSpPr>
        <p:spPr>
          <a:xfrm>
            <a:off x="619049" y="4358030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8" name="Shape 96"/>
          <p:cNvSpPr/>
          <p:nvPr/>
        </p:nvSpPr>
        <p:spPr>
          <a:xfrm>
            <a:off x="1020470" y="4358030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9" name="Shape 97"/>
          <p:cNvSpPr/>
          <p:nvPr/>
        </p:nvSpPr>
        <p:spPr>
          <a:xfrm>
            <a:off x="2191817" y="4442155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0" name="Shape 98"/>
          <p:cNvSpPr/>
          <p:nvPr/>
        </p:nvSpPr>
        <p:spPr>
          <a:xfrm>
            <a:off x="3826764" y="4358030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11" name="Shape 99"/>
          <p:cNvSpPr/>
          <p:nvPr/>
        </p:nvSpPr>
        <p:spPr>
          <a:xfrm>
            <a:off x="4789627" y="4358030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11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841" b="-841"/>
          <a:stretch/>
        </p:blipFill>
        <p:spPr>
          <a:xfrm>
            <a:off x="4970678" y="4465015"/>
            <a:ext cx="95098" cy="85954"/>
          </a:xfrm>
          <a:prstGeom prst="rect">
            <a:avLst/>
          </a:prstGeom>
        </p:spPr>
      </p:pic>
      <p:sp>
        <p:nvSpPr>
          <p:cNvPr id="113" name="Text 100"/>
          <p:cNvSpPr txBox="1"/>
          <p:nvPr/>
        </p:nvSpPr>
        <p:spPr>
          <a:xfrm>
            <a:off x="5103266" y="4443070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114" name="Shape 101"/>
          <p:cNvSpPr/>
          <p:nvPr/>
        </p:nvSpPr>
        <p:spPr>
          <a:xfrm>
            <a:off x="6072530" y="4358030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15" name="Text 102"/>
          <p:cNvSpPr txBox="1"/>
          <p:nvPr/>
        </p:nvSpPr>
        <p:spPr>
          <a:xfrm>
            <a:off x="6253582" y="4444898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800" dirty="0"/>
          </a:p>
        </p:txBody>
      </p:sp>
      <p:sp>
        <p:nvSpPr>
          <p:cNvPr id="116" name="Shape 103"/>
          <p:cNvSpPr/>
          <p:nvPr/>
        </p:nvSpPr>
        <p:spPr>
          <a:xfrm>
            <a:off x="7355434" y="4358030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17" name="Text 104"/>
          <p:cNvSpPr txBox="1"/>
          <p:nvPr/>
        </p:nvSpPr>
        <p:spPr>
          <a:xfrm>
            <a:off x="7536485" y="4444898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118" name="Shape 105"/>
          <p:cNvSpPr/>
          <p:nvPr/>
        </p:nvSpPr>
        <p:spPr>
          <a:xfrm>
            <a:off x="619049" y="4698187"/>
            <a:ext cx="4096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19" name="Shape 106"/>
          <p:cNvSpPr/>
          <p:nvPr/>
        </p:nvSpPr>
        <p:spPr>
          <a:xfrm>
            <a:off x="1020470" y="4698187"/>
            <a:ext cx="2809951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2820924" y="4782312"/>
            <a:ext cx="418795" cy="133502"/>
          </a:xfrm>
          <a:prstGeom prst="roundRect">
            <a:avLst>
              <a:gd name="adj" fmla="val 1467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1" name="Shape 108"/>
          <p:cNvSpPr/>
          <p:nvPr/>
        </p:nvSpPr>
        <p:spPr>
          <a:xfrm>
            <a:off x="3826764" y="4698187"/>
            <a:ext cx="972007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2" name="Shape 109"/>
          <p:cNvSpPr/>
          <p:nvPr/>
        </p:nvSpPr>
        <p:spPr>
          <a:xfrm>
            <a:off x="4789627" y="4698187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12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41" b="-841"/>
          <a:stretch/>
        </p:blipFill>
        <p:spPr>
          <a:xfrm>
            <a:off x="4970678" y="4805172"/>
            <a:ext cx="95098" cy="85954"/>
          </a:xfrm>
          <a:prstGeom prst="rect">
            <a:avLst/>
          </a:prstGeom>
        </p:spPr>
      </p:pic>
      <p:sp>
        <p:nvSpPr>
          <p:cNvPr id="124" name="Text 110"/>
          <p:cNvSpPr txBox="1"/>
          <p:nvPr/>
        </p:nvSpPr>
        <p:spPr>
          <a:xfrm>
            <a:off x="5103266" y="4784141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125" name="Shape 111"/>
          <p:cNvSpPr/>
          <p:nvPr/>
        </p:nvSpPr>
        <p:spPr>
          <a:xfrm>
            <a:off x="6072530" y="4698187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6" name="Text 112"/>
          <p:cNvSpPr txBox="1"/>
          <p:nvPr/>
        </p:nvSpPr>
        <p:spPr>
          <a:xfrm>
            <a:off x="6253582" y="4785055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127" name="Shape 113"/>
          <p:cNvSpPr/>
          <p:nvPr/>
        </p:nvSpPr>
        <p:spPr>
          <a:xfrm>
            <a:off x="7355434" y="4698187"/>
            <a:ext cx="1285646" cy="3044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8" name="Text 114"/>
          <p:cNvSpPr txBox="1"/>
          <p:nvPr/>
        </p:nvSpPr>
        <p:spPr>
          <a:xfrm>
            <a:off x="7536485" y="4785055"/>
            <a:ext cx="3913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653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Unimed</a:t>
            </a:r>
            <a:endParaRPr lang="en-US" sz="800" dirty="0"/>
          </a:p>
        </p:txBody>
      </p:sp>
      <p:sp>
        <p:nvSpPr>
          <p:cNvPr id="129" name="Shape 115"/>
          <p:cNvSpPr/>
          <p:nvPr/>
        </p:nvSpPr>
        <p:spPr>
          <a:xfrm>
            <a:off x="8915400" y="1257300"/>
            <a:ext cx="2704795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224088">
                <a:alpha val="1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0" name="Text 116"/>
          <p:cNvSpPr txBox="1"/>
          <p:nvPr/>
        </p:nvSpPr>
        <p:spPr>
          <a:xfrm>
            <a:off x="9077249" y="1380744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Presença no Top 3</a:t>
            </a:r>
            <a:endParaRPr lang="en-US" sz="1200" dirty="0"/>
          </a:p>
        </p:txBody>
      </p:sp>
      <p:sp>
        <p:nvSpPr>
          <p:cNvPr id="131" name="Text 117"/>
          <p:cNvSpPr txBox="1"/>
          <p:nvPr/>
        </p:nvSpPr>
        <p:spPr>
          <a:xfrm>
            <a:off x="9077249" y="1647749"/>
            <a:ext cx="2553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20%</a:t>
            </a:r>
            <a:endParaRPr lang="en-US" sz="1800" dirty="0"/>
          </a:p>
        </p:txBody>
      </p:sp>
      <p:sp>
        <p:nvSpPr>
          <p:cNvPr id="132" name="Text 118"/>
          <p:cNvSpPr txBox="1"/>
          <p:nvPr/>
        </p:nvSpPr>
        <p:spPr>
          <a:xfrm>
            <a:off x="9077249" y="1895551"/>
            <a:ext cx="24670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presente em apenas 2 das 10 keywords.</a:t>
            </a:r>
            <a:endParaRPr lang="en-US" sz="900" dirty="0"/>
          </a:p>
        </p:txBody>
      </p:sp>
      <p:sp>
        <p:nvSpPr>
          <p:cNvPr id="133" name="Shape 119"/>
          <p:cNvSpPr/>
          <p:nvPr/>
        </p:nvSpPr>
        <p:spPr>
          <a:xfrm>
            <a:off x="8915400" y="2447849"/>
            <a:ext cx="2704795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224088">
                <a:alpha val="1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4" name="Text 120"/>
          <p:cNvSpPr txBox="1"/>
          <p:nvPr/>
        </p:nvSpPr>
        <p:spPr>
          <a:xfrm>
            <a:off x="9077249" y="2572207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de Oportunidade</a:t>
            </a:r>
            <a:endParaRPr lang="en-US" sz="1200" dirty="0"/>
          </a:p>
        </p:txBody>
      </p:sp>
      <p:sp>
        <p:nvSpPr>
          <p:cNvPr id="135" name="Text 121"/>
          <p:cNvSpPr txBox="1"/>
          <p:nvPr/>
        </p:nvSpPr>
        <p:spPr>
          <a:xfrm>
            <a:off x="9077249" y="2838298"/>
            <a:ext cx="2553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-160k</a:t>
            </a:r>
            <a:endParaRPr lang="en-US" sz="1800" dirty="0"/>
          </a:p>
        </p:txBody>
      </p:sp>
      <p:sp>
        <p:nvSpPr>
          <p:cNvPr id="136" name="Text 122"/>
          <p:cNvSpPr txBox="1"/>
          <p:nvPr/>
        </p:nvSpPr>
        <p:spPr>
          <a:xfrm>
            <a:off x="9077249" y="3086100"/>
            <a:ext cx="24670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Visitas mensais de alta intenção perdidas.</a:t>
            </a:r>
            <a:endParaRPr lang="en-US" sz="900" dirty="0"/>
          </a:p>
        </p:txBody>
      </p:sp>
      <p:sp>
        <p:nvSpPr>
          <p:cNvPr id="137" name="Text 123"/>
          <p:cNvSpPr txBox="1"/>
          <p:nvPr/>
        </p:nvSpPr>
        <p:spPr>
          <a:xfrm>
            <a:off x="733349" y="1343254"/>
            <a:ext cx="1554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00" dirty="0"/>
          </a:p>
        </p:txBody>
      </p:sp>
      <p:sp>
        <p:nvSpPr>
          <p:cNvPr id="138" name="Text 124"/>
          <p:cNvSpPr txBox="1"/>
          <p:nvPr/>
        </p:nvSpPr>
        <p:spPr>
          <a:xfrm>
            <a:off x="1134770" y="1343254"/>
            <a:ext cx="5650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</a:t>
            </a:r>
            <a:endParaRPr lang="en-US" sz="800" dirty="0"/>
          </a:p>
        </p:txBody>
      </p:sp>
      <p:sp>
        <p:nvSpPr>
          <p:cNvPr id="139" name="Text 125"/>
          <p:cNvSpPr txBox="1"/>
          <p:nvPr/>
        </p:nvSpPr>
        <p:spPr>
          <a:xfrm>
            <a:off x="3941064" y="1343254"/>
            <a:ext cx="488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800" dirty="0"/>
          </a:p>
        </p:txBody>
      </p:sp>
      <p:sp>
        <p:nvSpPr>
          <p:cNvPr id="140" name="Text 126"/>
          <p:cNvSpPr txBox="1"/>
          <p:nvPr/>
        </p:nvSpPr>
        <p:spPr>
          <a:xfrm>
            <a:off x="4903927" y="1343254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1ª POSIÇÃO</a:t>
            </a:r>
            <a:endParaRPr lang="en-US" sz="800" dirty="0"/>
          </a:p>
        </p:txBody>
      </p:sp>
      <p:sp>
        <p:nvSpPr>
          <p:cNvPr id="141" name="Text 127"/>
          <p:cNvSpPr txBox="1"/>
          <p:nvPr/>
        </p:nvSpPr>
        <p:spPr>
          <a:xfrm>
            <a:off x="6186830" y="1343254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2ª POSIÇÃO</a:t>
            </a:r>
            <a:endParaRPr lang="en-US" sz="800" dirty="0"/>
          </a:p>
        </p:txBody>
      </p:sp>
      <p:sp>
        <p:nvSpPr>
          <p:cNvPr id="142" name="Text 128"/>
          <p:cNvSpPr txBox="1"/>
          <p:nvPr/>
        </p:nvSpPr>
        <p:spPr>
          <a:xfrm>
            <a:off x="7469734" y="1343254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3ª POSIÇÃO</a:t>
            </a:r>
            <a:endParaRPr lang="en-US" sz="800" dirty="0"/>
          </a:p>
        </p:txBody>
      </p:sp>
      <p:sp>
        <p:nvSpPr>
          <p:cNvPr id="143" name="Text 129"/>
          <p:cNvSpPr txBox="1"/>
          <p:nvPr/>
        </p:nvSpPr>
        <p:spPr>
          <a:xfrm>
            <a:off x="733349" y="1706270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44" name="Text 130"/>
          <p:cNvSpPr txBox="1"/>
          <p:nvPr/>
        </p:nvSpPr>
        <p:spPr>
          <a:xfrm>
            <a:off x="1134770" y="1706270"/>
            <a:ext cx="17172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de saúde empresarial</a:t>
            </a:r>
            <a:endParaRPr lang="en-US" sz="800" dirty="0"/>
          </a:p>
        </p:txBody>
      </p:sp>
      <p:sp>
        <p:nvSpPr>
          <p:cNvPr id="145" name="Text 131"/>
          <p:cNvSpPr txBox="1"/>
          <p:nvPr/>
        </p:nvSpPr>
        <p:spPr>
          <a:xfrm>
            <a:off x="2931566" y="1737360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146" name="Text 132"/>
          <p:cNvSpPr txBox="1"/>
          <p:nvPr/>
        </p:nvSpPr>
        <p:spPr>
          <a:xfrm>
            <a:off x="3941064" y="1725473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40.5k</a:t>
            </a:r>
            <a:endParaRPr lang="en-US" sz="800" dirty="0"/>
          </a:p>
        </p:txBody>
      </p:sp>
      <p:sp>
        <p:nvSpPr>
          <p:cNvPr id="147" name="Shape 133"/>
          <p:cNvSpPr/>
          <p:nvPr/>
        </p:nvSpPr>
        <p:spPr>
          <a:xfrm>
            <a:off x="4903927" y="1699870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48" name="Shape 134"/>
          <p:cNvSpPr/>
          <p:nvPr/>
        </p:nvSpPr>
        <p:spPr>
          <a:xfrm>
            <a:off x="6186830" y="1701698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7469734" y="1701698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0" name="Text 136"/>
          <p:cNvSpPr txBox="1"/>
          <p:nvPr/>
        </p:nvSpPr>
        <p:spPr>
          <a:xfrm>
            <a:off x="733349" y="204642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51" name="Text 137"/>
          <p:cNvSpPr txBox="1"/>
          <p:nvPr/>
        </p:nvSpPr>
        <p:spPr>
          <a:xfrm>
            <a:off x="1134770" y="2046427"/>
            <a:ext cx="15937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contratar plano de saúde</a:t>
            </a:r>
            <a:endParaRPr lang="en-US" sz="800" dirty="0"/>
          </a:p>
        </p:txBody>
      </p:sp>
      <p:sp>
        <p:nvSpPr>
          <p:cNvPr id="152" name="Text 138"/>
          <p:cNvSpPr txBox="1"/>
          <p:nvPr/>
        </p:nvSpPr>
        <p:spPr>
          <a:xfrm>
            <a:off x="2805379" y="2077517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153" name="Text 139"/>
          <p:cNvSpPr txBox="1"/>
          <p:nvPr/>
        </p:nvSpPr>
        <p:spPr>
          <a:xfrm>
            <a:off x="3941064" y="2065630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33.1k</a:t>
            </a:r>
            <a:endParaRPr lang="en-US" sz="800" dirty="0"/>
          </a:p>
        </p:txBody>
      </p:sp>
      <p:sp>
        <p:nvSpPr>
          <p:cNvPr id="154" name="Shape 140"/>
          <p:cNvSpPr/>
          <p:nvPr/>
        </p:nvSpPr>
        <p:spPr>
          <a:xfrm>
            <a:off x="4903927" y="2040941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5" name="Shape 141"/>
          <p:cNvSpPr/>
          <p:nvPr/>
        </p:nvSpPr>
        <p:spPr>
          <a:xfrm>
            <a:off x="6186830" y="2041855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56" name="Shape 142"/>
          <p:cNvSpPr/>
          <p:nvPr/>
        </p:nvSpPr>
        <p:spPr>
          <a:xfrm>
            <a:off x="7469734" y="2041855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7" name="Text 143"/>
          <p:cNvSpPr txBox="1"/>
          <p:nvPr/>
        </p:nvSpPr>
        <p:spPr>
          <a:xfrm>
            <a:off x="733349" y="2387498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58" name="Text 144"/>
          <p:cNvSpPr txBox="1"/>
          <p:nvPr/>
        </p:nvSpPr>
        <p:spPr>
          <a:xfrm>
            <a:off x="1134770" y="2387498"/>
            <a:ext cx="16605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de saúde individual</a:t>
            </a:r>
            <a:endParaRPr lang="en-US" sz="800" dirty="0"/>
          </a:p>
        </p:txBody>
      </p:sp>
      <p:sp>
        <p:nvSpPr>
          <p:cNvPr id="159" name="Text 145"/>
          <p:cNvSpPr txBox="1"/>
          <p:nvPr/>
        </p:nvSpPr>
        <p:spPr>
          <a:xfrm>
            <a:off x="2868473" y="2418588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160" name="Text 146"/>
          <p:cNvSpPr txBox="1"/>
          <p:nvPr/>
        </p:nvSpPr>
        <p:spPr>
          <a:xfrm>
            <a:off x="3941064" y="2406701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27.1k</a:t>
            </a:r>
            <a:endParaRPr lang="en-US" sz="800" dirty="0"/>
          </a:p>
        </p:txBody>
      </p:sp>
      <p:sp>
        <p:nvSpPr>
          <p:cNvPr id="161" name="Shape 147"/>
          <p:cNvSpPr/>
          <p:nvPr/>
        </p:nvSpPr>
        <p:spPr>
          <a:xfrm>
            <a:off x="4903927" y="2381098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2" name="Shape 148"/>
          <p:cNvSpPr/>
          <p:nvPr/>
        </p:nvSpPr>
        <p:spPr>
          <a:xfrm>
            <a:off x="6186830" y="2382012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3" name="Shape 149"/>
          <p:cNvSpPr/>
          <p:nvPr/>
        </p:nvSpPr>
        <p:spPr>
          <a:xfrm>
            <a:off x="7469734" y="2382012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4" name="Text 150"/>
          <p:cNvSpPr txBox="1"/>
          <p:nvPr/>
        </p:nvSpPr>
        <p:spPr>
          <a:xfrm>
            <a:off x="733349" y="2727655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65" name="Text 151"/>
          <p:cNvSpPr txBox="1"/>
          <p:nvPr/>
        </p:nvSpPr>
        <p:spPr>
          <a:xfrm>
            <a:off x="1134770" y="2727655"/>
            <a:ext cx="15270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de saúde familiar</a:t>
            </a:r>
            <a:endParaRPr lang="en-US" sz="800" dirty="0"/>
          </a:p>
        </p:txBody>
      </p:sp>
      <p:sp>
        <p:nvSpPr>
          <p:cNvPr id="166" name="Text 152"/>
          <p:cNvSpPr txBox="1"/>
          <p:nvPr/>
        </p:nvSpPr>
        <p:spPr>
          <a:xfrm>
            <a:off x="3941064" y="2746858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22.2k</a:t>
            </a:r>
            <a:endParaRPr lang="en-US" sz="800" dirty="0"/>
          </a:p>
        </p:txBody>
      </p:sp>
      <p:sp>
        <p:nvSpPr>
          <p:cNvPr id="167" name="Shape 153"/>
          <p:cNvSpPr/>
          <p:nvPr/>
        </p:nvSpPr>
        <p:spPr>
          <a:xfrm>
            <a:off x="4903927" y="2722169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68" name="Shape 154"/>
          <p:cNvSpPr/>
          <p:nvPr/>
        </p:nvSpPr>
        <p:spPr>
          <a:xfrm>
            <a:off x="6186830" y="2723083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9" name="Shape 155"/>
          <p:cNvSpPr/>
          <p:nvPr/>
        </p:nvSpPr>
        <p:spPr>
          <a:xfrm>
            <a:off x="7469734" y="2723083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224088"/>
          </a:solidFill>
          <a:ln w="12700">
            <a:solidFill>
              <a:srgbClr val="224088"/>
            </a:solidFill>
            <a:prstDash val="solid"/>
          </a:ln>
        </p:spPr>
      </p:sp>
      <p:sp>
        <p:nvSpPr>
          <p:cNvPr id="170" name="Text 156"/>
          <p:cNvSpPr txBox="1"/>
          <p:nvPr/>
        </p:nvSpPr>
        <p:spPr>
          <a:xfrm>
            <a:off x="733349" y="3067812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71" name="Text 157"/>
          <p:cNvSpPr txBox="1"/>
          <p:nvPr/>
        </p:nvSpPr>
        <p:spPr>
          <a:xfrm>
            <a:off x="1134770" y="3067812"/>
            <a:ext cx="14694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cotação plano de saúde</a:t>
            </a:r>
            <a:endParaRPr lang="en-US" sz="800" dirty="0"/>
          </a:p>
        </p:txBody>
      </p:sp>
      <p:sp>
        <p:nvSpPr>
          <p:cNvPr id="172" name="Text 158"/>
          <p:cNvSpPr txBox="1"/>
          <p:nvPr/>
        </p:nvSpPr>
        <p:spPr>
          <a:xfrm>
            <a:off x="2680106" y="3098902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173" name="Text 159"/>
          <p:cNvSpPr txBox="1"/>
          <p:nvPr/>
        </p:nvSpPr>
        <p:spPr>
          <a:xfrm>
            <a:off x="3941064" y="3087014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18.1k</a:t>
            </a:r>
            <a:endParaRPr lang="en-US" sz="800" dirty="0"/>
          </a:p>
        </p:txBody>
      </p:sp>
      <p:sp>
        <p:nvSpPr>
          <p:cNvPr id="174" name="Shape 160"/>
          <p:cNvSpPr/>
          <p:nvPr/>
        </p:nvSpPr>
        <p:spPr>
          <a:xfrm>
            <a:off x="4903927" y="3062326"/>
            <a:ext cx="790956" cy="171907"/>
          </a:xfrm>
          <a:prstGeom prst="roundRect">
            <a:avLst>
              <a:gd name="adj" fmla="val 11820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5" name="Shape 161"/>
          <p:cNvSpPr/>
          <p:nvPr/>
        </p:nvSpPr>
        <p:spPr>
          <a:xfrm>
            <a:off x="6186830" y="3063240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6" name="Shape 162"/>
          <p:cNvSpPr/>
          <p:nvPr/>
        </p:nvSpPr>
        <p:spPr>
          <a:xfrm>
            <a:off x="7469734" y="3063240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77" name="Text 163"/>
          <p:cNvSpPr txBox="1"/>
          <p:nvPr/>
        </p:nvSpPr>
        <p:spPr>
          <a:xfrm>
            <a:off x="733349" y="3408883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78" name="Text 164"/>
          <p:cNvSpPr txBox="1"/>
          <p:nvPr/>
        </p:nvSpPr>
        <p:spPr>
          <a:xfrm>
            <a:off x="1134770" y="3408883"/>
            <a:ext cx="14694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comprar plano de saúde</a:t>
            </a:r>
            <a:endParaRPr lang="en-US" sz="800" dirty="0"/>
          </a:p>
        </p:txBody>
      </p:sp>
      <p:sp>
        <p:nvSpPr>
          <p:cNvPr id="179" name="Text 165"/>
          <p:cNvSpPr txBox="1"/>
          <p:nvPr/>
        </p:nvSpPr>
        <p:spPr>
          <a:xfrm>
            <a:off x="2680106" y="3439973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180" name="Text 166"/>
          <p:cNvSpPr txBox="1"/>
          <p:nvPr/>
        </p:nvSpPr>
        <p:spPr>
          <a:xfrm>
            <a:off x="3941064" y="342808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14.8k</a:t>
            </a:r>
            <a:endParaRPr lang="en-US" sz="800" dirty="0"/>
          </a:p>
        </p:txBody>
      </p:sp>
      <p:sp>
        <p:nvSpPr>
          <p:cNvPr id="181" name="Shape 167"/>
          <p:cNvSpPr/>
          <p:nvPr/>
        </p:nvSpPr>
        <p:spPr>
          <a:xfrm>
            <a:off x="4903927" y="3402482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2" name="Shape 168"/>
          <p:cNvSpPr/>
          <p:nvPr/>
        </p:nvSpPr>
        <p:spPr>
          <a:xfrm>
            <a:off x="6186830" y="3404311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83" name="Shape 169"/>
          <p:cNvSpPr/>
          <p:nvPr/>
        </p:nvSpPr>
        <p:spPr>
          <a:xfrm>
            <a:off x="7469734" y="3404311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4" name="Text 170"/>
          <p:cNvSpPr txBox="1"/>
          <p:nvPr/>
        </p:nvSpPr>
        <p:spPr>
          <a:xfrm>
            <a:off x="733349" y="3749040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85" name="Text 171"/>
          <p:cNvSpPr txBox="1"/>
          <p:nvPr/>
        </p:nvSpPr>
        <p:spPr>
          <a:xfrm>
            <a:off x="1134770" y="3749040"/>
            <a:ext cx="17839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contratar plano empresarial</a:t>
            </a:r>
            <a:endParaRPr lang="en-US" sz="800" dirty="0"/>
          </a:p>
        </p:txBody>
      </p:sp>
      <p:sp>
        <p:nvSpPr>
          <p:cNvPr id="186" name="Text 172"/>
          <p:cNvSpPr txBox="1"/>
          <p:nvPr/>
        </p:nvSpPr>
        <p:spPr>
          <a:xfrm>
            <a:off x="2993746" y="3780130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187" name="Text 173"/>
          <p:cNvSpPr txBox="1"/>
          <p:nvPr/>
        </p:nvSpPr>
        <p:spPr>
          <a:xfrm>
            <a:off x="3941064" y="3768242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12.1k</a:t>
            </a:r>
            <a:endParaRPr lang="en-US" sz="800" dirty="0"/>
          </a:p>
        </p:txBody>
      </p:sp>
      <p:sp>
        <p:nvSpPr>
          <p:cNvPr id="188" name="Shape 174"/>
          <p:cNvSpPr/>
          <p:nvPr/>
        </p:nvSpPr>
        <p:spPr>
          <a:xfrm>
            <a:off x="4903927" y="3743554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89" name="Shape 175"/>
          <p:cNvSpPr/>
          <p:nvPr/>
        </p:nvSpPr>
        <p:spPr>
          <a:xfrm>
            <a:off x="6186830" y="3744468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0" name="Shape 176"/>
          <p:cNvSpPr/>
          <p:nvPr/>
        </p:nvSpPr>
        <p:spPr>
          <a:xfrm>
            <a:off x="7469734" y="3744468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1" name="Text 177"/>
          <p:cNvSpPr txBox="1"/>
          <p:nvPr/>
        </p:nvSpPr>
        <p:spPr>
          <a:xfrm>
            <a:off x="733349" y="4090111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192" name="Text 178"/>
          <p:cNvSpPr txBox="1"/>
          <p:nvPr/>
        </p:nvSpPr>
        <p:spPr>
          <a:xfrm>
            <a:off x="1134770" y="4090111"/>
            <a:ext cx="12124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saúde barato</a:t>
            </a:r>
            <a:endParaRPr lang="en-US" sz="800" dirty="0"/>
          </a:p>
        </p:txBody>
      </p:sp>
      <p:sp>
        <p:nvSpPr>
          <p:cNvPr id="193" name="Text 179"/>
          <p:cNvSpPr txBox="1"/>
          <p:nvPr/>
        </p:nvSpPr>
        <p:spPr>
          <a:xfrm>
            <a:off x="3941064" y="4108399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9.9k</a:t>
            </a:r>
            <a:endParaRPr lang="en-US" sz="800" dirty="0"/>
          </a:p>
        </p:txBody>
      </p:sp>
      <p:sp>
        <p:nvSpPr>
          <p:cNvPr id="194" name="Shape 180"/>
          <p:cNvSpPr/>
          <p:nvPr/>
        </p:nvSpPr>
        <p:spPr>
          <a:xfrm>
            <a:off x="4903927" y="4083710"/>
            <a:ext cx="790956" cy="171907"/>
          </a:xfrm>
          <a:prstGeom prst="roundRect">
            <a:avLst>
              <a:gd name="adj" fmla="val 11820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5" name="Shape 181"/>
          <p:cNvSpPr/>
          <p:nvPr/>
        </p:nvSpPr>
        <p:spPr>
          <a:xfrm>
            <a:off x="6186830" y="4084625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224088"/>
          </a:solidFill>
          <a:ln w="12700">
            <a:solidFill>
              <a:srgbClr val="224088"/>
            </a:solidFill>
            <a:prstDash val="solid"/>
          </a:ln>
        </p:spPr>
      </p:sp>
      <p:sp>
        <p:nvSpPr>
          <p:cNvPr id="196" name="Shape 182"/>
          <p:cNvSpPr/>
          <p:nvPr/>
        </p:nvSpPr>
        <p:spPr>
          <a:xfrm>
            <a:off x="7469734" y="4084625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CFCCB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97" name="Text 183"/>
          <p:cNvSpPr txBox="1"/>
          <p:nvPr/>
        </p:nvSpPr>
        <p:spPr>
          <a:xfrm>
            <a:off x="733349" y="4430268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  <p:sp>
        <p:nvSpPr>
          <p:cNvPr id="198" name="Text 184"/>
          <p:cNvSpPr txBox="1"/>
          <p:nvPr/>
        </p:nvSpPr>
        <p:spPr>
          <a:xfrm>
            <a:off x="1134770" y="4430268"/>
            <a:ext cx="10314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saúde PME</a:t>
            </a:r>
            <a:endParaRPr lang="en-US" sz="800" dirty="0"/>
          </a:p>
        </p:txBody>
      </p:sp>
      <p:sp>
        <p:nvSpPr>
          <p:cNvPr id="199" name="Text 185"/>
          <p:cNvSpPr txBox="1"/>
          <p:nvPr/>
        </p:nvSpPr>
        <p:spPr>
          <a:xfrm>
            <a:off x="2239366" y="4461358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200" name="Text 186"/>
          <p:cNvSpPr txBox="1"/>
          <p:nvPr/>
        </p:nvSpPr>
        <p:spPr>
          <a:xfrm>
            <a:off x="3941064" y="4449470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8.1k</a:t>
            </a:r>
            <a:endParaRPr lang="en-US" sz="800" dirty="0"/>
          </a:p>
        </p:txBody>
      </p:sp>
      <p:sp>
        <p:nvSpPr>
          <p:cNvPr id="201" name="Shape 187"/>
          <p:cNvSpPr/>
          <p:nvPr/>
        </p:nvSpPr>
        <p:spPr>
          <a:xfrm>
            <a:off x="4903927" y="4424782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02" name="Shape 188"/>
          <p:cNvSpPr/>
          <p:nvPr/>
        </p:nvSpPr>
        <p:spPr>
          <a:xfrm>
            <a:off x="6186830" y="4425696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3" name="Shape 189"/>
          <p:cNvSpPr/>
          <p:nvPr/>
        </p:nvSpPr>
        <p:spPr>
          <a:xfrm>
            <a:off x="7469734" y="4425696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4" name="Text 190"/>
          <p:cNvSpPr txBox="1"/>
          <p:nvPr/>
        </p:nvSpPr>
        <p:spPr>
          <a:xfrm>
            <a:off x="733349" y="4770425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205" name="Text 191"/>
          <p:cNvSpPr txBox="1"/>
          <p:nvPr/>
        </p:nvSpPr>
        <p:spPr>
          <a:xfrm>
            <a:off x="1134770" y="4770425"/>
            <a:ext cx="16605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contratar convênio médico</a:t>
            </a:r>
            <a:endParaRPr lang="en-US" sz="800" dirty="0"/>
          </a:p>
        </p:txBody>
      </p:sp>
      <p:sp>
        <p:nvSpPr>
          <p:cNvPr id="206" name="Text 192"/>
          <p:cNvSpPr txBox="1"/>
          <p:nvPr/>
        </p:nvSpPr>
        <p:spPr>
          <a:xfrm>
            <a:off x="2868473" y="4801514"/>
            <a:ext cx="4005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</a:t>
            </a:r>
            <a:endParaRPr lang="en-US" sz="800" dirty="0"/>
          </a:p>
        </p:txBody>
      </p:sp>
      <p:sp>
        <p:nvSpPr>
          <p:cNvPr id="207" name="Text 193"/>
          <p:cNvSpPr txBox="1"/>
          <p:nvPr/>
        </p:nvSpPr>
        <p:spPr>
          <a:xfrm>
            <a:off x="3941064" y="4789627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6.6k</a:t>
            </a:r>
            <a:endParaRPr lang="en-US" sz="800" dirty="0"/>
          </a:p>
        </p:txBody>
      </p:sp>
      <p:sp>
        <p:nvSpPr>
          <p:cNvPr id="208" name="Shape 194"/>
          <p:cNvSpPr/>
          <p:nvPr/>
        </p:nvSpPr>
        <p:spPr>
          <a:xfrm>
            <a:off x="4903927" y="4764938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9" name="Shape 195"/>
          <p:cNvSpPr/>
          <p:nvPr/>
        </p:nvSpPr>
        <p:spPr>
          <a:xfrm>
            <a:off x="6186830" y="4765853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FEF2F2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10" name="Shape 196"/>
          <p:cNvSpPr/>
          <p:nvPr/>
        </p:nvSpPr>
        <p:spPr>
          <a:xfrm>
            <a:off x="7469734" y="4765853"/>
            <a:ext cx="714146" cy="171907"/>
          </a:xfrm>
          <a:prstGeom prst="roundRect">
            <a:avLst>
              <a:gd name="adj" fmla="val 118203"/>
            </a:avLst>
          </a:prstGeom>
          <a:solidFill>
            <a:srgbClr val="ECFCCB"/>
          </a:solidFill>
          <a:ln w="12700">
            <a:solidFill>
              <a:srgbClr val="84CC1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58154"/>
            <a:ext cx="11048695" cy="9144"/>
          </a:xfrm>
          <a:prstGeom prst="rect">
            <a:avLst/>
          </a:prstGeom>
          <a:solidFill>
            <a:srgbClr val="E5E7EB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2571" r="-2571" t="0" b="0"/>
          <a:stretch/>
        </p:blipFill>
        <p:spPr>
          <a:xfrm>
            <a:off x="571500" y="6439205"/>
            <a:ext cx="105156" cy="114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9926" y="6420002"/>
            <a:ext cx="2563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SEMrush Organic Research (Dez/2025).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52551" y="6429146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Fonte: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21701" y="6429146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Nota: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465515" y="6429146"/>
            <a:ext cx="32488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Keywords de pesquisa/educação (Topo de Funil).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314554"/>
            <a:ext cx="456285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KEYWORDS INFORMACIONAIS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10317175" y="466344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TOTAL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382098" y="657454"/>
            <a:ext cx="91988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151.1k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1064" r="-1064" t="0" b="0"/>
          <a:stretch/>
        </p:blipFill>
        <p:spPr>
          <a:xfrm>
            <a:off x="571500" y="809244"/>
            <a:ext cx="219456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6851" y="761695"/>
            <a:ext cx="27102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 de Funil &amp; Educação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200486" y="83850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4088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1181405"/>
            <a:ext cx="8115300" cy="5076749"/>
          </a:xfrm>
          <a:prstGeom prst="roundRect">
            <a:avLst>
              <a:gd name="adj" fmla="val 406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049" y="1542593"/>
            <a:ext cx="409651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1020470" y="1542593"/>
            <a:ext cx="2809951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3826764" y="1542593"/>
            <a:ext cx="9720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4789627" y="1542593"/>
            <a:ext cx="1285646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6072530" y="1542593"/>
            <a:ext cx="1285646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7355434" y="1542593"/>
            <a:ext cx="1285646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19049" y="1595628"/>
            <a:ext cx="409651" cy="314554"/>
          </a:xfrm>
          <a:prstGeom prst="roundRect">
            <a:avLst>
              <a:gd name="adj" fmla="val 52854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619049" y="1901038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1020470" y="1595628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1020470" y="1901038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1134770" y="1717243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Shape 23"/>
          <p:cNvSpPr/>
          <p:nvPr/>
        </p:nvSpPr>
        <p:spPr>
          <a:xfrm>
            <a:off x="3826764" y="1595628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3826764" y="1901038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4789627" y="1595628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4789627" y="1901038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70" b="-870"/>
          <a:stretch/>
        </p:blipFill>
        <p:spPr>
          <a:xfrm>
            <a:off x="4970678" y="1698041"/>
            <a:ext cx="105156" cy="9509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113325" y="1681582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Comparador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6072530" y="1595628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6072530" y="1901038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253582" y="1681582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7355434" y="1595628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7355434" y="1901038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536485" y="1681582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19049" y="1943100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619049" y="2248510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1020470" y="1943100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1020470" y="2248510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1134770" y="2064715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Shape 39"/>
          <p:cNvSpPr/>
          <p:nvPr/>
        </p:nvSpPr>
        <p:spPr>
          <a:xfrm>
            <a:off x="3826764" y="1943100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3826764" y="2248510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4789627" y="1943100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4789627" y="2248510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70" b="-870"/>
          <a:stretch/>
        </p:blipFill>
        <p:spPr>
          <a:xfrm>
            <a:off x="4970678" y="2045513"/>
            <a:ext cx="105156" cy="95098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5113325" y="2029054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Blog/Edu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6072530" y="1943100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6072530" y="2248510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53582" y="2029054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7355434" y="1943100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4" name="Shape 48"/>
          <p:cNvSpPr/>
          <p:nvPr/>
        </p:nvSpPr>
        <p:spPr>
          <a:xfrm>
            <a:off x="7355434" y="2248510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7536485" y="2029054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619049" y="2290572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7" name="Shape 51"/>
          <p:cNvSpPr/>
          <p:nvPr/>
        </p:nvSpPr>
        <p:spPr>
          <a:xfrm>
            <a:off x="619049" y="2595982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58" name="Shape 52"/>
          <p:cNvSpPr/>
          <p:nvPr/>
        </p:nvSpPr>
        <p:spPr>
          <a:xfrm>
            <a:off x="1020470" y="2290572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9" name="Shape 53"/>
          <p:cNvSpPr/>
          <p:nvPr/>
        </p:nvSpPr>
        <p:spPr>
          <a:xfrm>
            <a:off x="1020470" y="2595982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60" name="Shape 54"/>
          <p:cNvSpPr/>
          <p:nvPr/>
        </p:nvSpPr>
        <p:spPr>
          <a:xfrm>
            <a:off x="1134770" y="2412187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Shape 55"/>
          <p:cNvSpPr/>
          <p:nvPr/>
        </p:nvSpPr>
        <p:spPr>
          <a:xfrm>
            <a:off x="3826764" y="2290572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2" name="Shape 56"/>
          <p:cNvSpPr/>
          <p:nvPr/>
        </p:nvSpPr>
        <p:spPr>
          <a:xfrm>
            <a:off x="3826764" y="2595982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63" name="Shape 57"/>
          <p:cNvSpPr/>
          <p:nvPr/>
        </p:nvSpPr>
        <p:spPr>
          <a:xfrm>
            <a:off x="4789627" y="2290572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4" name="Shape 58"/>
          <p:cNvSpPr/>
          <p:nvPr/>
        </p:nvSpPr>
        <p:spPr>
          <a:xfrm>
            <a:off x="4789627" y="2595982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70" b="-870"/>
          <a:stretch/>
        </p:blipFill>
        <p:spPr>
          <a:xfrm>
            <a:off x="4970678" y="2392985"/>
            <a:ext cx="105156" cy="95098"/>
          </a:xfrm>
          <a:prstGeom prst="rect">
            <a:avLst/>
          </a:prstGeom>
        </p:spPr>
      </p:pic>
      <p:sp>
        <p:nvSpPr>
          <p:cNvPr id="66" name="Text 59"/>
          <p:cNvSpPr txBox="1"/>
          <p:nvPr/>
        </p:nvSpPr>
        <p:spPr>
          <a:xfrm>
            <a:off x="5113325" y="2376526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Comparador</a:t>
            </a:r>
            <a:endParaRPr lang="en-US" sz="800" dirty="0"/>
          </a:p>
        </p:txBody>
      </p:sp>
      <p:sp>
        <p:nvSpPr>
          <p:cNvPr id="67" name="Shape 60"/>
          <p:cNvSpPr/>
          <p:nvPr/>
        </p:nvSpPr>
        <p:spPr>
          <a:xfrm>
            <a:off x="6072530" y="2290572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8" name="Shape 61"/>
          <p:cNvSpPr/>
          <p:nvPr/>
        </p:nvSpPr>
        <p:spPr>
          <a:xfrm>
            <a:off x="6072530" y="2595982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69" name="Text 62"/>
          <p:cNvSpPr txBox="1"/>
          <p:nvPr/>
        </p:nvSpPr>
        <p:spPr>
          <a:xfrm>
            <a:off x="6253582" y="2376526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7355434" y="2290572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1" name="Shape 64"/>
          <p:cNvSpPr/>
          <p:nvPr/>
        </p:nvSpPr>
        <p:spPr>
          <a:xfrm>
            <a:off x="7355434" y="2595982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72" name="Text 65"/>
          <p:cNvSpPr txBox="1"/>
          <p:nvPr/>
        </p:nvSpPr>
        <p:spPr>
          <a:xfrm>
            <a:off x="7536485" y="2376526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73" name="Shape 66"/>
          <p:cNvSpPr/>
          <p:nvPr/>
        </p:nvSpPr>
        <p:spPr>
          <a:xfrm>
            <a:off x="619049" y="2638044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4" name="Shape 67"/>
          <p:cNvSpPr/>
          <p:nvPr/>
        </p:nvSpPr>
        <p:spPr>
          <a:xfrm>
            <a:off x="619049" y="2943454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75" name="Shape 68"/>
          <p:cNvSpPr/>
          <p:nvPr/>
        </p:nvSpPr>
        <p:spPr>
          <a:xfrm>
            <a:off x="1020470" y="2638044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6" name="Shape 69"/>
          <p:cNvSpPr/>
          <p:nvPr/>
        </p:nvSpPr>
        <p:spPr>
          <a:xfrm>
            <a:off x="1020470" y="2943454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77" name="Shape 70"/>
          <p:cNvSpPr/>
          <p:nvPr/>
        </p:nvSpPr>
        <p:spPr>
          <a:xfrm>
            <a:off x="1134770" y="2759659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8" name="Shape 71"/>
          <p:cNvSpPr/>
          <p:nvPr/>
        </p:nvSpPr>
        <p:spPr>
          <a:xfrm>
            <a:off x="3826764" y="2638044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9" name="Shape 72"/>
          <p:cNvSpPr/>
          <p:nvPr/>
        </p:nvSpPr>
        <p:spPr>
          <a:xfrm>
            <a:off x="3826764" y="2943454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80" name="Shape 73"/>
          <p:cNvSpPr/>
          <p:nvPr/>
        </p:nvSpPr>
        <p:spPr>
          <a:xfrm>
            <a:off x="4789627" y="2638044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1" name="Shape 74"/>
          <p:cNvSpPr/>
          <p:nvPr/>
        </p:nvSpPr>
        <p:spPr>
          <a:xfrm>
            <a:off x="4789627" y="294345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8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70" b="-870"/>
          <a:stretch/>
        </p:blipFill>
        <p:spPr>
          <a:xfrm>
            <a:off x="4970678" y="2740457"/>
            <a:ext cx="105156" cy="95098"/>
          </a:xfrm>
          <a:prstGeom prst="rect">
            <a:avLst/>
          </a:prstGeom>
        </p:spPr>
      </p:pic>
      <p:sp>
        <p:nvSpPr>
          <p:cNvPr id="83" name="Text 75"/>
          <p:cNvSpPr txBox="1"/>
          <p:nvPr/>
        </p:nvSpPr>
        <p:spPr>
          <a:xfrm>
            <a:off x="5113325" y="2723998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Educação</a:t>
            </a:r>
            <a:endParaRPr lang="en-US" sz="800" dirty="0"/>
          </a:p>
        </p:txBody>
      </p:sp>
      <p:sp>
        <p:nvSpPr>
          <p:cNvPr id="84" name="Shape 76"/>
          <p:cNvSpPr/>
          <p:nvPr/>
        </p:nvSpPr>
        <p:spPr>
          <a:xfrm>
            <a:off x="6072530" y="2638044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5" name="Shape 77"/>
          <p:cNvSpPr/>
          <p:nvPr/>
        </p:nvSpPr>
        <p:spPr>
          <a:xfrm>
            <a:off x="6072530" y="294345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86" name="Text 78"/>
          <p:cNvSpPr txBox="1"/>
          <p:nvPr/>
        </p:nvSpPr>
        <p:spPr>
          <a:xfrm>
            <a:off x="6253582" y="2723998"/>
            <a:ext cx="238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</a:t>
            </a:r>
            <a:endParaRPr lang="en-US" sz="800" dirty="0"/>
          </a:p>
        </p:txBody>
      </p:sp>
      <p:sp>
        <p:nvSpPr>
          <p:cNvPr id="87" name="Shape 79"/>
          <p:cNvSpPr/>
          <p:nvPr/>
        </p:nvSpPr>
        <p:spPr>
          <a:xfrm>
            <a:off x="7355434" y="2638044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8" name="Shape 80"/>
          <p:cNvSpPr/>
          <p:nvPr/>
        </p:nvSpPr>
        <p:spPr>
          <a:xfrm>
            <a:off x="7355434" y="294345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89" name="Text 81"/>
          <p:cNvSpPr txBox="1"/>
          <p:nvPr/>
        </p:nvSpPr>
        <p:spPr>
          <a:xfrm>
            <a:off x="7536485" y="2723998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90" name="Shape 82"/>
          <p:cNvSpPr/>
          <p:nvPr/>
        </p:nvSpPr>
        <p:spPr>
          <a:xfrm>
            <a:off x="619049" y="2986430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1" name="Shape 83"/>
          <p:cNvSpPr/>
          <p:nvPr/>
        </p:nvSpPr>
        <p:spPr>
          <a:xfrm>
            <a:off x="619049" y="3291840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92" name="Shape 84"/>
          <p:cNvSpPr/>
          <p:nvPr/>
        </p:nvSpPr>
        <p:spPr>
          <a:xfrm>
            <a:off x="1020470" y="2986430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3" name="Shape 85"/>
          <p:cNvSpPr/>
          <p:nvPr/>
        </p:nvSpPr>
        <p:spPr>
          <a:xfrm>
            <a:off x="1020470" y="3291840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94" name="Shape 86"/>
          <p:cNvSpPr/>
          <p:nvPr/>
        </p:nvSpPr>
        <p:spPr>
          <a:xfrm>
            <a:off x="1134770" y="3107131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5" name="Shape 87"/>
          <p:cNvSpPr/>
          <p:nvPr/>
        </p:nvSpPr>
        <p:spPr>
          <a:xfrm>
            <a:off x="3826764" y="2986430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6" name="Shape 88"/>
          <p:cNvSpPr/>
          <p:nvPr/>
        </p:nvSpPr>
        <p:spPr>
          <a:xfrm>
            <a:off x="3826764" y="3291840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97" name="Shape 89"/>
          <p:cNvSpPr/>
          <p:nvPr/>
        </p:nvSpPr>
        <p:spPr>
          <a:xfrm>
            <a:off x="4789627" y="2986430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8" name="Shape 90"/>
          <p:cNvSpPr/>
          <p:nvPr/>
        </p:nvSpPr>
        <p:spPr>
          <a:xfrm>
            <a:off x="4789627" y="3291840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9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70" b="-870"/>
          <a:stretch/>
        </p:blipFill>
        <p:spPr>
          <a:xfrm>
            <a:off x="4970678" y="3088843"/>
            <a:ext cx="105156" cy="95098"/>
          </a:xfrm>
          <a:prstGeom prst="rect">
            <a:avLst/>
          </a:prstGeom>
        </p:spPr>
      </p:pic>
      <p:sp>
        <p:nvSpPr>
          <p:cNvPr id="100" name="Text 91"/>
          <p:cNvSpPr txBox="1"/>
          <p:nvPr/>
        </p:nvSpPr>
        <p:spPr>
          <a:xfrm>
            <a:off x="5113325" y="3071470"/>
            <a:ext cx="238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</a:t>
            </a:r>
            <a:endParaRPr lang="en-US" sz="800" dirty="0"/>
          </a:p>
        </p:txBody>
      </p:sp>
      <p:sp>
        <p:nvSpPr>
          <p:cNvPr id="101" name="Shape 92"/>
          <p:cNvSpPr/>
          <p:nvPr/>
        </p:nvSpPr>
        <p:spPr>
          <a:xfrm>
            <a:off x="6072530" y="2986430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2" name="Shape 93"/>
          <p:cNvSpPr/>
          <p:nvPr/>
        </p:nvSpPr>
        <p:spPr>
          <a:xfrm>
            <a:off x="6072530" y="3291840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03" name="Text 94"/>
          <p:cNvSpPr txBox="1"/>
          <p:nvPr/>
        </p:nvSpPr>
        <p:spPr>
          <a:xfrm>
            <a:off x="6253582" y="3071470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104" name="Shape 95"/>
          <p:cNvSpPr/>
          <p:nvPr/>
        </p:nvSpPr>
        <p:spPr>
          <a:xfrm>
            <a:off x="7355434" y="2986430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5" name="Shape 96"/>
          <p:cNvSpPr/>
          <p:nvPr/>
        </p:nvSpPr>
        <p:spPr>
          <a:xfrm>
            <a:off x="7355434" y="3291840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06" name="Text 97"/>
          <p:cNvSpPr txBox="1"/>
          <p:nvPr/>
        </p:nvSpPr>
        <p:spPr>
          <a:xfrm>
            <a:off x="7536485" y="3071470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107" name="Shape 98"/>
          <p:cNvSpPr/>
          <p:nvPr/>
        </p:nvSpPr>
        <p:spPr>
          <a:xfrm>
            <a:off x="619049" y="3333902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8" name="Shape 99"/>
          <p:cNvSpPr/>
          <p:nvPr/>
        </p:nvSpPr>
        <p:spPr>
          <a:xfrm>
            <a:off x="619049" y="3639312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09" name="Shape 100"/>
          <p:cNvSpPr/>
          <p:nvPr/>
        </p:nvSpPr>
        <p:spPr>
          <a:xfrm>
            <a:off x="1020470" y="3333902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0" name="Shape 101"/>
          <p:cNvSpPr/>
          <p:nvPr/>
        </p:nvSpPr>
        <p:spPr>
          <a:xfrm>
            <a:off x="1020470" y="3639312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11" name="Shape 102"/>
          <p:cNvSpPr/>
          <p:nvPr/>
        </p:nvSpPr>
        <p:spPr>
          <a:xfrm>
            <a:off x="1134770" y="3455518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2" name="Shape 103"/>
          <p:cNvSpPr/>
          <p:nvPr/>
        </p:nvSpPr>
        <p:spPr>
          <a:xfrm>
            <a:off x="3826764" y="3333902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3" name="Shape 104"/>
          <p:cNvSpPr/>
          <p:nvPr/>
        </p:nvSpPr>
        <p:spPr>
          <a:xfrm>
            <a:off x="3826764" y="3639312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14" name="Shape 105"/>
          <p:cNvSpPr/>
          <p:nvPr/>
        </p:nvSpPr>
        <p:spPr>
          <a:xfrm>
            <a:off x="4789627" y="3333902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5" name="Shape 106"/>
          <p:cNvSpPr/>
          <p:nvPr/>
        </p:nvSpPr>
        <p:spPr>
          <a:xfrm>
            <a:off x="4789627" y="3639312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11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70" b="-870"/>
          <a:stretch/>
        </p:blipFill>
        <p:spPr>
          <a:xfrm>
            <a:off x="4970678" y="3436315"/>
            <a:ext cx="105156" cy="95098"/>
          </a:xfrm>
          <a:prstGeom prst="rect">
            <a:avLst/>
          </a:prstGeom>
        </p:spPr>
      </p:pic>
      <p:sp>
        <p:nvSpPr>
          <p:cNvPr id="117" name="Text 107"/>
          <p:cNvSpPr txBox="1"/>
          <p:nvPr/>
        </p:nvSpPr>
        <p:spPr>
          <a:xfrm>
            <a:off x="5113325" y="3419856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</a:t>
            </a:r>
            <a:endParaRPr lang="en-US" sz="800" dirty="0"/>
          </a:p>
        </p:txBody>
      </p:sp>
      <p:sp>
        <p:nvSpPr>
          <p:cNvPr id="118" name="Shape 108"/>
          <p:cNvSpPr/>
          <p:nvPr/>
        </p:nvSpPr>
        <p:spPr>
          <a:xfrm>
            <a:off x="6072530" y="3333902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9" name="Shape 109"/>
          <p:cNvSpPr/>
          <p:nvPr/>
        </p:nvSpPr>
        <p:spPr>
          <a:xfrm>
            <a:off x="6072530" y="3639312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20" name="Text 110"/>
          <p:cNvSpPr txBox="1"/>
          <p:nvPr/>
        </p:nvSpPr>
        <p:spPr>
          <a:xfrm>
            <a:off x="6253582" y="3419856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Comparador</a:t>
            </a:r>
            <a:endParaRPr lang="en-US" sz="800" dirty="0"/>
          </a:p>
        </p:txBody>
      </p:sp>
      <p:sp>
        <p:nvSpPr>
          <p:cNvPr id="121" name="Shape 111"/>
          <p:cNvSpPr/>
          <p:nvPr/>
        </p:nvSpPr>
        <p:spPr>
          <a:xfrm>
            <a:off x="7355434" y="3333902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2" name="Shape 112"/>
          <p:cNvSpPr/>
          <p:nvPr/>
        </p:nvSpPr>
        <p:spPr>
          <a:xfrm>
            <a:off x="7355434" y="3639312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23" name="Text 113"/>
          <p:cNvSpPr txBox="1"/>
          <p:nvPr/>
        </p:nvSpPr>
        <p:spPr>
          <a:xfrm>
            <a:off x="7536485" y="3419856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124" name="Shape 114"/>
          <p:cNvSpPr/>
          <p:nvPr/>
        </p:nvSpPr>
        <p:spPr>
          <a:xfrm>
            <a:off x="619049" y="3681374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5" name="Shape 115"/>
          <p:cNvSpPr/>
          <p:nvPr/>
        </p:nvSpPr>
        <p:spPr>
          <a:xfrm>
            <a:off x="619049" y="3986784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26" name="Shape 116"/>
          <p:cNvSpPr/>
          <p:nvPr/>
        </p:nvSpPr>
        <p:spPr>
          <a:xfrm>
            <a:off x="1020470" y="3681374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7" name="Shape 117"/>
          <p:cNvSpPr/>
          <p:nvPr/>
        </p:nvSpPr>
        <p:spPr>
          <a:xfrm>
            <a:off x="1020470" y="3986784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28" name="Shape 118"/>
          <p:cNvSpPr/>
          <p:nvPr/>
        </p:nvSpPr>
        <p:spPr>
          <a:xfrm>
            <a:off x="1134770" y="3802990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9" name="Shape 119"/>
          <p:cNvSpPr/>
          <p:nvPr/>
        </p:nvSpPr>
        <p:spPr>
          <a:xfrm>
            <a:off x="3826764" y="3681374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0" name="Shape 120"/>
          <p:cNvSpPr/>
          <p:nvPr/>
        </p:nvSpPr>
        <p:spPr>
          <a:xfrm>
            <a:off x="3826764" y="3986784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31" name="Shape 121"/>
          <p:cNvSpPr/>
          <p:nvPr/>
        </p:nvSpPr>
        <p:spPr>
          <a:xfrm>
            <a:off x="4789627" y="3681374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2" name="Shape 122"/>
          <p:cNvSpPr/>
          <p:nvPr/>
        </p:nvSpPr>
        <p:spPr>
          <a:xfrm>
            <a:off x="4789627" y="398678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1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70" b="-870"/>
          <a:stretch/>
        </p:blipFill>
        <p:spPr>
          <a:xfrm>
            <a:off x="4970678" y="3783787"/>
            <a:ext cx="105156" cy="95098"/>
          </a:xfrm>
          <a:prstGeom prst="rect">
            <a:avLst/>
          </a:prstGeom>
        </p:spPr>
      </p:pic>
      <p:sp>
        <p:nvSpPr>
          <p:cNvPr id="134" name="Text 123"/>
          <p:cNvSpPr txBox="1"/>
          <p:nvPr/>
        </p:nvSpPr>
        <p:spPr>
          <a:xfrm>
            <a:off x="5113325" y="3767328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Educação</a:t>
            </a:r>
            <a:endParaRPr lang="en-US" sz="800" dirty="0"/>
          </a:p>
        </p:txBody>
      </p:sp>
      <p:sp>
        <p:nvSpPr>
          <p:cNvPr id="135" name="Shape 124"/>
          <p:cNvSpPr/>
          <p:nvPr/>
        </p:nvSpPr>
        <p:spPr>
          <a:xfrm>
            <a:off x="6072530" y="3681374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6" name="Shape 125"/>
          <p:cNvSpPr/>
          <p:nvPr/>
        </p:nvSpPr>
        <p:spPr>
          <a:xfrm>
            <a:off x="6072530" y="398678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37" name="Text 126"/>
          <p:cNvSpPr txBox="1"/>
          <p:nvPr/>
        </p:nvSpPr>
        <p:spPr>
          <a:xfrm>
            <a:off x="6253582" y="3767328"/>
            <a:ext cx="238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</a:t>
            </a:r>
            <a:endParaRPr lang="en-US" sz="800" dirty="0"/>
          </a:p>
        </p:txBody>
      </p:sp>
      <p:sp>
        <p:nvSpPr>
          <p:cNvPr id="138" name="Shape 127"/>
          <p:cNvSpPr/>
          <p:nvPr/>
        </p:nvSpPr>
        <p:spPr>
          <a:xfrm>
            <a:off x="7355434" y="3681374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9" name="Shape 128"/>
          <p:cNvSpPr/>
          <p:nvPr/>
        </p:nvSpPr>
        <p:spPr>
          <a:xfrm>
            <a:off x="7355434" y="398678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40" name="Text 129"/>
          <p:cNvSpPr txBox="1"/>
          <p:nvPr/>
        </p:nvSpPr>
        <p:spPr>
          <a:xfrm>
            <a:off x="7536485" y="3767328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SulAmérica</a:t>
            </a:r>
            <a:endParaRPr lang="en-US" sz="800" dirty="0"/>
          </a:p>
        </p:txBody>
      </p:sp>
      <p:sp>
        <p:nvSpPr>
          <p:cNvPr id="141" name="Shape 130"/>
          <p:cNvSpPr/>
          <p:nvPr/>
        </p:nvSpPr>
        <p:spPr>
          <a:xfrm>
            <a:off x="619049" y="4028846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2" name="Shape 131"/>
          <p:cNvSpPr/>
          <p:nvPr/>
        </p:nvSpPr>
        <p:spPr>
          <a:xfrm>
            <a:off x="619049" y="4334256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43" name="Shape 132"/>
          <p:cNvSpPr/>
          <p:nvPr/>
        </p:nvSpPr>
        <p:spPr>
          <a:xfrm>
            <a:off x="1020470" y="4028846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4" name="Shape 133"/>
          <p:cNvSpPr/>
          <p:nvPr/>
        </p:nvSpPr>
        <p:spPr>
          <a:xfrm>
            <a:off x="1020470" y="4334256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45" name="Shape 134"/>
          <p:cNvSpPr/>
          <p:nvPr/>
        </p:nvSpPr>
        <p:spPr>
          <a:xfrm>
            <a:off x="1134770" y="4150462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6" name="Shape 135"/>
          <p:cNvSpPr/>
          <p:nvPr/>
        </p:nvSpPr>
        <p:spPr>
          <a:xfrm>
            <a:off x="3826764" y="4028846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7" name="Shape 136"/>
          <p:cNvSpPr/>
          <p:nvPr/>
        </p:nvSpPr>
        <p:spPr>
          <a:xfrm>
            <a:off x="3826764" y="4334256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48" name="Shape 137"/>
          <p:cNvSpPr/>
          <p:nvPr/>
        </p:nvSpPr>
        <p:spPr>
          <a:xfrm>
            <a:off x="4789627" y="4028846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9" name="Shape 138"/>
          <p:cNvSpPr/>
          <p:nvPr/>
        </p:nvSpPr>
        <p:spPr>
          <a:xfrm>
            <a:off x="4789627" y="4334256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15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70" b="-870"/>
          <a:stretch/>
        </p:blipFill>
        <p:spPr>
          <a:xfrm>
            <a:off x="4970678" y="4131259"/>
            <a:ext cx="105156" cy="95098"/>
          </a:xfrm>
          <a:prstGeom prst="rect">
            <a:avLst/>
          </a:prstGeom>
        </p:spPr>
      </p:pic>
      <p:sp>
        <p:nvSpPr>
          <p:cNvPr id="151" name="Text 139"/>
          <p:cNvSpPr txBox="1"/>
          <p:nvPr/>
        </p:nvSpPr>
        <p:spPr>
          <a:xfrm>
            <a:off x="5113325" y="4114800"/>
            <a:ext cx="238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</a:t>
            </a:r>
            <a:endParaRPr lang="en-US" sz="800" dirty="0"/>
          </a:p>
        </p:txBody>
      </p:sp>
      <p:sp>
        <p:nvSpPr>
          <p:cNvPr id="152" name="Shape 140"/>
          <p:cNvSpPr/>
          <p:nvPr/>
        </p:nvSpPr>
        <p:spPr>
          <a:xfrm>
            <a:off x="6072530" y="4028846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3" name="Shape 141"/>
          <p:cNvSpPr/>
          <p:nvPr/>
        </p:nvSpPr>
        <p:spPr>
          <a:xfrm>
            <a:off x="6072530" y="4334256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54" name="Text 142"/>
          <p:cNvSpPr txBox="1"/>
          <p:nvPr/>
        </p:nvSpPr>
        <p:spPr>
          <a:xfrm>
            <a:off x="6253582" y="4114800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155" name="Shape 143"/>
          <p:cNvSpPr/>
          <p:nvPr/>
        </p:nvSpPr>
        <p:spPr>
          <a:xfrm>
            <a:off x="7355434" y="4028846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6" name="Shape 144"/>
          <p:cNvSpPr/>
          <p:nvPr/>
        </p:nvSpPr>
        <p:spPr>
          <a:xfrm>
            <a:off x="7355434" y="4334256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57" name="Text 145"/>
          <p:cNvSpPr txBox="1"/>
          <p:nvPr/>
        </p:nvSpPr>
        <p:spPr>
          <a:xfrm>
            <a:off x="7536485" y="4114800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158" name="Shape 146"/>
          <p:cNvSpPr/>
          <p:nvPr/>
        </p:nvSpPr>
        <p:spPr>
          <a:xfrm>
            <a:off x="619049" y="4376318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9" name="Shape 147"/>
          <p:cNvSpPr/>
          <p:nvPr/>
        </p:nvSpPr>
        <p:spPr>
          <a:xfrm>
            <a:off x="619049" y="4681728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60" name="Shape 148"/>
          <p:cNvSpPr/>
          <p:nvPr/>
        </p:nvSpPr>
        <p:spPr>
          <a:xfrm>
            <a:off x="1020470" y="4376318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1" name="Shape 149"/>
          <p:cNvSpPr/>
          <p:nvPr/>
        </p:nvSpPr>
        <p:spPr>
          <a:xfrm>
            <a:off x="1020470" y="4681728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62" name="Shape 150"/>
          <p:cNvSpPr/>
          <p:nvPr/>
        </p:nvSpPr>
        <p:spPr>
          <a:xfrm>
            <a:off x="1134770" y="4497934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3" name="Shape 151"/>
          <p:cNvSpPr/>
          <p:nvPr/>
        </p:nvSpPr>
        <p:spPr>
          <a:xfrm>
            <a:off x="3826764" y="4376318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4" name="Shape 152"/>
          <p:cNvSpPr/>
          <p:nvPr/>
        </p:nvSpPr>
        <p:spPr>
          <a:xfrm>
            <a:off x="3826764" y="4681728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65" name="Shape 153"/>
          <p:cNvSpPr/>
          <p:nvPr/>
        </p:nvSpPr>
        <p:spPr>
          <a:xfrm>
            <a:off x="4789627" y="4376318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6" name="Shape 154"/>
          <p:cNvSpPr/>
          <p:nvPr/>
        </p:nvSpPr>
        <p:spPr>
          <a:xfrm>
            <a:off x="4789627" y="4681728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16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870" b="-870"/>
          <a:stretch/>
        </p:blipFill>
        <p:spPr>
          <a:xfrm>
            <a:off x="4970678" y="4478731"/>
            <a:ext cx="105156" cy="95098"/>
          </a:xfrm>
          <a:prstGeom prst="rect">
            <a:avLst/>
          </a:prstGeom>
        </p:spPr>
      </p:pic>
      <p:sp>
        <p:nvSpPr>
          <p:cNvPr id="168" name="Text 155"/>
          <p:cNvSpPr txBox="1"/>
          <p:nvPr/>
        </p:nvSpPr>
        <p:spPr>
          <a:xfrm>
            <a:off x="5113325" y="4462272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E18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Notícias</a:t>
            </a:r>
            <a:endParaRPr lang="en-US" sz="800" dirty="0"/>
          </a:p>
        </p:txBody>
      </p:sp>
      <p:sp>
        <p:nvSpPr>
          <p:cNvPr id="169" name="Shape 156"/>
          <p:cNvSpPr/>
          <p:nvPr/>
        </p:nvSpPr>
        <p:spPr>
          <a:xfrm>
            <a:off x="6072530" y="4376318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0" name="Shape 157"/>
          <p:cNvSpPr/>
          <p:nvPr/>
        </p:nvSpPr>
        <p:spPr>
          <a:xfrm>
            <a:off x="6072530" y="4681728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71" name="Text 158"/>
          <p:cNvSpPr txBox="1"/>
          <p:nvPr/>
        </p:nvSpPr>
        <p:spPr>
          <a:xfrm>
            <a:off x="6253582" y="4462272"/>
            <a:ext cx="238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</a:t>
            </a:r>
            <a:endParaRPr lang="en-US" sz="800" dirty="0"/>
          </a:p>
        </p:txBody>
      </p:sp>
      <p:sp>
        <p:nvSpPr>
          <p:cNvPr id="172" name="Shape 159"/>
          <p:cNvSpPr/>
          <p:nvPr/>
        </p:nvSpPr>
        <p:spPr>
          <a:xfrm>
            <a:off x="7355434" y="4376318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3" name="Shape 160"/>
          <p:cNvSpPr/>
          <p:nvPr/>
        </p:nvSpPr>
        <p:spPr>
          <a:xfrm>
            <a:off x="7355434" y="4681728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74" name="Text 161"/>
          <p:cNvSpPr txBox="1"/>
          <p:nvPr/>
        </p:nvSpPr>
        <p:spPr>
          <a:xfrm>
            <a:off x="7536485" y="4462272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</a:t>
            </a:r>
            <a:endParaRPr lang="en-US" sz="800" dirty="0"/>
          </a:p>
        </p:txBody>
      </p:sp>
      <p:sp>
        <p:nvSpPr>
          <p:cNvPr id="175" name="Shape 162"/>
          <p:cNvSpPr/>
          <p:nvPr/>
        </p:nvSpPr>
        <p:spPr>
          <a:xfrm>
            <a:off x="619049" y="4724705"/>
            <a:ext cx="4096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6" name="Shape 163"/>
          <p:cNvSpPr/>
          <p:nvPr/>
        </p:nvSpPr>
        <p:spPr>
          <a:xfrm>
            <a:off x="619049" y="5030114"/>
            <a:ext cx="4096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77" name="Shape 164"/>
          <p:cNvSpPr/>
          <p:nvPr/>
        </p:nvSpPr>
        <p:spPr>
          <a:xfrm>
            <a:off x="1020470" y="4724705"/>
            <a:ext cx="2809951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8" name="Shape 165"/>
          <p:cNvSpPr/>
          <p:nvPr/>
        </p:nvSpPr>
        <p:spPr>
          <a:xfrm>
            <a:off x="1020470" y="5030114"/>
            <a:ext cx="2809951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79" name="Shape 166"/>
          <p:cNvSpPr/>
          <p:nvPr/>
        </p:nvSpPr>
        <p:spPr>
          <a:xfrm>
            <a:off x="1134770" y="4845406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0" name="Shape 167"/>
          <p:cNvSpPr/>
          <p:nvPr/>
        </p:nvSpPr>
        <p:spPr>
          <a:xfrm>
            <a:off x="3826764" y="4724705"/>
            <a:ext cx="972007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1" name="Shape 168"/>
          <p:cNvSpPr/>
          <p:nvPr/>
        </p:nvSpPr>
        <p:spPr>
          <a:xfrm>
            <a:off x="3826764" y="5030114"/>
            <a:ext cx="972007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82" name="Shape 169"/>
          <p:cNvSpPr/>
          <p:nvPr/>
        </p:nvSpPr>
        <p:spPr>
          <a:xfrm>
            <a:off x="4789627" y="4724705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3" name="Shape 170"/>
          <p:cNvSpPr/>
          <p:nvPr/>
        </p:nvSpPr>
        <p:spPr>
          <a:xfrm>
            <a:off x="4789627" y="503011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pic>
        <p:nvPicPr>
          <p:cNvPr id="18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70" b="-870"/>
          <a:stretch/>
        </p:blipFill>
        <p:spPr>
          <a:xfrm>
            <a:off x="4970678" y="4827118"/>
            <a:ext cx="105156" cy="95098"/>
          </a:xfrm>
          <a:prstGeom prst="rect">
            <a:avLst/>
          </a:prstGeom>
        </p:spPr>
      </p:pic>
      <p:sp>
        <p:nvSpPr>
          <p:cNvPr id="185" name="Text 171"/>
          <p:cNvSpPr txBox="1"/>
          <p:nvPr/>
        </p:nvSpPr>
        <p:spPr>
          <a:xfrm>
            <a:off x="5113325" y="4809744"/>
            <a:ext cx="238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</a:t>
            </a:r>
            <a:endParaRPr lang="en-US" sz="800" dirty="0"/>
          </a:p>
        </p:txBody>
      </p:sp>
      <p:sp>
        <p:nvSpPr>
          <p:cNvPr id="186" name="Shape 172"/>
          <p:cNvSpPr/>
          <p:nvPr/>
        </p:nvSpPr>
        <p:spPr>
          <a:xfrm>
            <a:off x="6072530" y="4724705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7" name="Shape 173"/>
          <p:cNvSpPr/>
          <p:nvPr/>
        </p:nvSpPr>
        <p:spPr>
          <a:xfrm>
            <a:off x="6072530" y="503011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88" name="Text 174"/>
          <p:cNvSpPr txBox="1"/>
          <p:nvPr/>
        </p:nvSpPr>
        <p:spPr>
          <a:xfrm>
            <a:off x="6253582" y="4809744"/>
            <a:ext cx="6007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Comparador</a:t>
            </a:r>
            <a:endParaRPr lang="en-US" sz="800" dirty="0"/>
          </a:p>
        </p:txBody>
      </p:sp>
      <p:sp>
        <p:nvSpPr>
          <p:cNvPr id="189" name="Shape 175"/>
          <p:cNvSpPr/>
          <p:nvPr/>
        </p:nvSpPr>
        <p:spPr>
          <a:xfrm>
            <a:off x="7355434" y="4724705"/>
            <a:ext cx="1285646" cy="31455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90" name="Shape 176"/>
          <p:cNvSpPr/>
          <p:nvPr/>
        </p:nvSpPr>
        <p:spPr>
          <a:xfrm>
            <a:off x="7355434" y="5030114"/>
            <a:ext cx="1285646" cy="9144"/>
          </a:xfrm>
          <a:prstGeom prst="rect">
            <a:avLst/>
          </a:prstGeom>
          <a:solidFill>
            <a:srgbClr val="224088">
              <a:alpha val="5000"/>
            </a:srgbClr>
          </a:solidFill>
          <a:ln/>
        </p:spPr>
      </p:sp>
      <p:sp>
        <p:nvSpPr>
          <p:cNvPr id="191" name="Text 177"/>
          <p:cNvSpPr txBox="1"/>
          <p:nvPr/>
        </p:nvSpPr>
        <p:spPr>
          <a:xfrm>
            <a:off x="7536485" y="4809744"/>
            <a:ext cx="286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</a:t>
            </a:r>
            <a:endParaRPr lang="en-US" sz="800" dirty="0"/>
          </a:p>
        </p:txBody>
      </p:sp>
      <p:sp>
        <p:nvSpPr>
          <p:cNvPr id="192" name="Shape 178"/>
          <p:cNvSpPr/>
          <p:nvPr/>
        </p:nvSpPr>
        <p:spPr>
          <a:xfrm>
            <a:off x="8915400" y="1218895"/>
            <a:ext cx="2704795" cy="1314907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93" name="Shape 179"/>
          <p:cNvSpPr/>
          <p:nvPr/>
        </p:nvSpPr>
        <p:spPr>
          <a:xfrm>
            <a:off x="8915400" y="1218895"/>
            <a:ext cx="38405" cy="1314907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194" name="Text 180"/>
          <p:cNvSpPr txBox="1"/>
          <p:nvPr/>
        </p:nvSpPr>
        <p:spPr>
          <a:xfrm>
            <a:off x="9068105" y="1333195"/>
            <a:ext cx="1705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Presença Hapvida</a:t>
            </a:r>
            <a:endParaRPr lang="en-US" sz="1200" dirty="0"/>
          </a:p>
        </p:txBody>
      </p:sp>
      <p:pic>
        <p:nvPicPr>
          <p:cNvPr id="19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1391595" y="1333195"/>
            <a:ext cx="114300" cy="114300"/>
          </a:xfrm>
          <a:prstGeom prst="rect">
            <a:avLst/>
          </a:prstGeom>
        </p:spPr>
      </p:pic>
      <p:sp>
        <p:nvSpPr>
          <p:cNvPr id="196" name="Text 181"/>
          <p:cNvSpPr txBox="1"/>
          <p:nvPr/>
        </p:nvSpPr>
        <p:spPr>
          <a:xfrm>
            <a:off x="9068105" y="1600200"/>
            <a:ext cx="2610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0%</a:t>
            </a:r>
            <a:endParaRPr lang="en-US" sz="1800" dirty="0"/>
          </a:p>
        </p:txBody>
      </p:sp>
      <p:sp>
        <p:nvSpPr>
          <p:cNvPr id="197" name="Text 182"/>
          <p:cNvSpPr txBox="1"/>
          <p:nvPr/>
        </p:nvSpPr>
        <p:spPr>
          <a:xfrm>
            <a:off x="9068105" y="1848002"/>
            <a:ext cx="25530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 em todas as 10 principais buscas educativas.</a:t>
            </a:r>
            <a:endParaRPr lang="en-US" sz="1200" dirty="0"/>
          </a:p>
        </p:txBody>
      </p:sp>
      <p:sp>
        <p:nvSpPr>
          <p:cNvPr id="198" name="Shape 183"/>
          <p:cNvSpPr/>
          <p:nvPr/>
        </p:nvSpPr>
        <p:spPr>
          <a:xfrm>
            <a:off x="8915400" y="2628900"/>
            <a:ext cx="2704795" cy="1314907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99" name="Shape 184"/>
          <p:cNvSpPr/>
          <p:nvPr/>
        </p:nvSpPr>
        <p:spPr>
          <a:xfrm>
            <a:off x="8915400" y="2628900"/>
            <a:ext cx="38405" cy="1314907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200" name="Text 185"/>
          <p:cNvSpPr txBox="1"/>
          <p:nvPr/>
        </p:nvSpPr>
        <p:spPr>
          <a:xfrm>
            <a:off x="9068105" y="274320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Perdido</a:t>
            </a:r>
            <a:endParaRPr lang="en-US" sz="1200" dirty="0"/>
          </a:p>
        </p:txBody>
      </p:sp>
      <p:pic>
        <p:nvPicPr>
          <p:cNvPr id="20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1391595" y="2743200"/>
            <a:ext cx="114300" cy="114300"/>
          </a:xfrm>
          <a:prstGeom prst="rect">
            <a:avLst/>
          </a:prstGeom>
        </p:spPr>
      </p:pic>
      <p:sp>
        <p:nvSpPr>
          <p:cNvPr id="202" name="Text 186"/>
          <p:cNvSpPr txBox="1"/>
          <p:nvPr/>
        </p:nvSpPr>
        <p:spPr>
          <a:xfrm>
            <a:off x="9068105" y="3010205"/>
            <a:ext cx="2610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151k</a:t>
            </a:r>
            <a:endParaRPr lang="en-US" sz="1800" dirty="0"/>
          </a:p>
        </p:txBody>
      </p:sp>
      <p:sp>
        <p:nvSpPr>
          <p:cNvPr id="203" name="Text 187"/>
          <p:cNvSpPr txBox="1"/>
          <p:nvPr/>
        </p:nvSpPr>
        <p:spPr>
          <a:xfrm>
            <a:off x="9068105" y="3258007"/>
            <a:ext cx="25530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Tráfego topo de funil capturado por concorrentes.</a:t>
            </a:r>
            <a:endParaRPr lang="en-US" sz="1200" dirty="0"/>
          </a:p>
        </p:txBody>
      </p:sp>
      <p:sp>
        <p:nvSpPr>
          <p:cNvPr id="204" name="Text 188"/>
          <p:cNvSpPr txBox="1"/>
          <p:nvPr/>
        </p:nvSpPr>
        <p:spPr>
          <a:xfrm>
            <a:off x="733349" y="1324051"/>
            <a:ext cx="1554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00" dirty="0"/>
          </a:p>
        </p:txBody>
      </p:sp>
      <p:sp>
        <p:nvSpPr>
          <p:cNvPr id="205" name="Text 189"/>
          <p:cNvSpPr txBox="1"/>
          <p:nvPr/>
        </p:nvSpPr>
        <p:spPr>
          <a:xfrm>
            <a:off x="1134770" y="1324051"/>
            <a:ext cx="5650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</a:t>
            </a:r>
            <a:endParaRPr lang="en-US" sz="800" dirty="0"/>
          </a:p>
        </p:txBody>
      </p:sp>
      <p:sp>
        <p:nvSpPr>
          <p:cNvPr id="206" name="Text 190"/>
          <p:cNvSpPr txBox="1"/>
          <p:nvPr/>
        </p:nvSpPr>
        <p:spPr>
          <a:xfrm>
            <a:off x="3941064" y="1324051"/>
            <a:ext cx="488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800" dirty="0"/>
          </a:p>
        </p:txBody>
      </p:sp>
      <p:sp>
        <p:nvSpPr>
          <p:cNvPr id="207" name="Text 191"/>
          <p:cNvSpPr txBox="1"/>
          <p:nvPr/>
        </p:nvSpPr>
        <p:spPr>
          <a:xfrm>
            <a:off x="4903927" y="1324051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1ª POSIÇÃO</a:t>
            </a:r>
            <a:endParaRPr lang="en-US" sz="800" dirty="0"/>
          </a:p>
        </p:txBody>
      </p:sp>
      <p:sp>
        <p:nvSpPr>
          <p:cNvPr id="208" name="Text 192"/>
          <p:cNvSpPr txBox="1"/>
          <p:nvPr/>
        </p:nvSpPr>
        <p:spPr>
          <a:xfrm>
            <a:off x="6186830" y="1324051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2ª POSIÇÃO</a:t>
            </a:r>
            <a:endParaRPr lang="en-US" sz="800" dirty="0"/>
          </a:p>
        </p:txBody>
      </p:sp>
      <p:sp>
        <p:nvSpPr>
          <p:cNvPr id="209" name="Text 193"/>
          <p:cNvSpPr txBox="1"/>
          <p:nvPr/>
        </p:nvSpPr>
        <p:spPr>
          <a:xfrm>
            <a:off x="7469734" y="1324051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3ª POSIÇÃO</a:t>
            </a:r>
            <a:endParaRPr lang="en-US" sz="800" dirty="0"/>
          </a:p>
        </p:txBody>
      </p:sp>
      <p:sp>
        <p:nvSpPr>
          <p:cNvPr id="210" name="Text 194"/>
          <p:cNvSpPr txBox="1"/>
          <p:nvPr/>
        </p:nvSpPr>
        <p:spPr>
          <a:xfrm>
            <a:off x="733349" y="1666951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211" name="Text 195"/>
          <p:cNvSpPr txBox="1"/>
          <p:nvPr/>
        </p:nvSpPr>
        <p:spPr>
          <a:xfrm>
            <a:off x="1229868" y="1666951"/>
            <a:ext cx="14026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plano de saúde</a:t>
            </a:r>
            <a:endParaRPr lang="en-US" sz="800" dirty="0"/>
          </a:p>
        </p:txBody>
      </p:sp>
      <p:sp>
        <p:nvSpPr>
          <p:cNvPr id="212" name="Text 196"/>
          <p:cNvSpPr txBox="1"/>
          <p:nvPr/>
        </p:nvSpPr>
        <p:spPr>
          <a:xfrm>
            <a:off x="3941064" y="1686154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49.5k</a:t>
            </a:r>
            <a:endParaRPr lang="en-US" sz="800" dirty="0"/>
          </a:p>
        </p:txBody>
      </p:sp>
      <p:sp>
        <p:nvSpPr>
          <p:cNvPr id="213" name="Shape 197"/>
          <p:cNvSpPr/>
          <p:nvPr/>
        </p:nvSpPr>
        <p:spPr>
          <a:xfrm>
            <a:off x="4903927" y="1652321"/>
            <a:ext cx="800100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4" name="Shape 198"/>
          <p:cNvSpPr/>
          <p:nvPr/>
        </p:nvSpPr>
        <p:spPr>
          <a:xfrm>
            <a:off x="6186830" y="1652321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5" name="Shape 199"/>
          <p:cNvSpPr/>
          <p:nvPr/>
        </p:nvSpPr>
        <p:spPr>
          <a:xfrm>
            <a:off x="7469734" y="1652321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CC092F">
              <a:alpha val="10000"/>
            </a:srgbClr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16" name="Text 200"/>
          <p:cNvSpPr txBox="1"/>
          <p:nvPr/>
        </p:nvSpPr>
        <p:spPr>
          <a:xfrm>
            <a:off x="733349" y="2014423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217" name="Text 201"/>
          <p:cNvSpPr txBox="1"/>
          <p:nvPr/>
        </p:nvSpPr>
        <p:spPr>
          <a:xfrm>
            <a:off x="1229868" y="2014423"/>
            <a:ext cx="127924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funciona plano</a:t>
            </a:r>
            <a:endParaRPr lang="en-US" sz="800" dirty="0"/>
          </a:p>
        </p:txBody>
      </p:sp>
      <p:sp>
        <p:nvSpPr>
          <p:cNvPr id="218" name="Text 202"/>
          <p:cNvSpPr txBox="1"/>
          <p:nvPr/>
        </p:nvSpPr>
        <p:spPr>
          <a:xfrm>
            <a:off x="3941064" y="203362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22.2k</a:t>
            </a:r>
            <a:endParaRPr lang="en-US" sz="800" dirty="0"/>
          </a:p>
        </p:txBody>
      </p:sp>
      <p:sp>
        <p:nvSpPr>
          <p:cNvPr id="219" name="Shape 203"/>
          <p:cNvSpPr/>
          <p:nvPr/>
        </p:nvSpPr>
        <p:spPr>
          <a:xfrm>
            <a:off x="4903927" y="2000707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0" name="Shape 204"/>
          <p:cNvSpPr/>
          <p:nvPr/>
        </p:nvSpPr>
        <p:spPr>
          <a:xfrm>
            <a:off x="6186830" y="2000707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1" name="Shape 205"/>
          <p:cNvSpPr/>
          <p:nvPr/>
        </p:nvSpPr>
        <p:spPr>
          <a:xfrm>
            <a:off x="7469734" y="2000707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2" name="Text 206"/>
          <p:cNvSpPr txBox="1"/>
          <p:nvPr/>
        </p:nvSpPr>
        <p:spPr>
          <a:xfrm>
            <a:off x="733349" y="2361895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23" name="Text 207"/>
          <p:cNvSpPr txBox="1"/>
          <p:nvPr/>
        </p:nvSpPr>
        <p:spPr>
          <a:xfrm>
            <a:off x="1229868" y="2361895"/>
            <a:ext cx="12124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quanto custa plano</a:t>
            </a:r>
            <a:endParaRPr lang="en-US" sz="800" dirty="0"/>
          </a:p>
        </p:txBody>
      </p:sp>
      <p:sp>
        <p:nvSpPr>
          <p:cNvPr id="224" name="Text 208"/>
          <p:cNvSpPr txBox="1"/>
          <p:nvPr/>
        </p:nvSpPr>
        <p:spPr>
          <a:xfrm>
            <a:off x="3941064" y="2381098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18.1k</a:t>
            </a:r>
            <a:endParaRPr lang="en-US" sz="800" dirty="0"/>
          </a:p>
        </p:txBody>
      </p:sp>
      <p:sp>
        <p:nvSpPr>
          <p:cNvPr id="225" name="Shape 209"/>
          <p:cNvSpPr/>
          <p:nvPr/>
        </p:nvSpPr>
        <p:spPr>
          <a:xfrm>
            <a:off x="4903927" y="2348179"/>
            <a:ext cx="800100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6" name="Shape 210"/>
          <p:cNvSpPr/>
          <p:nvPr/>
        </p:nvSpPr>
        <p:spPr>
          <a:xfrm>
            <a:off x="6186830" y="2348179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CC092F">
              <a:alpha val="10000"/>
            </a:srgbClr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27" name="Shape 211"/>
          <p:cNvSpPr/>
          <p:nvPr/>
        </p:nvSpPr>
        <p:spPr>
          <a:xfrm>
            <a:off x="7469734" y="2348179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8" name="Text 212"/>
          <p:cNvSpPr txBox="1"/>
          <p:nvPr/>
        </p:nvSpPr>
        <p:spPr>
          <a:xfrm>
            <a:off x="733349" y="2710282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29" name="Text 213"/>
          <p:cNvSpPr txBox="1"/>
          <p:nvPr/>
        </p:nvSpPr>
        <p:spPr>
          <a:xfrm>
            <a:off x="1229868" y="2710282"/>
            <a:ext cx="1155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vs convênio</a:t>
            </a:r>
            <a:endParaRPr lang="en-US" sz="800" dirty="0"/>
          </a:p>
        </p:txBody>
      </p:sp>
      <p:sp>
        <p:nvSpPr>
          <p:cNvPr id="230" name="Text 214"/>
          <p:cNvSpPr txBox="1"/>
          <p:nvPr/>
        </p:nvSpPr>
        <p:spPr>
          <a:xfrm>
            <a:off x="3941064" y="2728570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14.8k</a:t>
            </a:r>
            <a:endParaRPr lang="en-US" sz="800" dirty="0"/>
          </a:p>
        </p:txBody>
      </p:sp>
      <p:sp>
        <p:nvSpPr>
          <p:cNvPr id="231" name="Shape 215"/>
          <p:cNvSpPr/>
          <p:nvPr/>
        </p:nvSpPr>
        <p:spPr>
          <a:xfrm>
            <a:off x="4903927" y="2695651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2" name="Shape 216"/>
          <p:cNvSpPr/>
          <p:nvPr/>
        </p:nvSpPr>
        <p:spPr>
          <a:xfrm>
            <a:off x="6186830" y="2695651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3" name="Shape 217"/>
          <p:cNvSpPr/>
          <p:nvPr/>
        </p:nvSpPr>
        <p:spPr>
          <a:xfrm>
            <a:off x="7469734" y="2695651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4" name="Text 218"/>
          <p:cNvSpPr txBox="1"/>
          <p:nvPr/>
        </p:nvSpPr>
        <p:spPr>
          <a:xfrm>
            <a:off x="733349" y="305775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35" name="Text 219"/>
          <p:cNvSpPr txBox="1"/>
          <p:nvPr/>
        </p:nvSpPr>
        <p:spPr>
          <a:xfrm>
            <a:off x="1229868" y="3057754"/>
            <a:ext cx="10314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cobertura plano</a:t>
            </a:r>
            <a:endParaRPr lang="en-US" sz="800" dirty="0"/>
          </a:p>
        </p:txBody>
      </p:sp>
      <p:sp>
        <p:nvSpPr>
          <p:cNvPr id="236" name="Text 220"/>
          <p:cNvSpPr txBox="1"/>
          <p:nvPr/>
        </p:nvSpPr>
        <p:spPr>
          <a:xfrm>
            <a:off x="3941064" y="307695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12.1k</a:t>
            </a:r>
            <a:endParaRPr lang="en-US" sz="800" dirty="0"/>
          </a:p>
        </p:txBody>
      </p:sp>
      <p:sp>
        <p:nvSpPr>
          <p:cNvPr id="237" name="Shape 221"/>
          <p:cNvSpPr/>
          <p:nvPr/>
        </p:nvSpPr>
        <p:spPr>
          <a:xfrm>
            <a:off x="4903927" y="3043123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8" name="Shape 222"/>
          <p:cNvSpPr/>
          <p:nvPr/>
        </p:nvSpPr>
        <p:spPr>
          <a:xfrm>
            <a:off x="6186830" y="3043123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CC092F">
              <a:alpha val="10000"/>
            </a:srgbClr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39" name="Shape 223"/>
          <p:cNvSpPr/>
          <p:nvPr/>
        </p:nvSpPr>
        <p:spPr>
          <a:xfrm>
            <a:off x="7469734" y="3043123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0" name="Text 224"/>
          <p:cNvSpPr txBox="1"/>
          <p:nvPr/>
        </p:nvSpPr>
        <p:spPr>
          <a:xfrm>
            <a:off x="733349" y="3405226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241" name="Text 225"/>
          <p:cNvSpPr txBox="1"/>
          <p:nvPr/>
        </p:nvSpPr>
        <p:spPr>
          <a:xfrm>
            <a:off x="1229868" y="3405226"/>
            <a:ext cx="1155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vale a pena</a:t>
            </a:r>
            <a:endParaRPr lang="en-US" sz="800" dirty="0"/>
          </a:p>
        </p:txBody>
      </p:sp>
      <p:sp>
        <p:nvSpPr>
          <p:cNvPr id="242" name="Text 226"/>
          <p:cNvSpPr txBox="1"/>
          <p:nvPr/>
        </p:nvSpPr>
        <p:spPr>
          <a:xfrm>
            <a:off x="3941064" y="3424428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9.9k</a:t>
            </a:r>
            <a:endParaRPr lang="en-US" sz="800" dirty="0"/>
          </a:p>
        </p:txBody>
      </p:sp>
      <p:sp>
        <p:nvSpPr>
          <p:cNvPr id="243" name="Shape 227"/>
          <p:cNvSpPr/>
          <p:nvPr/>
        </p:nvSpPr>
        <p:spPr>
          <a:xfrm>
            <a:off x="4903927" y="3390595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4" name="Shape 228"/>
          <p:cNvSpPr/>
          <p:nvPr/>
        </p:nvSpPr>
        <p:spPr>
          <a:xfrm>
            <a:off x="6186830" y="3390595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5" name="Shape 229"/>
          <p:cNvSpPr/>
          <p:nvPr/>
        </p:nvSpPr>
        <p:spPr>
          <a:xfrm>
            <a:off x="7469734" y="3390595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6" name="Text 230"/>
          <p:cNvSpPr txBox="1"/>
          <p:nvPr/>
        </p:nvSpPr>
        <p:spPr>
          <a:xfrm>
            <a:off x="733349" y="3752698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247" name="Text 231"/>
          <p:cNvSpPr txBox="1"/>
          <p:nvPr/>
        </p:nvSpPr>
        <p:spPr>
          <a:xfrm>
            <a:off x="1229868" y="3752698"/>
            <a:ext cx="96469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plano</a:t>
            </a:r>
            <a:endParaRPr lang="en-US" sz="800" dirty="0"/>
          </a:p>
        </p:txBody>
      </p:sp>
      <p:sp>
        <p:nvSpPr>
          <p:cNvPr id="248" name="Text 232"/>
          <p:cNvSpPr txBox="1"/>
          <p:nvPr/>
        </p:nvSpPr>
        <p:spPr>
          <a:xfrm>
            <a:off x="3941064" y="3771900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8.1k</a:t>
            </a:r>
            <a:endParaRPr lang="en-US" sz="800" dirty="0"/>
          </a:p>
        </p:txBody>
      </p:sp>
      <p:sp>
        <p:nvSpPr>
          <p:cNvPr id="249" name="Shape 233"/>
          <p:cNvSpPr/>
          <p:nvPr/>
        </p:nvSpPr>
        <p:spPr>
          <a:xfrm>
            <a:off x="4903927" y="3738982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0" name="Shape 234"/>
          <p:cNvSpPr/>
          <p:nvPr/>
        </p:nvSpPr>
        <p:spPr>
          <a:xfrm>
            <a:off x="6186830" y="3738982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1" name="Shape 235"/>
          <p:cNvSpPr/>
          <p:nvPr/>
        </p:nvSpPr>
        <p:spPr>
          <a:xfrm>
            <a:off x="7469734" y="3738982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2" name="Text 236"/>
          <p:cNvSpPr txBox="1"/>
          <p:nvPr/>
        </p:nvSpPr>
        <p:spPr>
          <a:xfrm>
            <a:off x="733349" y="4100170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253" name="Text 237"/>
          <p:cNvSpPr txBox="1"/>
          <p:nvPr/>
        </p:nvSpPr>
        <p:spPr>
          <a:xfrm>
            <a:off x="1229868" y="4100170"/>
            <a:ext cx="96469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carência plano</a:t>
            </a:r>
            <a:endParaRPr lang="en-US" sz="800" dirty="0"/>
          </a:p>
        </p:txBody>
      </p:sp>
      <p:sp>
        <p:nvSpPr>
          <p:cNvPr id="254" name="Text 238"/>
          <p:cNvSpPr txBox="1"/>
          <p:nvPr/>
        </p:nvSpPr>
        <p:spPr>
          <a:xfrm>
            <a:off x="3941064" y="4119372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6.6k</a:t>
            </a:r>
            <a:endParaRPr lang="en-US" sz="800" dirty="0"/>
          </a:p>
        </p:txBody>
      </p:sp>
      <p:sp>
        <p:nvSpPr>
          <p:cNvPr id="255" name="Shape 239"/>
          <p:cNvSpPr/>
          <p:nvPr/>
        </p:nvSpPr>
        <p:spPr>
          <a:xfrm>
            <a:off x="4903927" y="4086454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6" name="Shape 240"/>
          <p:cNvSpPr/>
          <p:nvPr/>
        </p:nvSpPr>
        <p:spPr>
          <a:xfrm>
            <a:off x="6186830" y="4086454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7" name="Shape 241"/>
          <p:cNvSpPr/>
          <p:nvPr/>
        </p:nvSpPr>
        <p:spPr>
          <a:xfrm>
            <a:off x="7469734" y="4086454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CC092F">
              <a:alpha val="10000"/>
            </a:srgbClr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58" name="Text 242"/>
          <p:cNvSpPr txBox="1"/>
          <p:nvPr/>
        </p:nvSpPr>
        <p:spPr>
          <a:xfrm>
            <a:off x="733349" y="4448556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  <p:sp>
        <p:nvSpPr>
          <p:cNvPr id="259" name="Text 243"/>
          <p:cNvSpPr txBox="1"/>
          <p:nvPr/>
        </p:nvSpPr>
        <p:spPr>
          <a:xfrm>
            <a:off x="1229868" y="4448556"/>
            <a:ext cx="8979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reajuste 2025</a:t>
            </a:r>
            <a:endParaRPr lang="en-US" sz="800" dirty="0"/>
          </a:p>
        </p:txBody>
      </p:sp>
      <p:sp>
        <p:nvSpPr>
          <p:cNvPr id="260" name="Text 244"/>
          <p:cNvSpPr txBox="1"/>
          <p:nvPr/>
        </p:nvSpPr>
        <p:spPr>
          <a:xfrm>
            <a:off x="3941064" y="4466844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5.4k</a:t>
            </a:r>
            <a:endParaRPr lang="en-US" sz="800" dirty="0"/>
          </a:p>
        </p:txBody>
      </p:sp>
      <p:sp>
        <p:nvSpPr>
          <p:cNvPr id="261" name="Shape 245"/>
          <p:cNvSpPr/>
          <p:nvPr/>
        </p:nvSpPr>
        <p:spPr>
          <a:xfrm>
            <a:off x="4903927" y="4433926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CE7F3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2" name="Shape 246"/>
          <p:cNvSpPr/>
          <p:nvPr/>
        </p:nvSpPr>
        <p:spPr>
          <a:xfrm>
            <a:off x="6186830" y="4433926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3" name="Shape 247"/>
          <p:cNvSpPr/>
          <p:nvPr/>
        </p:nvSpPr>
        <p:spPr>
          <a:xfrm>
            <a:off x="7469734" y="4433926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CC092F">
              <a:alpha val="10000"/>
            </a:srgbClr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64" name="Text 248"/>
          <p:cNvSpPr txBox="1"/>
          <p:nvPr/>
        </p:nvSpPr>
        <p:spPr>
          <a:xfrm>
            <a:off x="733349" y="4796028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265" name="Text 249"/>
          <p:cNvSpPr txBox="1"/>
          <p:nvPr/>
        </p:nvSpPr>
        <p:spPr>
          <a:xfrm>
            <a:off x="1229868" y="4796028"/>
            <a:ext cx="12124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planos ANS</a:t>
            </a:r>
            <a:endParaRPr lang="en-US" sz="800" dirty="0"/>
          </a:p>
        </p:txBody>
      </p:sp>
      <p:sp>
        <p:nvSpPr>
          <p:cNvPr id="266" name="Text 250"/>
          <p:cNvSpPr txBox="1"/>
          <p:nvPr/>
        </p:nvSpPr>
        <p:spPr>
          <a:xfrm>
            <a:off x="3941064" y="4815230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4.4k</a:t>
            </a:r>
            <a:endParaRPr lang="en-US" sz="800" dirty="0"/>
          </a:p>
        </p:txBody>
      </p:sp>
      <p:sp>
        <p:nvSpPr>
          <p:cNvPr id="267" name="Shape 251"/>
          <p:cNvSpPr/>
          <p:nvPr/>
        </p:nvSpPr>
        <p:spPr>
          <a:xfrm>
            <a:off x="4903927" y="4781398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8" name="Shape 252"/>
          <p:cNvSpPr/>
          <p:nvPr/>
        </p:nvSpPr>
        <p:spPr>
          <a:xfrm>
            <a:off x="6186830" y="4781398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9" name="Shape 253"/>
          <p:cNvSpPr/>
          <p:nvPr/>
        </p:nvSpPr>
        <p:spPr>
          <a:xfrm>
            <a:off x="7469734" y="4781398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38951"/>
            <a:ext cx="11048695" cy="9144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2571" r="-2571" t="0" b="0"/>
          <a:stretch/>
        </p:blipFill>
        <p:spPr>
          <a:xfrm>
            <a:off x="571500" y="6429146"/>
            <a:ext cx="105156" cy="114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2551" y="6400800"/>
            <a:ext cx="2971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</a:t>
            </a:r>
            <a:pPr algn="l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SEMrush Organic Research (Dez/2025).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310982" y="6400800"/>
            <a:ext cx="3314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</a:t>
            </a:r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Keywords de intenção navegacional (Marca).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314554"/>
            <a:ext cx="43626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KEYWORDS NAVEGACIONAIS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0642702" y="485546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TOTAL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299802" y="647395"/>
            <a:ext cx="9098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1.07M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1773" r="-1773" t="0" b="0"/>
          <a:stretch/>
        </p:blipFill>
        <p:spPr>
          <a:xfrm>
            <a:off x="571500" y="809244"/>
            <a:ext cx="200254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7649" y="761695"/>
            <a:ext cx="24908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374151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10 Termos de Marca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080699" y="8001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4088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71500" y="1181405"/>
            <a:ext cx="8058607" cy="5057546"/>
          </a:xfrm>
          <a:prstGeom prst="roundRect">
            <a:avLst>
              <a:gd name="adj" fmla="val 40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9049" y="1542593"/>
            <a:ext cx="4005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016813" y="1542593"/>
            <a:ext cx="2790749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3803904" y="1542593"/>
            <a:ext cx="12006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999025" y="1542593"/>
            <a:ext cx="12006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6193231" y="1542593"/>
            <a:ext cx="12006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7387438" y="1542593"/>
            <a:ext cx="12006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619049" y="1595628"/>
            <a:ext cx="400507" cy="333756"/>
          </a:xfrm>
          <a:prstGeom prst="roundRect">
            <a:avLst>
              <a:gd name="adj" fmla="val 4696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16813" y="1595628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131113" y="1676095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803904" y="15956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999025" y="15956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93231" y="15956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21831" y="1690726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387438" y="15956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616038" y="1690726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619049" y="1966874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016813" y="1966874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131113" y="2048256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boleto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803904" y="19668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999025" y="19668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93231" y="19668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421831" y="2061972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7387438" y="19668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616038" y="2061972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19049" y="2338121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16813" y="2338121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31113" y="2419502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marcar consulta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803904" y="23381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999025" y="23381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193231" y="23381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421831" y="2433218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7387438" y="23381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616038" y="2433218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619049" y="2710282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016813" y="2710282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131113" y="2790749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consulta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3803904" y="27102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999025" y="27102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193231" y="27102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421831" y="2805379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7387438" y="27102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616038" y="2805379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619049" y="3081528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016813" y="3081528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1131113" y="3161995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exames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3803904" y="30815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4999025" y="30815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6193231" y="30815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6421831" y="3176626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63" name="Shape 59"/>
          <p:cNvSpPr/>
          <p:nvPr/>
        </p:nvSpPr>
        <p:spPr>
          <a:xfrm>
            <a:off x="7387438" y="30815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7616038" y="3176626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19049" y="3452774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016813" y="3452774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1131113" y="3534156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login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3803904" y="34527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999025" y="34527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193231" y="34527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6421831" y="3547872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7387438" y="34527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7616038" y="3547872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74" name="Shape 70"/>
          <p:cNvSpPr/>
          <p:nvPr/>
        </p:nvSpPr>
        <p:spPr>
          <a:xfrm>
            <a:off x="619049" y="3824021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016813" y="3824021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1131113" y="3905402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telefone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3803904" y="38240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999025" y="38240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6193231" y="38240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6421831" y="3919118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81" name="Shape 77"/>
          <p:cNvSpPr/>
          <p:nvPr/>
        </p:nvSpPr>
        <p:spPr>
          <a:xfrm>
            <a:off x="7387438" y="3824021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7616038" y="3919118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83" name="Shape 79"/>
          <p:cNvSpPr/>
          <p:nvPr/>
        </p:nvSpPr>
        <p:spPr>
          <a:xfrm>
            <a:off x="619049" y="4196182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1016813" y="4196182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1131113" y="4276649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planos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3803904" y="41961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4999025" y="41961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193231" y="41961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6421831" y="4291279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90" name="Shape 86"/>
          <p:cNvSpPr/>
          <p:nvPr/>
        </p:nvSpPr>
        <p:spPr>
          <a:xfrm>
            <a:off x="7387438" y="4196182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7616038" y="4291279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92" name="Shape 88"/>
          <p:cNvSpPr/>
          <p:nvPr/>
        </p:nvSpPr>
        <p:spPr>
          <a:xfrm>
            <a:off x="619049" y="4567428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1016813" y="4567428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1131113" y="4647895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valores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3803904" y="45674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4999025" y="45674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193231" y="45674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7387438" y="4567428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7616038" y="4662526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100" name="Shape 96"/>
          <p:cNvSpPr/>
          <p:nvPr/>
        </p:nvSpPr>
        <p:spPr>
          <a:xfrm>
            <a:off x="619049" y="4938674"/>
            <a:ext cx="4005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016813" y="4938674"/>
            <a:ext cx="2790749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2" name="Text 98"/>
          <p:cNvSpPr txBox="1"/>
          <p:nvPr/>
        </p:nvSpPr>
        <p:spPr>
          <a:xfrm>
            <a:off x="1131113" y="5020056"/>
            <a:ext cx="2648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 rede credenciada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3803904" y="49386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4999025" y="49386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6193231" y="49386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6" name="Text 102"/>
          <p:cNvSpPr txBox="1"/>
          <p:nvPr/>
        </p:nvSpPr>
        <p:spPr>
          <a:xfrm>
            <a:off x="6421831" y="5033772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107" name="Shape 103"/>
          <p:cNvSpPr/>
          <p:nvPr/>
        </p:nvSpPr>
        <p:spPr>
          <a:xfrm>
            <a:off x="7387438" y="4938674"/>
            <a:ext cx="1200607" cy="333756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7616038" y="5033772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800" dirty="0"/>
          </a:p>
        </p:txBody>
      </p:sp>
      <p:sp>
        <p:nvSpPr>
          <p:cNvPr id="109" name="Text 105"/>
          <p:cNvSpPr txBox="1"/>
          <p:nvPr/>
        </p:nvSpPr>
        <p:spPr>
          <a:xfrm>
            <a:off x="733349" y="1324051"/>
            <a:ext cx="1554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00" dirty="0"/>
          </a:p>
        </p:txBody>
      </p:sp>
      <p:sp>
        <p:nvSpPr>
          <p:cNvPr id="110" name="Text 106"/>
          <p:cNvSpPr txBox="1"/>
          <p:nvPr/>
        </p:nvSpPr>
        <p:spPr>
          <a:xfrm>
            <a:off x="1131113" y="1324051"/>
            <a:ext cx="5650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</a:t>
            </a:r>
            <a:endParaRPr lang="en-US" sz="800" dirty="0"/>
          </a:p>
        </p:txBody>
      </p:sp>
      <p:sp>
        <p:nvSpPr>
          <p:cNvPr id="111" name="Text 107"/>
          <p:cNvSpPr txBox="1"/>
          <p:nvPr/>
        </p:nvSpPr>
        <p:spPr>
          <a:xfrm>
            <a:off x="3918204" y="1324051"/>
            <a:ext cx="488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800" dirty="0"/>
          </a:p>
        </p:txBody>
      </p:sp>
      <p:sp>
        <p:nvSpPr>
          <p:cNvPr id="112" name="Text 108"/>
          <p:cNvSpPr txBox="1"/>
          <p:nvPr/>
        </p:nvSpPr>
        <p:spPr>
          <a:xfrm>
            <a:off x="5113325" y="1324051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1ª POSIÇÃO</a:t>
            </a:r>
            <a:endParaRPr lang="en-US" sz="800" dirty="0"/>
          </a:p>
        </p:txBody>
      </p:sp>
      <p:sp>
        <p:nvSpPr>
          <p:cNvPr id="113" name="Text 109"/>
          <p:cNvSpPr txBox="1"/>
          <p:nvPr/>
        </p:nvSpPr>
        <p:spPr>
          <a:xfrm>
            <a:off x="6307531" y="1324051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2ª POSIÇÃO</a:t>
            </a:r>
            <a:endParaRPr lang="en-US" sz="800" dirty="0"/>
          </a:p>
        </p:txBody>
      </p:sp>
      <p:sp>
        <p:nvSpPr>
          <p:cNvPr id="114" name="Text 110"/>
          <p:cNvSpPr txBox="1"/>
          <p:nvPr/>
        </p:nvSpPr>
        <p:spPr>
          <a:xfrm>
            <a:off x="7501738" y="1324051"/>
            <a:ext cx="7644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41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3ª POSIÇÃO</a:t>
            </a:r>
            <a:endParaRPr lang="en-US" sz="800" dirty="0"/>
          </a:p>
        </p:txBody>
      </p:sp>
      <p:sp>
        <p:nvSpPr>
          <p:cNvPr id="115" name="Text 111"/>
          <p:cNvSpPr txBox="1"/>
          <p:nvPr/>
        </p:nvSpPr>
        <p:spPr>
          <a:xfrm>
            <a:off x="733349" y="168615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16" name="Text 112"/>
          <p:cNvSpPr txBox="1"/>
          <p:nvPr/>
        </p:nvSpPr>
        <p:spPr>
          <a:xfrm>
            <a:off x="3918204" y="1695298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673.0k</a:t>
            </a:r>
            <a:endParaRPr lang="en-US" sz="900" dirty="0"/>
          </a:p>
        </p:txBody>
      </p:sp>
      <p:sp>
        <p:nvSpPr>
          <p:cNvPr id="117" name="Text 113"/>
          <p:cNvSpPr txBox="1"/>
          <p:nvPr/>
        </p:nvSpPr>
        <p:spPr>
          <a:xfrm>
            <a:off x="5113325" y="16861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18" name="Shape 114"/>
          <p:cNvSpPr/>
          <p:nvPr/>
        </p:nvSpPr>
        <p:spPr>
          <a:xfrm>
            <a:off x="6307531" y="1662379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7501738" y="1662379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733349" y="2057400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21" name="Text 117"/>
          <p:cNvSpPr txBox="1"/>
          <p:nvPr/>
        </p:nvSpPr>
        <p:spPr>
          <a:xfrm>
            <a:off x="3918204" y="2066544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74.0k</a:t>
            </a:r>
            <a:endParaRPr lang="en-US" sz="900" dirty="0"/>
          </a:p>
        </p:txBody>
      </p:sp>
      <p:sp>
        <p:nvSpPr>
          <p:cNvPr id="122" name="Text 118"/>
          <p:cNvSpPr txBox="1"/>
          <p:nvPr/>
        </p:nvSpPr>
        <p:spPr>
          <a:xfrm>
            <a:off x="5113325" y="20574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23" name="Shape 119"/>
          <p:cNvSpPr/>
          <p:nvPr/>
        </p:nvSpPr>
        <p:spPr>
          <a:xfrm>
            <a:off x="6307531" y="2033626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7501738" y="2033626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5" name="Text 121"/>
          <p:cNvSpPr txBox="1"/>
          <p:nvPr/>
        </p:nvSpPr>
        <p:spPr>
          <a:xfrm>
            <a:off x="733349" y="2428646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26" name="Text 122"/>
          <p:cNvSpPr txBox="1"/>
          <p:nvPr/>
        </p:nvSpPr>
        <p:spPr>
          <a:xfrm>
            <a:off x="3918204" y="2438705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74.0k</a:t>
            </a:r>
            <a:endParaRPr lang="en-US" sz="900" dirty="0"/>
          </a:p>
        </p:txBody>
      </p:sp>
      <p:sp>
        <p:nvSpPr>
          <p:cNvPr id="127" name="Text 123"/>
          <p:cNvSpPr txBox="1"/>
          <p:nvPr/>
        </p:nvSpPr>
        <p:spPr>
          <a:xfrm>
            <a:off x="5113325" y="242864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28" name="Shape 124"/>
          <p:cNvSpPr/>
          <p:nvPr/>
        </p:nvSpPr>
        <p:spPr>
          <a:xfrm>
            <a:off x="6307531" y="2404872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501738" y="2404872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0" name="Text 126"/>
          <p:cNvSpPr txBox="1"/>
          <p:nvPr/>
        </p:nvSpPr>
        <p:spPr>
          <a:xfrm>
            <a:off x="733349" y="2800807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31" name="Text 127"/>
          <p:cNvSpPr txBox="1"/>
          <p:nvPr/>
        </p:nvSpPr>
        <p:spPr>
          <a:xfrm>
            <a:off x="3918204" y="2809951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60.5k</a:t>
            </a:r>
            <a:endParaRPr lang="en-US" sz="900" dirty="0"/>
          </a:p>
        </p:txBody>
      </p:sp>
      <p:sp>
        <p:nvSpPr>
          <p:cNvPr id="132" name="Text 128"/>
          <p:cNvSpPr txBox="1"/>
          <p:nvPr/>
        </p:nvSpPr>
        <p:spPr>
          <a:xfrm>
            <a:off x="5113325" y="2800807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6307531" y="2776118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7501738" y="2776118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5" name="Text 131"/>
          <p:cNvSpPr txBox="1"/>
          <p:nvPr/>
        </p:nvSpPr>
        <p:spPr>
          <a:xfrm>
            <a:off x="733349" y="317205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136" name="Text 132"/>
          <p:cNvSpPr txBox="1"/>
          <p:nvPr/>
        </p:nvSpPr>
        <p:spPr>
          <a:xfrm>
            <a:off x="3918204" y="3181198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49.5k</a:t>
            </a:r>
            <a:endParaRPr lang="en-US" sz="900" dirty="0"/>
          </a:p>
        </p:txBody>
      </p:sp>
      <p:sp>
        <p:nvSpPr>
          <p:cNvPr id="137" name="Text 133"/>
          <p:cNvSpPr txBox="1"/>
          <p:nvPr/>
        </p:nvSpPr>
        <p:spPr>
          <a:xfrm>
            <a:off x="5113325" y="31720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38" name="Shape 134"/>
          <p:cNvSpPr/>
          <p:nvPr/>
        </p:nvSpPr>
        <p:spPr>
          <a:xfrm>
            <a:off x="6307531" y="3148279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501738" y="3148279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0" name="Text 136"/>
          <p:cNvSpPr txBox="1"/>
          <p:nvPr/>
        </p:nvSpPr>
        <p:spPr>
          <a:xfrm>
            <a:off x="733349" y="3543300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141" name="Text 137"/>
          <p:cNvSpPr txBox="1"/>
          <p:nvPr/>
        </p:nvSpPr>
        <p:spPr>
          <a:xfrm>
            <a:off x="3918204" y="3552444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40.5k</a:t>
            </a:r>
            <a:endParaRPr lang="en-US" sz="900" dirty="0"/>
          </a:p>
        </p:txBody>
      </p:sp>
      <p:sp>
        <p:nvSpPr>
          <p:cNvPr id="142" name="Text 138"/>
          <p:cNvSpPr txBox="1"/>
          <p:nvPr/>
        </p:nvSpPr>
        <p:spPr>
          <a:xfrm>
            <a:off x="5113325" y="35433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43" name="Shape 139"/>
          <p:cNvSpPr/>
          <p:nvPr/>
        </p:nvSpPr>
        <p:spPr>
          <a:xfrm>
            <a:off x="6307531" y="3519526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7501738" y="3519526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5" name="Text 141"/>
          <p:cNvSpPr txBox="1"/>
          <p:nvPr/>
        </p:nvSpPr>
        <p:spPr>
          <a:xfrm>
            <a:off x="733349" y="3914546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146" name="Text 142"/>
          <p:cNvSpPr txBox="1"/>
          <p:nvPr/>
        </p:nvSpPr>
        <p:spPr>
          <a:xfrm>
            <a:off x="3918204" y="3924605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33.1k</a:t>
            </a:r>
            <a:endParaRPr lang="en-US" sz="900" dirty="0"/>
          </a:p>
        </p:txBody>
      </p:sp>
      <p:sp>
        <p:nvSpPr>
          <p:cNvPr id="147" name="Text 143"/>
          <p:cNvSpPr txBox="1"/>
          <p:nvPr/>
        </p:nvSpPr>
        <p:spPr>
          <a:xfrm>
            <a:off x="5113325" y="391454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48" name="Shape 144"/>
          <p:cNvSpPr/>
          <p:nvPr/>
        </p:nvSpPr>
        <p:spPr>
          <a:xfrm>
            <a:off x="6307531" y="3890772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501738" y="3890772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0" name="Text 146"/>
          <p:cNvSpPr txBox="1"/>
          <p:nvPr/>
        </p:nvSpPr>
        <p:spPr>
          <a:xfrm>
            <a:off x="733349" y="4286707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151" name="Text 147"/>
          <p:cNvSpPr txBox="1"/>
          <p:nvPr/>
        </p:nvSpPr>
        <p:spPr>
          <a:xfrm>
            <a:off x="3918204" y="4295851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27.1k</a:t>
            </a:r>
            <a:endParaRPr lang="en-US" sz="900" dirty="0"/>
          </a:p>
        </p:txBody>
      </p:sp>
      <p:sp>
        <p:nvSpPr>
          <p:cNvPr id="152" name="Text 148"/>
          <p:cNvSpPr txBox="1"/>
          <p:nvPr/>
        </p:nvSpPr>
        <p:spPr>
          <a:xfrm>
            <a:off x="5113325" y="4286707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53" name="Shape 149"/>
          <p:cNvSpPr/>
          <p:nvPr/>
        </p:nvSpPr>
        <p:spPr>
          <a:xfrm>
            <a:off x="6307531" y="4262018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7501738" y="4262018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5" name="Text 151"/>
          <p:cNvSpPr txBox="1"/>
          <p:nvPr/>
        </p:nvSpPr>
        <p:spPr>
          <a:xfrm>
            <a:off x="733349" y="465795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156" name="Text 152"/>
          <p:cNvSpPr txBox="1"/>
          <p:nvPr/>
        </p:nvSpPr>
        <p:spPr>
          <a:xfrm>
            <a:off x="3918204" y="4667098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22.2k</a:t>
            </a:r>
            <a:endParaRPr lang="en-US" sz="900" dirty="0"/>
          </a:p>
        </p:txBody>
      </p:sp>
      <p:sp>
        <p:nvSpPr>
          <p:cNvPr id="157" name="Text 153"/>
          <p:cNvSpPr txBox="1"/>
          <p:nvPr/>
        </p:nvSpPr>
        <p:spPr>
          <a:xfrm>
            <a:off x="5113325" y="46579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58" name="Text 154"/>
          <p:cNvSpPr txBox="1"/>
          <p:nvPr/>
        </p:nvSpPr>
        <p:spPr>
          <a:xfrm>
            <a:off x="6307531" y="4657954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900" dirty="0"/>
          </a:p>
        </p:txBody>
      </p:sp>
      <p:sp>
        <p:nvSpPr>
          <p:cNvPr id="159" name="Shape 155"/>
          <p:cNvSpPr/>
          <p:nvPr/>
        </p:nvSpPr>
        <p:spPr>
          <a:xfrm>
            <a:off x="7501738" y="4634179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0" name="Text 156"/>
          <p:cNvSpPr txBox="1"/>
          <p:nvPr/>
        </p:nvSpPr>
        <p:spPr>
          <a:xfrm>
            <a:off x="733349" y="5029200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161" name="Text 157"/>
          <p:cNvSpPr txBox="1"/>
          <p:nvPr/>
        </p:nvSpPr>
        <p:spPr>
          <a:xfrm>
            <a:off x="3918204" y="5038344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18.1k</a:t>
            </a:r>
            <a:endParaRPr lang="en-US" sz="900" dirty="0"/>
          </a:p>
        </p:txBody>
      </p:sp>
      <p:sp>
        <p:nvSpPr>
          <p:cNvPr id="162" name="Text 158"/>
          <p:cNvSpPr txBox="1"/>
          <p:nvPr/>
        </p:nvSpPr>
        <p:spPr>
          <a:xfrm>
            <a:off x="5113325" y="50292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Hapvida</a:t>
            </a:r>
            <a:endParaRPr lang="en-US" sz="900" dirty="0"/>
          </a:p>
        </p:txBody>
      </p:sp>
      <p:sp>
        <p:nvSpPr>
          <p:cNvPr id="163" name="Shape 159"/>
          <p:cNvSpPr/>
          <p:nvPr/>
        </p:nvSpPr>
        <p:spPr>
          <a:xfrm>
            <a:off x="6307531" y="5005426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7501738" y="5005426"/>
            <a:ext cx="286207" cy="200254"/>
          </a:xfrm>
          <a:prstGeom prst="roundRect">
            <a:avLst>
              <a:gd name="adj" fmla="val 86975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8858707" y="1181405"/>
            <a:ext cx="2762402" cy="1057046"/>
          </a:xfrm>
          <a:prstGeom prst="roundRect">
            <a:avLst>
              <a:gd name="adj" fmla="val 6235"/>
            </a:avLst>
          </a:prstGeom>
          <a:solidFill>
            <a:srgbClr val="F9FAFB"/>
          </a:solidFill>
          <a:ln w="12700">
            <a:solidFill>
              <a:srgbClr val="224088">
                <a:alpha val="15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66" name="Text 162"/>
          <p:cNvSpPr txBox="1"/>
          <p:nvPr/>
        </p:nvSpPr>
        <p:spPr>
          <a:xfrm>
            <a:off x="9020556" y="1343254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Dominância Top 3</a:t>
            </a:r>
            <a:endParaRPr lang="en-US" sz="1200" dirty="0"/>
          </a:p>
        </p:txBody>
      </p:sp>
      <p:sp>
        <p:nvSpPr>
          <p:cNvPr id="167" name="Text 163"/>
          <p:cNvSpPr txBox="1"/>
          <p:nvPr/>
        </p:nvSpPr>
        <p:spPr>
          <a:xfrm>
            <a:off x="9020556" y="1609344"/>
            <a:ext cx="2610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100%</a:t>
            </a:r>
            <a:endParaRPr lang="en-US" sz="2100" dirty="0"/>
          </a:p>
        </p:txBody>
      </p:sp>
      <p:sp>
        <p:nvSpPr>
          <p:cNvPr id="168" name="Text 164"/>
          <p:cNvSpPr txBox="1"/>
          <p:nvPr/>
        </p:nvSpPr>
        <p:spPr>
          <a:xfrm>
            <a:off x="9020556" y="1914754"/>
            <a:ext cx="2496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Blindagem total em buscas de marca.</a:t>
            </a:r>
            <a:endParaRPr lang="en-US" sz="900" dirty="0"/>
          </a:p>
        </p:txBody>
      </p:sp>
      <p:sp>
        <p:nvSpPr>
          <p:cNvPr id="169" name="Shape 165"/>
          <p:cNvSpPr/>
          <p:nvPr/>
        </p:nvSpPr>
        <p:spPr>
          <a:xfrm>
            <a:off x="8858707" y="2462479"/>
            <a:ext cx="2762402" cy="2257654"/>
          </a:xfrm>
          <a:prstGeom prst="roundRect">
            <a:avLst>
              <a:gd name="adj" fmla="val 1367"/>
            </a:avLst>
          </a:prstGeom>
          <a:solidFill>
            <a:srgbClr val="F9FAFB"/>
          </a:solidFill>
          <a:ln w="12700">
            <a:solidFill>
              <a:srgbClr val="224088">
                <a:alpha val="15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70" name="Text 166"/>
          <p:cNvSpPr txBox="1"/>
          <p:nvPr/>
        </p:nvSpPr>
        <p:spPr>
          <a:xfrm>
            <a:off x="8962949" y="2764231"/>
            <a:ext cx="2553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Defesa vs Ataque</a:t>
            </a:r>
            <a:endParaRPr lang="en-US" sz="1200" dirty="0"/>
          </a:p>
        </p:txBody>
      </p:sp>
      <p:pic>
        <p:nvPicPr>
          <p:cNvPr id="17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" b="-10"/>
          <a:stretch/>
        </p:blipFill>
        <p:spPr>
          <a:xfrm>
            <a:off x="9020556" y="3069641"/>
            <a:ext cx="2438705" cy="952805"/>
          </a:xfrm>
          <a:prstGeom prst="rect">
            <a:avLst/>
          </a:prstGeom>
        </p:spPr>
      </p:pic>
      <p:sp>
        <p:nvSpPr>
          <p:cNvPr id="172" name="Text 167"/>
          <p:cNvSpPr txBox="1"/>
          <p:nvPr/>
        </p:nvSpPr>
        <p:spPr>
          <a:xfrm>
            <a:off x="9373514" y="4098341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47% do tráfego</a:t>
            </a:r>
            <a:endParaRPr lang="en-US" sz="900" dirty="0"/>
          </a:p>
        </p:txBody>
      </p:sp>
      <p:sp>
        <p:nvSpPr>
          <p:cNvPr id="173" name="Text 168"/>
          <p:cNvSpPr txBox="1"/>
          <p:nvPr/>
        </p:nvSpPr>
        <p:spPr>
          <a:xfrm>
            <a:off x="9784994" y="4098341"/>
            <a:ext cx="13240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 retenção (defensivo).</a:t>
            </a:r>
            <a:endParaRPr lang="en-US" sz="900" dirty="0"/>
          </a:p>
        </p:txBody>
      </p:sp>
      <p:sp>
        <p:nvSpPr>
          <p:cNvPr id="174" name="Shape 169"/>
          <p:cNvSpPr/>
          <p:nvPr/>
        </p:nvSpPr>
        <p:spPr>
          <a:xfrm>
            <a:off x="8858707" y="4943246"/>
            <a:ext cx="2762402" cy="1181405"/>
          </a:xfrm>
          <a:prstGeom prst="roundRect">
            <a:avLst>
              <a:gd name="adj" fmla="val 4994"/>
            </a:avLst>
          </a:prstGeom>
          <a:solidFill>
            <a:srgbClr val="F9FAFB"/>
          </a:solidFill>
          <a:ln w="12700">
            <a:solidFill>
              <a:srgbClr val="224088">
                <a:alpha val="15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pic>
        <p:nvPicPr>
          <p:cNvPr id="175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9020556" y="5131613"/>
            <a:ext cx="105156" cy="133502"/>
          </a:xfrm>
          <a:prstGeom prst="rect">
            <a:avLst/>
          </a:prstGeom>
        </p:spPr>
      </p:pic>
      <p:sp>
        <p:nvSpPr>
          <p:cNvPr id="176" name="Text 170"/>
          <p:cNvSpPr txBox="1"/>
          <p:nvPr/>
        </p:nvSpPr>
        <p:spPr>
          <a:xfrm>
            <a:off x="9201607" y="5105095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Crítico</a:t>
            </a:r>
            <a:endParaRPr lang="en-US" sz="1000" dirty="0"/>
          </a:p>
        </p:txBody>
      </p:sp>
      <p:sp>
        <p:nvSpPr>
          <p:cNvPr id="177" name="Text 171"/>
          <p:cNvSpPr txBox="1"/>
          <p:nvPr/>
        </p:nvSpPr>
        <p:spPr>
          <a:xfrm>
            <a:off x="9020556" y="5333695"/>
            <a:ext cx="25246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Excelente branding, mas baixo potencial de novos clientes líquidos sem keywords genéricas. Tráfego de manutenção.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86500"/>
            <a:ext cx="11048695" cy="9144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-1750" b="-1750"/>
          <a:stretch/>
        </p:blipFill>
        <p:spPr>
          <a:xfrm>
            <a:off x="571500" y="6486754"/>
            <a:ext cx="114300" cy="1051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6460236"/>
            <a:ext cx="42318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Análise de Esforço x Retorno baseada em funil de conversão.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779362" y="6460236"/>
            <a:ext cx="4927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Esforço calculado via complexidade de jornada e touchpoints necessários.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333756"/>
            <a:ext cx="45436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ANÁLISE DE ROAS &amp; ESFORÇO</a:t>
            </a:r>
            <a:endParaRPr lang="en-US" sz="2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1064" r="-1064" t="0" b="0"/>
          <a:stretch/>
        </p:blipFill>
        <p:spPr>
          <a:xfrm>
            <a:off x="571500" y="828446"/>
            <a:ext cx="219456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6851" y="780898"/>
            <a:ext cx="34536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 de Decisão por Categoria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" y="1200607"/>
            <a:ext cx="3562502" cy="5009998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1500" y="1200607"/>
            <a:ext cx="47549" cy="5009998"/>
          </a:xfrm>
          <a:prstGeom prst="rect">
            <a:avLst/>
          </a:prstGeom>
          <a:solidFill>
            <a:srgbClr val="F57325"/>
          </a:solidFill>
          <a:ln/>
        </p:spPr>
      </p:sp>
      <p:sp>
        <p:nvSpPr>
          <p:cNvPr id="12" name="Shape 8"/>
          <p:cNvSpPr/>
          <p:nvPr/>
        </p:nvSpPr>
        <p:spPr>
          <a:xfrm>
            <a:off x="619049" y="2334463"/>
            <a:ext cx="35149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771754" y="13331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837" r="-837" t="0" b="0"/>
          <a:stretch/>
        </p:blipFill>
        <p:spPr>
          <a:xfrm>
            <a:off x="847649" y="1419149"/>
            <a:ext cx="152705" cy="13350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46704" y="1383487"/>
            <a:ext cx="629107" cy="209398"/>
          </a:xfrm>
          <a:prstGeom prst="roundRect">
            <a:avLst>
              <a:gd name="adj" fmla="val 7939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3413455" y="1442923"/>
            <a:ext cx="66751" cy="859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517697" y="1421892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CRÍTICO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771754" y="1695298"/>
            <a:ext cx="11960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Transacionais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71754" y="1966874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Sweet Spot • Quick Wins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71754" y="2471623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75588" y="2514600"/>
            <a:ext cx="152705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08176" y="2486254"/>
            <a:ext cx="486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ROAS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323137" y="2734056"/>
            <a:ext cx="462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5-8x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411273" y="2471623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2980030" y="2514600"/>
            <a:ext cx="114300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075127" y="2486254"/>
            <a:ext cx="391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CVR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2939796" y="2734056"/>
            <a:ext cx="5102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2.0%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71754" y="3071470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901598" y="3136392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ESFORÇO CONV.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1367028" y="3374136"/>
            <a:ext cx="381305" cy="171907"/>
          </a:xfrm>
          <a:prstGeom prst="roundRect">
            <a:avLst>
              <a:gd name="adj" fmla="val 118203"/>
            </a:avLst>
          </a:prstGeom>
          <a:solidFill>
            <a:srgbClr val="D1FAE5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1386230" y="3402482"/>
            <a:ext cx="3429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BAIXO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2411273" y="3071470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2586838" y="3136392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COMPLEXIDADE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3007462" y="3374136"/>
            <a:ext cx="381305" cy="171907"/>
          </a:xfrm>
          <a:prstGeom prst="roundRect">
            <a:avLst>
              <a:gd name="adj" fmla="val 118203"/>
            </a:avLst>
          </a:prstGeom>
          <a:solidFill>
            <a:srgbClr val="D1FAE5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3026664" y="3402482"/>
            <a:ext cx="3429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</a:t>
            </a:r>
            <a:endParaRPr lang="en-US" sz="800" dirty="0"/>
          </a:p>
        </p:txBody>
      </p:sp>
      <p:sp>
        <p:nvSpPr>
          <p:cNvPr id="36" name="Text 28"/>
          <p:cNvSpPr txBox="1"/>
          <p:nvPr/>
        </p:nvSpPr>
        <p:spPr>
          <a:xfrm>
            <a:off x="809244" y="3700577"/>
            <a:ext cx="1038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Necessária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2634386" y="3700577"/>
            <a:ext cx="11247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1-5 Touchpoints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09244" y="4186123"/>
            <a:ext cx="3133649" cy="38405"/>
          </a:xfrm>
          <a:prstGeom prst="roundRect">
            <a:avLst>
              <a:gd name="adj" fmla="val 1190470"/>
            </a:avLst>
          </a:prstGeom>
          <a:solidFill>
            <a:srgbClr val="E5E7EB"/>
          </a:solidFill>
          <a:ln/>
        </p:spPr>
      </p:sp>
      <p:sp>
        <p:nvSpPr>
          <p:cNvPr id="39" name="Shape 31"/>
          <p:cNvSpPr/>
          <p:nvPr/>
        </p:nvSpPr>
        <p:spPr>
          <a:xfrm>
            <a:off x="771754" y="4319626"/>
            <a:ext cx="3209544" cy="65745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Shape 32"/>
          <p:cNvSpPr/>
          <p:nvPr/>
        </p:nvSpPr>
        <p:spPr>
          <a:xfrm>
            <a:off x="771754" y="4319626"/>
            <a:ext cx="28346" cy="657454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895198" y="4414723"/>
            <a:ext cx="30696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de Conversão</a:t>
            </a:r>
            <a:endParaRPr lang="en-US" sz="800" dirty="0"/>
          </a:p>
        </p:txBody>
      </p:sp>
      <p:sp>
        <p:nvSpPr>
          <p:cNvPr id="42" name="Text 34"/>
          <p:cNvSpPr txBox="1"/>
          <p:nvPr/>
        </p:nvSpPr>
        <p:spPr>
          <a:xfrm>
            <a:off x="895198" y="4593946"/>
            <a:ext cx="306964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Usuários prontos para comprar. Hapvida ausente em 80%. Maior retorno com menor esforço.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771754" y="5305349"/>
            <a:ext cx="3209544" cy="771754"/>
          </a:xfrm>
          <a:prstGeom prst="roundRect">
            <a:avLst>
              <a:gd name="adj" fmla="val 8777"/>
            </a:avLst>
          </a:prstGeom>
          <a:solidFill>
            <a:srgbClr val="F57325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4" name="Text 36"/>
          <p:cNvSpPr txBox="1"/>
          <p:nvPr/>
        </p:nvSpPr>
        <p:spPr>
          <a:xfrm>
            <a:off x="886054" y="5419649"/>
            <a:ext cx="30604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Ação Recomendada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886054" y="5615330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 Máxima (Midia Paga)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886054" y="5805526"/>
            <a:ext cx="30604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Quick Wins Imediatos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4317797" y="1200607"/>
            <a:ext cx="3562502" cy="5009998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4317797" y="1200607"/>
            <a:ext cx="47549" cy="500999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Shape 41"/>
          <p:cNvSpPr/>
          <p:nvPr/>
        </p:nvSpPr>
        <p:spPr>
          <a:xfrm>
            <a:off x="4365346" y="1200607"/>
            <a:ext cx="3514954" cy="1143000"/>
          </a:xfrm>
          <a:prstGeom prst="rect">
            <a:avLst/>
          </a:prstGeom>
          <a:solidFill>
            <a:srgbClr val="ECFDF5">
              <a:alpha val="40000"/>
            </a:srgbClr>
          </a:solidFill>
          <a:ln/>
        </p:spPr>
      </p:sp>
      <p:sp>
        <p:nvSpPr>
          <p:cNvPr id="50" name="Shape 42"/>
          <p:cNvSpPr/>
          <p:nvPr/>
        </p:nvSpPr>
        <p:spPr>
          <a:xfrm>
            <a:off x="4365346" y="2334463"/>
            <a:ext cx="35149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51" name="Shape 43"/>
          <p:cNvSpPr/>
          <p:nvPr/>
        </p:nvSpPr>
        <p:spPr>
          <a:xfrm>
            <a:off x="4518050" y="13331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-2512" r="-2512" t="0" b="0"/>
          <a:stretch/>
        </p:blipFill>
        <p:spPr>
          <a:xfrm>
            <a:off x="4617720" y="1419149"/>
            <a:ext cx="105156" cy="133502"/>
          </a:xfrm>
          <a:prstGeom prst="rect">
            <a:avLst/>
          </a:prstGeom>
        </p:spPr>
      </p:pic>
      <p:sp>
        <p:nvSpPr>
          <p:cNvPr id="53" name="Shape 44"/>
          <p:cNvSpPr/>
          <p:nvPr/>
        </p:nvSpPr>
        <p:spPr>
          <a:xfrm>
            <a:off x="6860743" y="1383487"/>
            <a:ext cx="866851" cy="209398"/>
          </a:xfrm>
          <a:prstGeom prst="roundRect">
            <a:avLst>
              <a:gd name="adj" fmla="val 79396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rcRect l="-455" r="-455" t="0" b="0"/>
          <a:stretch/>
        </p:blipFill>
        <p:spPr>
          <a:xfrm>
            <a:off x="6927494" y="1442923"/>
            <a:ext cx="75895" cy="85954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7041794" y="1421892"/>
            <a:ext cx="6958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ESTRATÉGICO</a:t>
            </a:r>
            <a:endParaRPr lang="en-US" sz="800" dirty="0"/>
          </a:p>
        </p:txBody>
      </p:sp>
      <p:sp>
        <p:nvSpPr>
          <p:cNvPr id="56" name="Text 46"/>
          <p:cNvSpPr txBox="1"/>
          <p:nvPr/>
        </p:nvSpPr>
        <p:spPr>
          <a:xfrm>
            <a:off x="4518050" y="1695298"/>
            <a:ext cx="128198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Informacionais</a:t>
            </a:r>
            <a:endParaRPr lang="en-US" sz="1300" dirty="0"/>
          </a:p>
        </p:txBody>
      </p:sp>
      <p:sp>
        <p:nvSpPr>
          <p:cNvPr id="57" name="Text 47"/>
          <p:cNvSpPr txBox="1"/>
          <p:nvPr/>
        </p:nvSpPr>
        <p:spPr>
          <a:xfrm>
            <a:off x="4518050" y="1966874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Awareness • Nutrição</a:t>
            </a:r>
            <a:endParaRPr lang="en-US" sz="1200" dirty="0"/>
          </a:p>
        </p:txBody>
      </p:sp>
      <p:sp>
        <p:nvSpPr>
          <p:cNvPr id="58" name="Shape 48"/>
          <p:cNvSpPr/>
          <p:nvPr/>
        </p:nvSpPr>
        <p:spPr>
          <a:xfrm>
            <a:off x="4518050" y="2471623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021885" y="2514600"/>
            <a:ext cx="152705" cy="152705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5155387" y="2486254"/>
            <a:ext cx="486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ROAS</a:t>
            </a:r>
            <a:endParaRPr lang="en-US" sz="1200" dirty="0"/>
          </a:p>
        </p:txBody>
      </p:sp>
      <p:sp>
        <p:nvSpPr>
          <p:cNvPr id="61" name="Text 50"/>
          <p:cNvSpPr txBox="1"/>
          <p:nvPr/>
        </p:nvSpPr>
        <p:spPr>
          <a:xfrm>
            <a:off x="5082235" y="2734056"/>
            <a:ext cx="4434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1-2x</a:t>
            </a:r>
            <a:endParaRPr lang="en-US" sz="1300" dirty="0"/>
          </a:p>
        </p:txBody>
      </p:sp>
      <p:sp>
        <p:nvSpPr>
          <p:cNvPr id="62" name="Shape 51"/>
          <p:cNvSpPr/>
          <p:nvPr/>
        </p:nvSpPr>
        <p:spPr>
          <a:xfrm>
            <a:off x="6157570" y="2471623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6726326" y="2514600"/>
            <a:ext cx="114300" cy="152705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6821424" y="2486254"/>
            <a:ext cx="391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CVR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6688836" y="2734056"/>
            <a:ext cx="5102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0.8%</a:t>
            </a:r>
            <a:endParaRPr lang="en-US" sz="1300" dirty="0"/>
          </a:p>
        </p:txBody>
      </p:sp>
      <p:sp>
        <p:nvSpPr>
          <p:cNvPr id="66" name="Shape 54"/>
          <p:cNvSpPr/>
          <p:nvPr/>
        </p:nvSpPr>
        <p:spPr>
          <a:xfrm>
            <a:off x="4518050" y="3071470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4647895" y="3136392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ESFORÇO CONV.</a:t>
            </a:r>
            <a:endParaRPr lang="en-US" sz="1200" dirty="0"/>
          </a:p>
        </p:txBody>
      </p:sp>
      <p:sp>
        <p:nvSpPr>
          <p:cNvPr id="68" name="Shape 56"/>
          <p:cNvSpPr/>
          <p:nvPr/>
        </p:nvSpPr>
        <p:spPr>
          <a:xfrm>
            <a:off x="5139842" y="3374136"/>
            <a:ext cx="323698" cy="171907"/>
          </a:xfrm>
          <a:prstGeom prst="roundRect">
            <a:avLst>
              <a:gd name="adj" fmla="val 118203"/>
            </a:avLst>
          </a:prstGeom>
          <a:solidFill>
            <a:srgbClr val="FEE2E2"/>
          </a:solidFill>
          <a:ln/>
        </p:spPr>
      </p:sp>
      <p:sp>
        <p:nvSpPr>
          <p:cNvPr id="69" name="Text 57"/>
          <p:cNvSpPr txBox="1"/>
          <p:nvPr/>
        </p:nvSpPr>
        <p:spPr>
          <a:xfrm>
            <a:off x="5159045" y="3402482"/>
            <a:ext cx="2862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800" dirty="0"/>
          </a:p>
        </p:txBody>
      </p:sp>
      <p:sp>
        <p:nvSpPr>
          <p:cNvPr id="70" name="Shape 58"/>
          <p:cNvSpPr/>
          <p:nvPr/>
        </p:nvSpPr>
        <p:spPr>
          <a:xfrm>
            <a:off x="6157570" y="3071470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6334049" y="3136392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COMPLEXIDADE</a:t>
            </a:r>
            <a:endParaRPr lang="en-US" sz="1200" dirty="0"/>
          </a:p>
        </p:txBody>
      </p:sp>
      <p:sp>
        <p:nvSpPr>
          <p:cNvPr id="72" name="Shape 60"/>
          <p:cNvSpPr/>
          <p:nvPr/>
        </p:nvSpPr>
        <p:spPr>
          <a:xfrm>
            <a:off x="6753758" y="3374136"/>
            <a:ext cx="381305" cy="171907"/>
          </a:xfrm>
          <a:prstGeom prst="roundRect">
            <a:avLst>
              <a:gd name="adj" fmla="val 118203"/>
            </a:avLst>
          </a:prstGeom>
          <a:solidFill>
            <a:srgbClr val="FEF3C7"/>
          </a:solidFill>
          <a:ln/>
        </p:spPr>
      </p:sp>
      <p:sp>
        <p:nvSpPr>
          <p:cNvPr id="73" name="Text 61"/>
          <p:cNvSpPr txBox="1"/>
          <p:nvPr/>
        </p:nvSpPr>
        <p:spPr>
          <a:xfrm>
            <a:off x="6772961" y="3402482"/>
            <a:ext cx="3429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800" dirty="0"/>
          </a:p>
        </p:txBody>
      </p:sp>
      <p:sp>
        <p:nvSpPr>
          <p:cNvPr id="74" name="Text 62"/>
          <p:cNvSpPr txBox="1"/>
          <p:nvPr/>
        </p:nvSpPr>
        <p:spPr>
          <a:xfrm>
            <a:off x="4556455" y="3700577"/>
            <a:ext cx="1038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Necessária</a:t>
            </a:r>
            <a:endParaRPr lang="en-US" sz="1200" dirty="0"/>
          </a:p>
        </p:txBody>
      </p:sp>
      <p:sp>
        <p:nvSpPr>
          <p:cNvPr id="75" name="Text 63"/>
          <p:cNvSpPr txBox="1"/>
          <p:nvPr/>
        </p:nvSpPr>
        <p:spPr>
          <a:xfrm>
            <a:off x="6380683" y="3700577"/>
            <a:ext cx="11247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5-7 Touchpoints</a:t>
            </a:r>
            <a:endParaRPr lang="en-US" sz="1200" dirty="0"/>
          </a:p>
        </p:txBody>
      </p:sp>
      <p:sp>
        <p:nvSpPr>
          <p:cNvPr id="76" name="Shape 64"/>
          <p:cNvSpPr/>
          <p:nvPr/>
        </p:nvSpPr>
        <p:spPr>
          <a:xfrm>
            <a:off x="4556455" y="4186123"/>
            <a:ext cx="3133649" cy="38405"/>
          </a:xfrm>
          <a:prstGeom prst="roundRect">
            <a:avLst>
              <a:gd name="adj" fmla="val 1190470"/>
            </a:avLst>
          </a:prstGeom>
          <a:solidFill>
            <a:srgbClr val="E5E7EB"/>
          </a:solidFill>
          <a:ln/>
        </p:spPr>
      </p:sp>
      <p:sp>
        <p:nvSpPr>
          <p:cNvPr id="77" name="Shape 65"/>
          <p:cNvSpPr/>
          <p:nvPr/>
        </p:nvSpPr>
        <p:spPr>
          <a:xfrm>
            <a:off x="4518050" y="4319626"/>
            <a:ext cx="3209544" cy="8001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8" name="Shape 66"/>
          <p:cNvSpPr/>
          <p:nvPr/>
        </p:nvSpPr>
        <p:spPr>
          <a:xfrm>
            <a:off x="4518050" y="4319626"/>
            <a:ext cx="28346" cy="800100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79" name="Text 67"/>
          <p:cNvSpPr txBox="1"/>
          <p:nvPr/>
        </p:nvSpPr>
        <p:spPr>
          <a:xfrm>
            <a:off x="4641494" y="4414723"/>
            <a:ext cx="30696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de Conversão</a:t>
            </a:r>
            <a:endParaRPr lang="en-US" sz="800" dirty="0"/>
          </a:p>
        </p:txBody>
      </p:sp>
      <p:sp>
        <p:nvSpPr>
          <p:cNvPr id="80" name="Text 68"/>
          <p:cNvSpPr txBox="1"/>
          <p:nvPr/>
        </p:nvSpPr>
        <p:spPr>
          <a:xfrm>
            <a:off x="4641494" y="4593946"/>
            <a:ext cx="306964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indeciso. Exige esforço alto e frequência. Caminho obrigatório para novos prospects.</a:t>
            </a:r>
            <a:endParaRPr lang="en-US" sz="800" dirty="0"/>
          </a:p>
        </p:txBody>
      </p:sp>
      <p:sp>
        <p:nvSpPr>
          <p:cNvPr id="81" name="Shape 69"/>
          <p:cNvSpPr/>
          <p:nvPr/>
        </p:nvSpPr>
        <p:spPr>
          <a:xfrm>
            <a:off x="4518050" y="5305349"/>
            <a:ext cx="3209544" cy="771754"/>
          </a:xfrm>
          <a:prstGeom prst="roundRect">
            <a:avLst>
              <a:gd name="adj" fmla="val 8777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2" name="Text 70"/>
          <p:cNvSpPr txBox="1"/>
          <p:nvPr/>
        </p:nvSpPr>
        <p:spPr>
          <a:xfrm>
            <a:off x="4632350" y="5419649"/>
            <a:ext cx="30604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Ação Recomendada</a:t>
            </a:r>
            <a:endParaRPr lang="en-US" sz="800" dirty="0"/>
          </a:p>
        </p:txBody>
      </p:sp>
      <p:sp>
        <p:nvSpPr>
          <p:cNvPr id="83" name="Text 71"/>
          <p:cNvSpPr txBox="1"/>
          <p:nvPr/>
        </p:nvSpPr>
        <p:spPr>
          <a:xfrm>
            <a:off x="4632350" y="5615330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Investimento Médio Prazo</a:t>
            </a:r>
            <a:endParaRPr lang="en-US" sz="900" dirty="0"/>
          </a:p>
        </p:txBody>
      </p:sp>
      <p:sp>
        <p:nvSpPr>
          <p:cNvPr id="84" name="Text 72"/>
          <p:cNvSpPr txBox="1"/>
          <p:nvPr/>
        </p:nvSpPr>
        <p:spPr>
          <a:xfrm>
            <a:off x="4632350" y="5805526"/>
            <a:ext cx="30604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Content Hub + Remarketing</a:t>
            </a:r>
            <a:endParaRPr lang="en-US" sz="800" dirty="0"/>
          </a:p>
        </p:txBody>
      </p:sp>
      <p:sp>
        <p:nvSpPr>
          <p:cNvPr id="85" name="Shape 73"/>
          <p:cNvSpPr/>
          <p:nvPr/>
        </p:nvSpPr>
        <p:spPr>
          <a:xfrm>
            <a:off x="8064094" y="1200607"/>
            <a:ext cx="3562502" cy="5009998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86" name="Shape 74"/>
          <p:cNvSpPr/>
          <p:nvPr/>
        </p:nvSpPr>
        <p:spPr>
          <a:xfrm>
            <a:off x="8064094" y="1200607"/>
            <a:ext cx="47549" cy="5009998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87" name="Shape 75"/>
          <p:cNvSpPr/>
          <p:nvPr/>
        </p:nvSpPr>
        <p:spPr>
          <a:xfrm>
            <a:off x="8111642" y="1200607"/>
            <a:ext cx="3514954" cy="1143000"/>
          </a:xfrm>
          <a:prstGeom prst="rect">
            <a:avLst/>
          </a:prstGeom>
          <a:solidFill>
            <a:srgbClr val="EFF6FF">
              <a:alpha val="40000"/>
            </a:srgbClr>
          </a:solidFill>
          <a:ln/>
        </p:spPr>
      </p:sp>
      <p:sp>
        <p:nvSpPr>
          <p:cNvPr id="88" name="Shape 76"/>
          <p:cNvSpPr/>
          <p:nvPr/>
        </p:nvSpPr>
        <p:spPr>
          <a:xfrm>
            <a:off x="8111642" y="2334463"/>
            <a:ext cx="35149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89" name="Shape 77"/>
          <p:cNvSpPr/>
          <p:nvPr/>
        </p:nvSpPr>
        <p:spPr>
          <a:xfrm>
            <a:off x="8264347" y="13331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9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350301" y="1419149"/>
            <a:ext cx="133502" cy="133502"/>
          </a:xfrm>
          <a:prstGeom prst="rect">
            <a:avLst/>
          </a:prstGeom>
        </p:spPr>
      </p:pic>
      <p:sp>
        <p:nvSpPr>
          <p:cNvPr id="91" name="Shape 78"/>
          <p:cNvSpPr/>
          <p:nvPr/>
        </p:nvSpPr>
        <p:spPr>
          <a:xfrm>
            <a:off x="10718597" y="1383487"/>
            <a:ext cx="752551" cy="209398"/>
          </a:xfrm>
          <a:prstGeom prst="roundRect">
            <a:avLst>
              <a:gd name="adj" fmla="val 7939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92" name="Image 11" descr="preencoded.png">    </p:cNvPr>
          <p:cNvPicPr>
            <a:picLocks noChangeAspect="1"/>
          </p:cNvPicPr>
          <p:nvPr/>
        </p:nvPicPr>
        <p:blipFill>
          <a:blip r:embed="rId12"/>
          <a:srcRect l="-455" r="-455" t="0" b="0"/>
          <a:stretch/>
        </p:blipFill>
        <p:spPr>
          <a:xfrm>
            <a:off x="10785348" y="1442923"/>
            <a:ext cx="75895" cy="85954"/>
          </a:xfrm>
          <a:prstGeom prst="rect">
            <a:avLst/>
          </a:prstGeom>
        </p:spPr>
      </p:pic>
      <p:sp>
        <p:nvSpPr>
          <p:cNvPr id="93" name="Text 79"/>
          <p:cNvSpPr txBox="1"/>
          <p:nvPr/>
        </p:nvSpPr>
        <p:spPr>
          <a:xfrm>
            <a:off x="10899648" y="1421892"/>
            <a:ext cx="5815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DEFENSIVO</a:t>
            </a:r>
            <a:endParaRPr lang="en-US" sz="800" dirty="0"/>
          </a:p>
        </p:txBody>
      </p:sp>
      <p:sp>
        <p:nvSpPr>
          <p:cNvPr id="94" name="Text 80"/>
          <p:cNvSpPr txBox="1"/>
          <p:nvPr/>
        </p:nvSpPr>
        <p:spPr>
          <a:xfrm>
            <a:off x="8264347" y="1695298"/>
            <a:ext cx="12152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Navegacionais</a:t>
            </a:r>
            <a:endParaRPr lang="en-US" sz="1300" dirty="0"/>
          </a:p>
        </p:txBody>
      </p:sp>
      <p:sp>
        <p:nvSpPr>
          <p:cNvPr id="95" name="Text 81"/>
          <p:cNvSpPr txBox="1"/>
          <p:nvPr/>
        </p:nvSpPr>
        <p:spPr>
          <a:xfrm>
            <a:off x="8264347" y="1966874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Retenção • Serviço</a:t>
            </a:r>
            <a:endParaRPr lang="en-US" sz="1200" dirty="0"/>
          </a:p>
        </p:txBody>
      </p:sp>
      <p:sp>
        <p:nvSpPr>
          <p:cNvPr id="96" name="Shape 82"/>
          <p:cNvSpPr/>
          <p:nvPr/>
        </p:nvSpPr>
        <p:spPr>
          <a:xfrm>
            <a:off x="8264347" y="2471623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pic>
        <p:nvPicPr>
          <p:cNvPr id="9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768182" y="2514600"/>
            <a:ext cx="152705" cy="152705"/>
          </a:xfrm>
          <a:prstGeom prst="rect">
            <a:avLst/>
          </a:prstGeom>
        </p:spPr>
      </p:pic>
      <p:sp>
        <p:nvSpPr>
          <p:cNvPr id="98" name="Text 83"/>
          <p:cNvSpPr txBox="1"/>
          <p:nvPr/>
        </p:nvSpPr>
        <p:spPr>
          <a:xfrm>
            <a:off x="8901684" y="2486254"/>
            <a:ext cx="486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ROAS</a:t>
            </a:r>
            <a:endParaRPr lang="en-US" sz="1200" dirty="0"/>
          </a:p>
        </p:txBody>
      </p:sp>
      <p:sp>
        <p:nvSpPr>
          <p:cNvPr id="99" name="Text 84"/>
          <p:cNvSpPr txBox="1"/>
          <p:nvPr/>
        </p:nvSpPr>
        <p:spPr>
          <a:xfrm>
            <a:off x="8831275" y="2734056"/>
            <a:ext cx="43342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0-1x</a:t>
            </a:r>
            <a:endParaRPr lang="en-US" sz="1300" dirty="0"/>
          </a:p>
        </p:txBody>
      </p:sp>
      <p:sp>
        <p:nvSpPr>
          <p:cNvPr id="100" name="Shape 85"/>
          <p:cNvSpPr/>
          <p:nvPr/>
        </p:nvSpPr>
        <p:spPr>
          <a:xfrm>
            <a:off x="9903866" y="2471623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pic>
        <p:nvPicPr>
          <p:cNvPr id="10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10472623" y="2514600"/>
            <a:ext cx="114300" cy="152705"/>
          </a:xfrm>
          <a:prstGeom prst="rect">
            <a:avLst/>
          </a:prstGeom>
        </p:spPr>
      </p:pic>
      <p:sp>
        <p:nvSpPr>
          <p:cNvPr id="102" name="Text 86"/>
          <p:cNvSpPr txBox="1"/>
          <p:nvPr/>
        </p:nvSpPr>
        <p:spPr>
          <a:xfrm>
            <a:off x="10567721" y="2486254"/>
            <a:ext cx="391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CVR</a:t>
            </a:r>
            <a:endParaRPr lang="en-US" sz="1200" dirty="0"/>
          </a:p>
        </p:txBody>
      </p:sp>
      <p:sp>
        <p:nvSpPr>
          <p:cNvPr id="103" name="Text 87"/>
          <p:cNvSpPr txBox="1"/>
          <p:nvPr/>
        </p:nvSpPr>
        <p:spPr>
          <a:xfrm>
            <a:off x="10432390" y="2734056"/>
            <a:ext cx="5102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0.5%</a:t>
            </a:r>
            <a:endParaRPr lang="en-US" sz="1300" dirty="0"/>
          </a:p>
        </p:txBody>
      </p:sp>
      <p:sp>
        <p:nvSpPr>
          <p:cNvPr id="104" name="Shape 88"/>
          <p:cNvSpPr/>
          <p:nvPr/>
        </p:nvSpPr>
        <p:spPr>
          <a:xfrm>
            <a:off x="8264347" y="3071470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5" name="Text 89"/>
          <p:cNvSpPr txBox="1"/>
          <p:nvPr/>
        </p:nvSpPr>
        <p:spPr>
          <a:xfrm>
            <a:off x="8394192" y="3136392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ESFORÇO CONV.</a:t>
            </a:r>
            <a:endParaRPr lang="en-US" sz="1200" dirty="0"/>
          </a:p>
        </p:txBody>
      </p:sp>
      <p:sp>
        <p:nvSpPr>
          <p:cNvPr id="106" name="Shape 90"/>
          <p:cNvSpPr/>
          <p:nvPr/>
        </p:nvSpPr>
        <p:spPr>
          <a:xfrm>
            <a:off x="8834933" y="3374136"/>
            <a:ext cx="428854" cy="171907"/>
          </a:xfrm>
          <a:prstGeom prst="roundRect">
            <a:avLst>
              <a:gd name="adj" fmla="val 118203"/>
            </a:avLst>
          </a:prstGeom>
          <a:solidFill>
            <a:srgbClr val="D1FAE5"/>
          </a:solidFill>
          <a:ln/>
        </p:spPr>
      </p:sp>
      <p:sp>
        <p:nvSpPr>
          <p:cNvPr id="107" name="Text 91"/>
          <p:cNvSpPr txBox="1"/>
          <p:nvPr/>
        </p:nvSpPr>
        <p:spPr>
          <a:xfrm>
            <a:off x="8854135" y="3402482"/>
            <a:ext cx="391363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MÍNIMO</a:t>
            </a:r>
            <a:endParaRPr lang="en-US" sz="800" dirty="0"/>
          </a:p>
        </p:txBody>
      </p:sp>
      <p:sp>
        <p:nvSpPr>
          <p:cNvPr id="108" name="Shape 92"/>
          <p:cNvSpPr/>
          <p:nvPr/>
        </p:nvSpPr>
        <p:spPr>
          <a:xfrm>
            <a:off x="9903866" y="3071470"/>
            <a:ext cx="1571854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9" name="Text 93"/>
          <p:cNvSpPr txBox="1"/>
          <p:nvPr/>
        </p:nvSpPr>
        <p:spPr>
          <a:xfrm>
            <a:off x="10080346" y="3136392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COMPLEXIDADE</a:t>
            </a:r>
            <a:endParaRPr lang="en-US" sz="1200" dirty="0"/>
          </a:p>
        </p:txBody>
      </p:sp>
      <p:sp>
        <p:nvSpPr>
          <p:cNvPr id="110" name="Shape 94"/>
          <p:cNvSpPr/>
          <p:nvPr/>
        </p:nvSpPr>
        <p:spPr>
          <a:xfrm>
            <a:off x="10525658" y="3374136"/>
            <a:ext cx="323698" cy="171907"/>
          </a:xfrm>
          <a:prstGeom prst="roundRect">
            <a:avLst>
              <a:gd name="adj" fmla="val 118203"/>
            </a:avLst>
          </a:prstGeom>
          <a:solidFill>
            <a:srgbClr val="D1FAE5"/>
          </a:solidFill>
          <a:ln/>
        </p:spPr>
      </p:sp>
      <p:sp>
        <p:nvSpPr>
          <p:cNvPr id="111" name="Text 95"/>
          <p:cNvSpPr txBox="1"/>
          <p:nvPr/>
        </p:nvSpPr>
        <p:spPr>
          <a:xfrm>
            <a:off x="10544861" y="3402482"/>
            <a:ext cx="2862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endParaRPr lang="en-US" sz="800" dirty="0"/>
          </a:p>
        </p:txBody>
      </p:sp>
      <p:sp>
        <p:nvSpPr>
          <p:cNvPr id="112" name="Text 96"/>
          <p:cNvSpPr txBox="1"/>
          <p:nvPr/>
        </p:nvSpPr>
        <p:spPr>
          <a:xfrm>
            <a:off x="8302752" y="3700577"/>
            <a:ext cx="1038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Necessária</a:t>
            </a:r>
            <a:endParaRPr lang="en-US" sz="1200" dirty="0"/>
          </a:p>
        </p:txBody>
      </p:sp>
      <p:sp>
        <p:nvSpPr>
          <p:cNvPr id="113" name="Text 97"/>
          <p:cNvSpPr txBox="1"/>
          <p:nvPr/>
        </p:nvSpPr>
        <p:spPr>
          <a:xfrm>
            <a:off x="10126980" y="3700577"/>
            <a:ext cx="9436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(Já conhecem)</a:t>
            </a:r>
            <a:endParaRPr lang="en-US" sz="1200" dirty="0"/>
          </a:p>
        </p:txBody>
      </p:sp>
      <p:sp>
        <p:nvSpPr>
          <p:cNvPr id="114" name="Shape 98"/>
          <p:cNvSpPr/>
          <p:nvPr/>
        </p:nvSpPr>
        <p:spPr>
          <a:xfrm>
            <a:off x="8302752" y="4186123"/>
            <a:ext cx="3133649" cy="38405"/>
          </a:xfrm>
          <a:prstGeom prst="roundRect">
            <a:avLst>
              <a:gd name="adj" fmla="val 1190470"/>
            </a:avLst>
          </a:prstGeom>
          <a:solidFill>
            <a:srgbClr val="E5E7EB"/>
          </a:solidFill>
          <a:ln/>
        </p:spPr>
      </p:sp>
      <p:sp>
        <p:nvSpPr>
          <p:cNvPr id="115" name="Shape 99"/>
          <p:cNvSpPr/>
          <p:nvPr/>
        </p:nvSpPr>
        <p:spPr>
          <a:xfrm>
            <a:off x="8264347" y="4319626"/>
            <a:ext cx="3209544" cy="65745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6" name="Shape 100"/>
          <p:cNvSpPr/>
          <p:nvPr/>
        </p:nvSpPr>
        <p:spPr>
          <a:xfrm>
            <a:off x="8264347" y="4319626"/>
            <a:ext cx="28346" cy="657454"/>
          </a:xfrm>
          <a:prstGeom prst="rect">
            <a:avLst/>
          </a:prstGeom>
          <a:solidFill>
            <a:srgbClr val="224088"/>
          </a:solidFill>
          <a:ln/>
        </p:spPr>
      </p:sp>
      <p:sp>
        <p:nvSpPr>
          <p:cNvPr id="117" name="Text 101"/>
          <p:cNvSpPr txBox="1"/>
          <p:nvPr/>
        </p:nvSpPr>
        <p:spPr>
          <a:xfrm>
            <a:off x="8388706" y="4414723"/>
            <a:ext cx="30696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de Conversão</a:t>
            </a:r>
            <a:endParaRPr lang="en-US" sz="800" dirty="0"/>
          </a:p>
        </p:txBody>
      </p:sp>
      <p:sp>
        <p:nvSpPr>
          <p:cNvPr id="118" name="Text 102"/>
          <p:cNvSpPr txBox="1"/>
          <p:nvPr/>
        </p:nvSpPr>
        <p:spPr>
          <a:xfrm>
            <a:off x="8388706" y="4593946"/>
            <a:ext cx="306964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 são buscas de serviço (boleto/login). Investir Paid é queima de esforço e budget.</a:t>
            </a:r>
            <a:endParaRPr lang="en-US" sz="800" dirty="0"/>
          </a:p>
        </p:txBody>
      </p:sp>
      <p:sp>
        <p:nvSpPr>
          <p:cNvPr id="119" name="Shape 103"/>
          <p:cNvSpPr/>
          <p:nvPr/>
        </p:nvSpPr>
        <p:spPr>
          <a:xfrm>
            <a:off x="8264347" y="5305349"/>
            <a:ext cx="3209544" cy="771754"/>
          </a:xfrm>
          <a:prstGeom prst="roundRect">
            <a:avLst>
              <a:gd name="adj" fmla="val 8777"/>
            </a:avLst>
          </a:prstGeom>
          <a:solidFill>
            <a:srgbClr val="22408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20" name="Text 104"/>
          <p:cNvSpPr txBox="1"/>
          <p:nvPr/>
        </p:nvSpPr>
        <p:spPr>
          <a:xfrm>
            <a:off x="8378647" y="5419649"/>
            <a:ext cx="30604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Ação Recomendada</a:t>
            </a:r>
            <a:endParaRPr lang="en-US" sz="800" dirty="0"/>
          </a:p>
        </p:txBody>
      </p:sp>
      <p:sp>
        <p:nvSpPr>
          <p:cNvPr id="121" name="Text 105"/>
          <p:cNvSpPr txBox="1"/>
          <p:nvPr/>
        </p:nvSpPr>
        <p:spPr>
          <a:xfrm>
            <a:off x="8378647" y="5615330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Esforço Adicional</a:t>
            </a:r>
            <a:endParaRPr lang="en-US" sz="900" dirty="0"/>
          </a:p>
        </p:txBody>
      </p:sp>
      <p:sp>
        <p:nvSpPr>
          <p:cNvPr id="122" name="Text 106"/>
          <p:cNvSpPr txBox="1"/>
          <p:nvPr/>
        </p:nvSpPr>
        <p:spPr>
          <a:xfrm>
            <a:off x="8378647" y="5805526"/>
            <a:ext cx="30604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Manter Apenas SEO Orgânico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10605"/>
            <a:ext cx="11048695" cy="9144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77" r="-1677" t="0" b="0"/>
          <a:stretch/>
        </p:blipFill>
        <p:spPr>
          <a:xfrm>
            <a:off x="571500" y="6448349"/>
            <a:ext cx="95098" cy="1051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407" y="6421831"/>
            <a:ext cx="25365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Fontes:</a:t>
            </a:r>
            <a:pPr algn="l" indent="0" marL="0">
              <a:buNone/>
            </a:pPr>
            <a:r>
              <a:rPr lang="en-US" sz="800" u="sng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SEMrush (Hapvida, Dez/2025)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ANS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961888" y="6421831"/>
            <a:ext cx="57460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Jan–Nov = dados reais por categoria; Dez = projeção linear. Unidades em milhares (k).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647395"/>
            <a:ext cx="152705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1500" y="142646"/>
            <a:ext cx="43059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EVOLUÇÃO TEMPORAL 2025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800100" y="590702"/>
            <a:ext cx="85971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Barras empilhadas (Jan–Nov reais • Dez modelado) — proporção real por categoria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" y="972007"/>
            <a:ext cx="11048695" cy="5162702"/>
          </a:xfrm>
          <a:prstGeom prst="roundRect">
            <a:avLst>
              <a:gd name="adj" fmla="val 26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224088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1057046" y="1238098"/>
            <a:ext cx="2882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Mensal de Busca (Stacked)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945636" y="1214323"/>
            <a:ext cx="1104595" cy="237744"/>
          </a:xfrm>
          <a:prstGeom prst="roundRect">
            <a:avLst>
              <a:gd name="adj" fmla="val 384615"/>
            </a:avLst>
          </a:prstGeom>
          <a:solidFill>
            <a:srgbClr val="FFFFFF"/>
          </a:solidFill>
          <a:ln w="12700">
            <a:solidFill>
              <a:srgbClr val="224088">
                <a:alpha val="2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4050792" y="1285646"/>
            <a:ext cx="85954" cy="9509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93438" y="1261872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Jan–Nov Reais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5155387" y="1214323"/>
            <a:ext cx="1057046" cy="237744"/>
          </a:xfrm>
          <a:prstGeom prst="roundRect">
            <a:avLst>
              <a:gd name="adj" fmla="val 384615"/>
            </a:avLst>
          </a:prstGeom>
          <a:solidFill>
            <a:srgbClr val="FFFFFF"/>
          </a:solidFill>
          <a:ln w="12700">
            <a:solidFill>
              <a:srgbClr val="224088">
                <a:alpha val="2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60543" y="1285646"/>
            <a:ext cx="95098" cy="9509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12334" y="1261872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Dez Modelado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7739482" y="1171346"/>
            <a:ext cx="3685946" cy="323698"/>
          </a:xfrm>
          <a:prstGeom prst="roundRect">
            <a:avLst>
              <a:gd name="adj" fmla="val 28248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901330" y="12765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224088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072323" y="1257300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Navegacional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9047988" y="12765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F57325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9219895" y="1257300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Transacional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195560" y="12765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0366553" y="1257300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Informacional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809244" y="5743346"/>
            <a:ext cx="133502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19556" y="5705856"/>
            <a:ext cx="5039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Escala única (milhares) — barras empilhadas evidenciam que Navegacional é ~5–7x maior.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8505749" y="5743346"/>
            <a:ext cx="114300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695944" y="5705856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Tooltip exibe valor e participação (%) por mês.</a:t>
            </a:r>
            <a:endParaRPr lang="en-US" sz="1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rcRect l="-33" r="-33" t="0" b="0"/>
          <a:stretch/>
        </p:blipFill>
        <p:spPr>
          <a:xfrm>
            <a:off x="771754" y="1257300"/>
            <a:ext cx="171907" cy="152705"/>
          </a:xfrm>
          <a:prstGeom prst="rect">
            <a:avLst/>
          </a:prstGeom>
        </p:spPr>
      </p:pic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" b="-1"/>
          <a:stretch/>
        </p:blipFill>
        <p:spPr>
          <a:xfrm>
            <a:off x="771754" y="1609344"/>
            <a:ext cx="10649102" cy="40197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10605"/>
            <a:ext cx="11048695" cy="9144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77" r="-1677" t="0" b="0"/>
          <a:stretch/>
        </p:blipFill>
        <p:spPr>
          <a:xfrm>
            <a:off x="571500" y="6448349"/>
            <a:ext cx="95098" cy="1051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407" y="6421831"/>
            <a:ext cx="64986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baseada em: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População (IBGE 2025), Penetração de Planos (ANS), Market Share Regional Hapvida.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036662" y="6421831"/>
            <a:ext cx="3670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estimados por correlação estatística regional.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237744"/>
            <a:ext cx="78108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DEMANDA REGIONAL — KEYWORDS NAVEGACIONAIS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9029700" y="390449"/>
            <a:ext cx="2600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TOTAL NAVEGACIONAL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391242" y="580644"/>
            <a:ext cx="9098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1.07M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1773" r="-1773" t="0" b="0"/>
          <a:stretch/>
        </p:blipFill>
        <p:spPr>
          <a:xfrm>
            <a:off x="571500" y="733349"/>
            <a:ext cx="200254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7649" y="685800"/>
            <a:ext cx="73106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Distribuição baseada em market share Hapvida + penetração de planos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200486" y="76169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4088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71500" y="1104595"/>
            <a:ext cx="5410505" cy="5029200"/>
          </a:xfrm>
          <a:prstGeom prst="roundRect">
            <a:avLst>
              <a:gd name="adj" fmla="val 27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224088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3349" y="1533449"/>
            <a:ext cx="50868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3349" y="1285646"/>
            <a:ext cx="152705" cy="1527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3349" y="1952244"/>
            <a:ext cx="514807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1241755" y="1952244"/>
            <a:ext cx="771754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2005279" y="1952244"/>
            <a:ext cx="1019556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3022092" y="1952244"/>
            <a:ext cx="771754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3784702" y="1952244"/>
            <a:ext cx="2038198" cy="19202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733349" y="2009851"/>
            <a:ext cx="514807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241755" y="20098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375258" y="21195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005279" y="20098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022092" y="20098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784702" y="20098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33349" y="24094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241755" y="24094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375258" y="25191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005279" y="24094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022092" y="24094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784702" y="24094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3349" y="28099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241755" y="28099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375258" y="29196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2005279" y="28099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022092" y="28099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784702" y="28099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33349" y="32095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241755" y="32095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375258" y="33192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2005279" y="32095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022092" y="32095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784702" y="32095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33349" y="36100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41755" y="36100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375258" y="37197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RJ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2005279" y="36100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022092" y="36100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3784702" y="36100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3349" y="40096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41755" y="40096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1375258" y="41193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2005279" y="40096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022092" y="40096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3784702" y="40096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33349" y="44101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241755" y="44101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1375258" y="45198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2005279" y="44101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3022092" y="44101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3784702" y="44101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733349" y="48097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241755" y="48097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1375258" y="49194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2005279" y="48097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3022092" y="48097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3784702" y="48097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733349" y="52102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1241755" y="52102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1375258" y="53199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>
            <a:off x="2005279" y="52102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3022092" y="52102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3784702" y="52102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733349" y="56098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1241755" y="56098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1375258" y="57195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800" dirty="0"/>
          </a:p>
        </p:txBody>
      </p:sp>
      <p:sp>
        <p:nvSpPr>
          <p:cNvPr id="78" name="Shape 73"/>
          <p:cNvSpPr/>
          <p:nvPr/>
        </p:nvSpPr>
        <p:spPr>
          <a:xfrm>
            <a:off x="2005279" y="56098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3022092" y="56098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3784702" y="56098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210605" y="1104595"/>
            <a:ext cx="5410505" cy="1200607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2" name="Shape 77"/>
          <p:cNvSpPr/>
          <p:nvPr/>
        </p:nvSpPr>
        <p:spPr>
          <a:xfrm>
            <a:off x="6210605" y="1104595"/>
            <a:ext cx="38405" cy="1200607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3" name="Shape 78"/>
          <p:cNvSpPr/>
          <p:nvPr/>
        </p:nvSpPr>
        <p:spPr>
          <a:xfrm>
            <a:off x="6362395" y="1257300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BEAFE"/>
          </a:solidFill>
          <a:ln/>
        </p:spPr>
      </p:sp>
      <p:sp>
        <p:nvSpPr>
          <p:cNvPr id="84" name="Text 79"/>
          <p:cNvSpPr txBox="1"/>
          <p:nvPr/>
        </p:nvSpPr>
        <p:spPr>
          <a:xfrm>
            <a:off x="6801307" y="1447495"/>
            <a:ext cx="479145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Nordeste (BA+PE+CE) representa 40%</a:t>
            </a:r>
            <a:pPr algn="l"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volume navegacional, confirmando a força histórica da marca. O Sudeste (SP+RJ+MG), apesar de ter maior PIB e população, soma apenas</a:t>
            </a:r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pPr algn="l"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indicando onde está o maior gap de share-of-mind.</a:t>
            </a:r>
            <a:endParaRPr lang="en-US" sz="900" dirty="0"/>
          </a:p>
        </p:txBody>
      </p:sp>
      <p:sp>
        <p:nvSpPr>
          <p:cNvPr id="85" name="Text 80"/>
          <p:cNvSpPr txBox="1"/>
          <p:nvPr/>
        </p:nvSpPr>
        <p:spPr>
          <a:xfrm>
            <a:off x="961949" y="1266444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10 ESTADOS (RANKING)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809244" y="1762049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00" dirty="0"/>
          </a:p>
        </p:txBody>
      </p:sp>
      <p:sp>
        <p:nvSpPr>
          <p:cNvPr id="87" name="Text 82"/>
          <p:cNvSpPr txBox="1"/>
          <p:nvPr/>
        </p:nvSpPr>
        <p:spPr>
          <a:xfrm>
            <a:off x="1318565" y="1762049"/>
            <a:ext cx="457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00" dirty="0"/>
          </a:p>
        </p:txBody>
      </p:sp>
      <p:sp>
        <p:nvSpPr>
          <p:cNvPr id="88" name="Text 83"/>
          <p:cNvSpPr txBox="1"/>
          <p:nvPr/>
        </p:nvSpPr>
        <p:spPr>
          <a:xfrm>
            <a:off x="2081174" y="1762049"/>
            <a:ext cx="7050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VOLUME/MÊS</a:t>
            </a:r>
            <a:endParaRPr lang="en-US" sz="800" dirty="0"/>
          </a:p>
        </p:txBody>
      </p:sp>
      <p:sp>
        <p:nvSpPr>
          <p:cNvPr id="89" name="Text 84"/>
          <p:cNvSpPr txBox="1"/>
          <p:nvPr/>
        </p:nvSpPr>
        <p:spPr>
          <a:xfrm>
            <a:off x="3097987" y="1762049"/>
            <a:ext cx="5148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TOTAL</a:t>
            </a:r>
            <a:endParaRPr lang="en-US" sz="800" dirty="0"/>
          </a:p>
        </p:txBody>
      </p:sp>
      <p:sp>
        <p:nvSpPr>
          <p:cNvPr id="90" name="Text 85"/>
          <p:cNvSpPr txBox="1"/>
          <p:nvPr/>
        </p:nvSpPr>
        <p:spPr>
          <a:xfrm>
            <a:off x="3861511" y="1762049"/>
            <a:ext cx="10771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REGIONAL</a:t>
            </a:r>
            <a:endParaRPr lang="en-US" sz="800" dirty="0"/>
          </a:p>
        </p:txBody>
      </p:sp>
      <p:sp>
        <p:nvSpPr>
          <p:cNvPr id="91" name="Text 86"/>
          <p:cNvSpPr txBox="1"/>
          <p:nvPr/>
        </p:nvSpPr>
        <p:spPr>
          <a:xfrm>
            <a:off x="809244" y="21314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800" dirty="0"/>
          </a:p>
        </p:txBody>
      </p:sp>
      <p:sp>
        <p:nvSpPr>
          <p:cNvPr id="92" name="Shape 87"/>
          <p:cNvSpPr/>
          <p:nvPr/>
        </p:nvSpPr>
        <p:spPr>
          <a:xfrm>
            <a:off x="1318565" y="2076602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93" name="Text 88"/>
          <p:cNvSpPr txBox="1"/>
          <p:nvPr/>
        </p:nvSpPr>
        <p:spPr>
          <a:xfrm>
            <a:off x="2081174" y="2131466"/>
            <a:ext cx="4599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192.0k</a:t>
            </a:r>
            <a:endParaRPr lang="en-US" sz="800" dirty="0"/>
          </a:p>
        </p:txBody>
      </p:sp>
      <p:sp>
        <p:nvSpPr>
          <p:cNvPr id="94" name="Text 89"/>
          <p:cNvSpPr txBox="1"/>
          <p:nvPr/>
        </p:nvSpPr>
        <p:spPr>
          <a:xfrm>
            <a:off x="3097987" y="2112264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18%</a:t>
            </a:r>
            <a:endParaRPr lang="en-US" sz="800" dirty="0"/>
          </a:p>
        </p:txBody>
      </p:sp>
      <p:sp>
        <p:nvSpPr>
          <p:cNvPr id="95" name="Shape 90"/>
          <p:cNvSpPr/>
          <p:nvPr/>
        </p:nvSpPr>
        <p:spPr>
          <a:xfrm>
            <a:off x="3861511" y="2112264"/>
            <a:ext cx="1067105" cy="161849"/>
          </a:xfrm>
          <a:prstGeom prst="roundRect">
            <a:avLst>
              <a:gd name="adj" fmla="val 132934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6" name="Text 91"/>
          <p:cNvSpPr txBox="1"/>
          <p:nvPr/>
        </p:nvSpPr>
        <p:spPr>
          <a:xfrm>
            <a:off x="3928262" y="2140610"/>
            <a:ext cx="10104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Fortaleza da Marca</a:t>
            </a:r>
            <a:endParaRPr lang="en-US" sz="800" dirty="0"/>
          </a:p>
        </p:txBody>
      </p:sp>
      <p:sp>
        <p:nvSpPr>
          <p:cNvPr id="97" name="Text 92"/>
          <p:cNvSpPr txBox="1"/>
          <p:nvPr/>
        </p:nvSpPr>
        <p:spPr>
          <a:xfrm>
            <a:off x="809244" y="25310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1318565" y="2476195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99" name="Text 94"/>
          <p:cNvSpPr txBox="1"/>
          <p:nvPr/>
        </p:nvSpPr>
        <p:spPr>
          <a:xfrm>
            <a:off x="2081174" y="2531059"/>
            <a:ext cx="4599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160.0k</a:t>
            </a:r>
            <a:endParaRPr lang="en-US" sz="800" dirty="0"/>
          </a:p>
        </p:txBody>
      </p:sp>
      <p:sp>
        <p:nvSpPr>
          <p:cNvPr id="100" name="Text 95"/>
          <p:cNvSpPr txBox="1"/>
          <p:nvPr/>
        </p:nvSpPr>
        <p:spPr>
          <a:xfrm>
            <a:off x="3097987" y="2511857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800" dirty="0"/>
          </a:p>
        </p:txBody>
      </p:sp>
      <p:sp>
        <p:nvSpPr>
          <p:cNvPr id="101" name="Shape 96"/>
          <p:cNvSpPr/>
          <p:nvPr/>
        </p:nvSpPr>
        <p:spPr>
          <a:xfrm>
            <a:off x="3861511" y="2511857"/>
            <a:ext cx="1171346" cy="161849"/>
          </a:xfrm>
          <a:prstGeom prst="roundRect">
            <a:avLst>
              <a:gd name="adj" fmla="val 132934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02" name="Text 97"/>
          <p:cNvSpPr txBox="1"/>
          <p:nvPr/>
        </p:nvSpPr>
        <p:spPr>
          <a:xfrm>
            <a:off x="3928262" y="2541118"/>
            <a:ext cx="11146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por População</a:t>
            </a:r>
            <a:endParaRPr lang="en-US" sz="800" dirty="0"/>
          </a:p>
        </p:txBody>
      </p:sp>
      <p:sp>
        <p:nvSpPr>
          <p:cNvPr id="103" name="Text 98"/>
          <p:cNvSpPr txBox="1"/>
          <p:nvPr/>
        </p:nvSpPr>
        <p:spPr>
          <a:xfrm>
            <a:off x="809244" y="29315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800" dirty="0"/>
          </a:p>
        </p:txBody>
      </p:sp>
      <p:sp>
        <p:nvSpPr>
          <p:cNvPr id="104" name="Shape 99"/>
          <p:cNvSpPr/>
          <p:nvPr/>
        </p:nvSpPr>
        <p:spPr>
          <a:xfrm>
            <a:off x="1318565" y="2876702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05" name="Text 100"/>
          <p:cNvSpPr txBox="1"/>
          <p:nvPr/>
        </p:nvSpPr>
        <p:spPr>
          <a:xfrm>
            <a:off x="2081174" y="2931566"/>
            <a:ext cx="4599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128.0k</a:t>
            </a:r>
            <a:endParaRPr lang="en-US" sz="800" dirty="0"/>
          </a:p>
        </p:txBody>
      </p:sp>
      <p:sp>
        <p:nvSpPr>
          <p:cNvPr id="106" name="Text 101"/>
          <p:cNvSpPr txBox="1"/>
          <p:nvPr/>
        </p:nvSpPr>
        <p:spPr>
          <a:xfrm>
            <a:off x="3097987" y="2912364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800" dirty="0"/>
          </a:p>
        </p:txBody>
      </p:sp>
      <p:sp>
        <p:nvSpPr>
          <p:cNvPr id="107" name="Shape 102"/>
          <p:cNvSpPr/>
          <p:nvPr/>
        </p:nvSpPr>
        <p:spPr>
          <a:xfrm>
            <a:off x="3861511" y="2912364"/>
            <a:ext cx="1114654" cy="161849"/>
          </a:xfrm>
          <a:prstGeom prst="roundRect">
            <a:avLst>
              <a:gd name="adj" fmla="val 132934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8" name="Text 103"/>
          <p:cNvSpPr txBox="1"/>
          <p:nvPr/>
        </p:nvSpPr>
        <p:spPr>
          <a:xfrm>
            <a:off x="3928262" y="2940710"/>
            <a:ext cx="10579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Dominância Regional</a:t>
            </a:r>
            <a:endParaRPr lang="en-US" sz="800" dirty="0"/>
          </a:p>
        </p:txBody>
      </p:sp>
      <p:sp>
        <p:nvSpPr>
          <p:cNvPr id="109" name="Text 104"/>
          <p:cNvSpPr txBox="1"/>
          <p:nvPr/>
        </p:nvSpPr>
        <p:spPr>
          <a:xfrm>
            <a:off x="809244" y="33311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800" dirty="0"/>
          </a:p>
        </p:txBody>
      </p:sp>
      <p:sp>
        <p:nvSpPr>
          <p:cNvPr id="110" name="Shape 105"/>
          <p:cNvSpPr/>
          <p:nvPr/>
        </p:nvSpPr>
        <p:spPr>
          <a:xfrm>
            <a:off x="1318565" y="3276295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11" name="Text 106"/>
          <p:cNvSpPr txBox="1"/>
          <p:nvPr/>
        </p:nvSpPr>
        <p:spPr>
          <a:xfrm>
            <a:off x="2081174" y="3331159"/>
            <a:ext cx="4599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107.0k</a:t>
            </a:r>
            <a:endParaRPr lang="en-US" sz="800" dirty="0"/>
          </a:p>
        </p:txBody>
      </p:sp>
      <p:sp>
        <p:nvSpPr>
          <p:cNvPr id="112" name="Text 107"/>
          <p:cNvSpPr txBox="1"/>
          <p:nvPr/>
        </p:nvSpPr>
        <p:spPr>
          <a:xfrm>
            <a:off x="3097987" y="3311957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800" dirty="0"/>
          </a:p>
        </p:txBody>
      </p:sp>
      <p:sp>
        <p:nvSpPr>
          <p:cNvPr id="113" name="Shape 108"/>
          <p:cNvSpPr/>
          <p:nvPr/>
        </p:nvSpPr>
        <p:spPr>
          <a:xfrm>
            <a:off x="3861511" y="3311957"/>
            <a:ext cx="857707" cy="161849"/>
          </a:xfrm>
          <a:prstGeom prst="roundRect">
            <a:avLst>
              <a:gd name="adj" fmla="val 132934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4" name="Text 109"/>
          <p:cNvSpPr txBox="1"/>
          <p:nvPr/>
        </p:nvSpPr>
        <p:spPr>
          <a:xfrm>
            <a:off x="3928262" y="3341218"/>
            <a:ext cx="8001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Berço da Marca</a:t>
            </a:r>
            <a:endParaRPr lang="en-US" sz="800" dirty="0"/>
          </a:p>
        </p:txBody>
      </p:sp>
      <p:sp>
        <p:nvSpPr>
          <p:cNvPr id="115" name="Text 110"/>
          <p:cNvSpPr txBox="1"/>
          <p:nvPr/>
        </p:nvSpPr>
        <p:spPr>
          <a:xfrm>
            <a:off x="809244" y="37316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800" dirty="0"/>
          </a:p>
        </p:txBody>
      </p:sp>
      <p:sp>
        <p:nvSpPr>
          <p:cNvPr id="116" name="Shape 111"/>
          <p:cNvSpPr/>
          <p:nvPr/>
        </p:nvSpPr>
        <p:spPr>
          <a:xfrm>
            <a:off x="1318565" y="3676802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17" name="Text 112"/>
          <p:cNvSpPr txBox="1"/>
          <p:nvPr/>
        </p:nvSpPr>
        <p:spPr>
          <a:xfrm>
            <a:off x="2081174" y="37316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85.0k</a:t>
            </a:r>
            <a:endParaRPr lang="en-US" sz="800" dirty="0"/>
          </a:p>
        </p:txBody>
      </p:sp>
      <p:sp>
        <p:nvSpPr>
          <p:cNvPr id="118" name="Text 113"/>
          <p:cNvSpPr txBox="1"/>
          <p:nvPr/>
        </p:nvSpPr>
        <p:spPr>
          <a:xfrm>
            <a:off x="3097987" y="37124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8%</a:t>
            </a:r>
            <a:endParaRPr lang="en-US" sz="800" dirty="0"/>
          </a:p>
        </p:txBody>
      </p:sp>
      <p:sp>
        <p:nvSpPr>
          <p:cNvPr id="119" name="Shape 114"/>
          <p:cNvSpPr/>
          <p:nvPr/>
        </p:nvSpPr>
        <p:spPr>
          <a:xfrm>
            <a:off x="3861511" y="3712464"/>
            <a:ext cx="961949" cy="161849"/>
          </a:xfrm>
          <a:prstGeom prst="roundRect">
            <a:avLst>
              <a:gd name="adj" fmla="val 132934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20" name="Text 115"/>
          <p:cNvSpPr txBox="1"/>
          <p:nvPr/>
        </p:nvSpPr>
        <p:spPr>
          <a:xfrm>
            <a:off x="3928262" y="3740810"/>
            <a:ext cx="9052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Penetração Média</a:t>
            </a:r>
            <a:endParaRPr lang="en-US" sz="800" dirty="0"/>
          </a:p>
        </p:txBody>
      </p:sp>
      <p:sp>
        <p:nvSpPr>
          <p:cNvPr id="121" name="Text 116"/>
          <p:cNvSpPr txBox="1"/>
          <p:nvPr/>
        </p:nvSpPr>
        <p:spPr>
          <a:xfrm>
            <a:off x="809244" y="41312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800" dirty="0"/>
          </a:p>
        </p:txBody>
      </p:sp>
      <p:sp>
        <p:nvSpPr>
          <p:cNvPr id="122" name="Shape 117"/>
          <p:cNvSpPr/>
          <p:nvPr/>
        </p:nvSpPr>
        <p:spPr>
          <a:xfrm>
            <a:off x="1318565" y="4076395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23" name="Text 118"/>
          <p:cNvSpPr txBox="1"/>
          <p:nvPr/>
        </p:nvSpPr>
        <p:spPr>
          <a:xfrm>
            <a:off x="2081174" y="41312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75.0k</a:t>
            </a:r>
            <a:endParaRPr lang="en-US" sz="800" dirty="0"/>
          </a:p>
        </p:txBody>
      </p:sp>
      <p:sp>
        <p:nvSpPr>
          <p:cNvPr id="124" name="Text 119"/>
          <p:cNvSpPr txBox="1"/>
          <p:nvPr/>
        </p:nvSpPr>
        <p:spPr>
          <a:xfrm>
            <a:off x="3097987" y="41120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7%</a:t>
            </a:r>
            <a:endParaRPr lang="en-US" sz="800" dirty="0"/>
          </a:p>
        </p:txBody>
      </p:sp>
      <p:sp>
        <p:nvSpPr>
          <p:cNvPr id="125" name="Shape 120"/>
          <p:cNvSpPr/>
          <p:nvPr/>
        </p:nvSpPr>
        <p:spPr>
          <a:xfrm>
            <a:off x="3861511" y="4112057"/>
            <a:ext cx="1114654" cy="161849"/>
          </a:xfrm>
          <a:prstGeom prst="roundRect">
            <a:avLst>
              <a:gd name="adj" fmla="val 132934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6" name="Text 121"/>
          <p:cNvSpPr txBox="1"/>
          <p:nvPr/>
        </p:nvSpPr>
        <p:spPr>
          <a:xfrm>
            <a:off x="3928262" y="4141318"/>
            <a:ext cx="10579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759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Crescimento Recente</a:t>
            </a:r>
            <a:endParaRPr lang="en-US" sz="800" dirty="0"/>
          </a:p>
        </p:txBody>
      </p:sp>
      <p:sp>
        <p:nvSpPr>
          <p:cNvPr id="127" name="Text 122"/>
          <p:cNvSpPr txBox="1"/>
          <p:nvPr/>
        </p:nvSpPr>
        <p:spPr>
          <a:xfrm>
            <a:off x="809244" y="45317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800" dirty="0"/>
          </a:p>
        </p:txBody>
      </p:sp>
      <p:sp>
        <p:nvSpPr>
          <p:cNvPr id="128" name="Shape 123"/>
          <p:cNvSpPr/>
          <p:nvPr/>
        </p:nvSpPr>
        <p:spPr>
          <a:xfrm>
            <a:off x="1318565" y="4476902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29" name="Text 124"/>
          <p:cNvSpPr txBox="1"/>
          <p:nvPr/>
        </p:nvSpPr>
        <p:spPr>
          <a:xfrm>
            <a:off x="2081174" y="45317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64.0k</a:t>
            </a:r>
            <a:endParaRPr lang="en-US" sz="800" dirty="0"/>
          </a:p>
        </p:txBody>
      </p:sp>
      <p:sp>
        <p:nvSpPr>
          <p:cNvPr id="130" name="Text 125"/>
          <p:cNvSpPr txBox="1"/>
          <p:nvPr/>
        </p:nvSpPr>
        <p:spPr>
          <a:xfrm>
            <a:off x="3097987" y="45125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</a:t>
            </a:r>
            <a:endParaRPr lang="en-US" sz="800" dirty="0"/>
          </a:p>
        </p:txBody>
      </p:sp>
      <p:sp>
        <p:nvSpPr>
          <p:cNvPr id="131" name="Shape 126"/>
          <p:cNvSpPr/>
          <p:nvPr/>
        </p:nvSpPr>
        <p:spPr>
          <a:xfrm>
            <a:off x="3861511" y="4512564"/>
            <a:ext cx="914400" cy="161849"/>
          </a:xfrm>
          <a:prstGeom prst="roundRect">
            <a:avLst>
              <a:gd name="adj" fmla="val 132934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32" name="Text 127"/>
          <p:cNvSpPr txBox="1"/>
          <p:nvPr/>
        </p:nvSpPr>
        <p:spPr>
          <a:xfrm>
            <a:off x="3928262" y="4540910"/>
            <a:ext cx="857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Sul Competitivo</a:t>
            </a:r>
            <a:endParaRPr lang="en-US" sz="800" dirty="0"/>
          </a:p>
        </p:txBody>
      </p:sp>
      <p:sp>
        <p:nvSpPr>
          <p:cNvPr id="133" name="Text 128"/>
          <p:cNvSpPr txBox="1"/>
          <p:nvPr/>
        </p:nvSpPr>
        <p:spPr>
          <a:xfrm>
            <a:off x="809244" y="49313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800" dirty="0"/>
          </a:p>
        </p:txBody>
      </p:sp>
      <p:sp>
        <p:nvSpPr>
          <p:cNvPr id="134" name="Shape 129"/>
          <p:cNvSpPr/>
          <p:nvPr/>
        </p:nvSpPr>
        <p:spPr>
          <a:xfrm>
            <a:off x="1318565" y="4876495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35" name="Text 130"/>
          <p:cNvSpPr txBox="1"/>
          <p:nvPr/>
        </p:nvSpPr>
        <p:spPr>
          <a:xfrm>
            <a:off x="2081174" y="49313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64.0k</a:t>
            </a:r>
            <a:endParaRPr lang="en-US" sz="800" dirty="0"/>
          </a:p>
        </p:txBody>
      </p:sp>
      <p:sp>
        <p:nvSpPr>
          <p:cNvPr id="136" name="Text 131"/>
          <p:cNvSpPr txBox="1"/>
          <p:nvPr/>
        </p:nvSpPr>
        <p:spPr>
          <a:xfrm>
            <a:off x="3097987" y="49121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</a:t>
            </a:r>
            <a:endParaRPr lang="en-US" sz="800" dirty="0"/>
          </a:p>
        </p:txBody>
      </p:sp>
      <p:sp>
        <p:nvSpPr>
          <p:cNvPr id="137" name="Shape 132"/>
          <p:cNvSpPr/>
          <p:nvPr/>
        </p:nvSpPr>
        <p:spPr>
          <a:xfrm>
            <a:off x="3861511" y="4912157"/>
            <a:ext cx="857707" cy="161849"/>
          </a:xfrm>
          <a:prstGeom prst="roundRect">
            <a:avLst>
              <a:gd name="adj" fmla="val 132934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38" name="Text 133"/>
          <p:cNvSpPr txBox="1"/>
          <p:nvPr/>
        </p:nvSpPr>
        <p:spPr>
          <a:xfrm>
            <a:off x="3928262" y="4941418"/>
            <a:ext cx="8001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Mercado Maduro</a:t>
            </a:r>
            <a:endParaRPr lang="en-US" sz="800" dirty="0"/>
          </a:p>
        </p:txBody>
      </p:sp>
      <p:sp>
        <p:nvSpPr>
          <p:cNvPr id="139" name="Text 134"/>
          <p:cNvSpPr txBox="1"/>
          <p:nvPr/>
        </p:nvSpPr>
        <p:spPr>
          <a:xfrm>
            <a:off x="809244" y="53318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800" dirty="0"/>
          </a:p>
        </p:txBody>
      </p:sp>
      <p:sp>
        <p:nvSpPr>
          <p:cNvPr id="140" name="Shape 135"/>
          <p:cNvSpPr/>
          <p:nvPr/>
        </p:nvSpPr>
        <p:spPr>
          <a:xfrm>
            <a:off x="1318565" y="5277002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41" name="Text 136"/>
          <p:cNvSpPr txBox="1"/>
          <p:nvPr/>
        </p:nvSpPr>
        <p:spPr>
          <a:xfrm>
            <a:off x="2081174" y="53318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43.0k</a:t>
            </a:r>
            <a:endParaRPr lang="en-US" sz="800" dirty="0"/>
          </a:p>
        </p:txBody>
      </p:sp>
      <p:sp>
        <p:nvSpPr>
          <p:cNvPr id="142" name="Text 137"/>
          <p:cNvSpPr txBox="1"/>
          <p:nvPr/>
        </p:nvSpPr>
        <p:spPr>
          <a:xfrm>
            <a:off x="3097987" y="53126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4%</a:t>
            </a:r>
            <a:endParaRPr lang="en-US" sz="800" dirty="0"/>
          </a:p>
        </p:txBody>
      </p:sp>
      <p:sp>
        <p:nvSpPr>
          <p:cNvPr id="143" name="Shape 138"/>
          <p:cNvSpPr/>
          <p:nvPr/>
        </p:nvSpPr>
        <p:spPr>
          <a:xfrm>
            <a:off x="3861511" y="5312664"/>
            <a:ext cx="705002" cy="161849"/>
          </a:xfrm>
          <a:prstGeom prst="roundRect">
            <a:avLst>
              <a:gd name="adj" fmla="val 132934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4" name="Text 139"/>
          <p:cNvSpPr txBox="1"/>
          <p:nvPr/>
        </p:nvSpPr>
        <p:spPr>
          <a:xfrm>
            <a:off x="3928262" y="5341010"/>
            <a:ext cx="6483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759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Expansão</a:t>
            </a:r>
            <a:endParaRPr lang="en-US" sz="800" dirty="0"/>
          </a:p>
        </p:txBody>
      </p:sp>
      <p:sp>
        <p:nvSpPr>
          <p:cNvPr id="145" name="Text 140"/>
          <p:cNvSpPr txBox="1"/>
          <p:nvPr/>
        </p:nvSpPr>
        <p:spPr>
          <a:xfrm>
            <a:off x="809244" y="57314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800" dirty="0"/>
          </a:p>
        </p:txBody>
      </p:sp>
      <p:sp>
        <p:nvSpPr>
          <p:cNvPr id="146" name="Shape 141"/>
          <p:cNvSpPr/>
          <p:nvPr/>
        </p:nvSpPr>
        <p:spPr>
          <a:xfrm>
            <a:off x="1318565" y="5676595"/>
            <a:ext cx="228600" cy="228600"/>
          </a:xfrm>
          <a:prstGeom prst="ellipse">
            <a:avLst/>
          </a:prstGeom>
          <a:solidFill>
            <a:srgbClr val="224088"/>
          </a:solidFill>
          <a:ln/>
        </p:spPr>
      </p:sp>
      <p:sp>
        <p:nvSpPr>
          <p:cNvPr id="147" name="Text 142"/>
          <p:cNvSpPr txBox="1"/>
          <p:nvPr/>
        </p:nvSpPr>
        <p:spPr>
          <a:xfrm>
            <a:off x="2081174" y="57314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32.0k</a:t>
            </a:r>
            <a:endParaRPr lang="en-US" sz="800" dirty="0"/>
          </a:p>
        </p:txBody>
      </p:sp>
      <p:sp>
        <p:nvSpPr>
          <p:cNvPr id="148" name="Text 143"/>
          <p:cNvSpPr txBox="1"/>
          <p:nvPr/>
        </p:nvSpPr>
        <p:spPr>
          <a:xfrm>
            <a:off x="3097987" y="57122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800" dirty="0"/>
          </a:p>
        </p:txBody>
      </p:sp>
      <p:sp>
        <p:nvSpPr>
          <p:cNvPr id="149" name="Shape 144"/>
          <p:cNvSpPr/>
          <p:nvPr/>
        </p:nvSpPr>
        <p:spPr>
          <a:xfrm>
            <a:off x="3861511" y="5712257"/>
            <a:ext cx="752551" cy="161849"/>
          </a:xfrm>
          <a:prstGeom prst="roundRect">
            <a:avLst>
              <a:gd name="adj" fmla="val 132934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0" name="Text 145"/>
          <p:cNvSpPr txBox="1"/>
          <p:nvPr/>
        </p:nvSpPr>
        <p:spPr>
          <a:xfrm>
            <a:off x="3928262" y="5741518"/>
            <a:ext cx="6958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759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Centro-Oeste</a:t>
            </a:r>
            <a:endParaRPr lang="en-US" sz="800" dirty="0"/>
          </a:p>
        </p:txBody>
      </p:sp>
      <p:pic>
        <p:nvPicPr>
          <p:cNvPr id="151" name="Image 3" descr="preencoded.png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6439205" y="1371600"/>
            <a:ext cx="171907" cy="152705"/>
          </a:xfrm>
          <a:prstGeom prst="rect">
            <a:avLst/>
          </a:prstGeom>
        </p:spPr>
      </p:pic>
      <p:sp>
        <p:nvSpPr>
          <p:cNvPr id="152" name="Text 146"/>
          <p:cNvSpPr txBox="1"/>
          <p:nvPr/>
        </p:nvSpPr>
        <p:spPr>
          <a:xfrm>
            <a:off x="6801307" y="1218895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CONCENTRAÇÃO REGIONAL ESTRATÉGICA</a:t>
            </a:r>
            <a:endParaRPr lang="en-US" sz="1000" dirty="0"/>
          </a:p>
        </p:txBody>
      </p:sp>
      <p:sp>
        <p:nvSpPr>
          <p:cNvPr id="153" name="Shape 147"/>
          <p:cNvSpPr/>
          <p:nvPr/>
        </p:nvSpPr>
        <p:spPr>
          <a:xfrm>
            <a:off x="6210605" y="2609698"/>
            <a:ext cx="5410505" cy="3524098"/>
          </a:xfrm>
          <a:prstGeom prst="roundRect">
            <a:avLst>
              <a:gd name="adj" fmla="val 56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224088">
                <a:alpha val="10000"/>
              </a:srgbClr>
            </a:solidFill>
            <a:prstDash val="solid"/>
          </a:ln>
        </p:spPr>
      </p:sp>
      <p:pic>
        <p:nvPicPr>
          <p:cNvPr id="15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72454" y="2809951"/>
            <a:ext cx="152705" cy="152705"/>
          </a:xfrm>
          <a:prstGeom prst="rect">
            <a:avLst/>
          </a:prstGeom>
        </p:spPr>
      </p:pic>
      <p:sp>
        <p:nvSpPr>
          <p:cNvPr id="155" name="Text 148"/>
          <p:cNvSpPr txBox="1"/>
          <p:nvPr/>
        </p:nvSpPr>
        <p:spPr>
          <a:xfrm>
            <a:off x="6601054" y="2790749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COMPARATIVO (TOP 10)</a:t>
            </a:r>
            <a:endParaRPr lang="en-US" sz="1000" dirty="0"/>
          </a:p>
        </p:txBody>
      </p:sp>
      <p:sp>
        <p:nvSpPr>
          <p:cNvPr id="156" name="Text 149"/>
          <p:cNvSpPr txBox="1"/>
          <p:nvPr/>
        </p:nvSpPr>
        <p:spPr>
          <a:xfrm>
            <a:off x="9538106" y="2800807"/>
            <a:ext cx="2039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Unidade: Milhares (k)</a:t>
            </a:r>
            <a:endParaRPr lang="en-US" sz="1200" dirty="0"/>
          </a:p>
        </p:txBody>
      </p:sp>
      <p:pic>
        <p:nvPicPr>
          <p:cNvPr id="15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" b="-1"/>
          <a:stretch/>
        </p:blipFill>
        <p:spPr>
          <a:xfrm>
            <a:off x="6372454" y="3076956"/>
            <a:ext cx="5086807" cy="28959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10605"/>
            <a:ext cx="11048695" cy="9144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77" r="-1677" t="0" b="0"/>
          <a:stretch/>
        </p:blipFill>
        <p:spPr>
          <a:xfrm>
            <a:off x="571500" y="6448349"/>
            <a:ext cx="95098" cy="1051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407" y="6421831"/>
            <a:ext cx="6936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baseada em: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População (IBGE), PIB per capita, Penetração de Planos (ANS), Poder Aquisitivo Regional.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727948" y="6421831"/>
            <a:ext cx="29745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estimados por correlação econômica.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237744"/>
            <a:ext cx="78391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DEMANDA REGIONAL — KEYWORDS TRANSACIONAIS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9029700" y="390449"/>
            <a:ext cx="2600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TOTAL TRANSACIONAL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77856" y="580644"/>
            <a:ext cx="10241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192.5k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0" r="0" t="0" b="0"/>
          <a:stretch/>
        </p:blipFill>
        <p:spPr>
          <a:xfrm>
            <a:off x="571500" y="733349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9302" y="685800"/>
            <a:ext cx="62444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Distribuição baseada em PIB per capita + poder aquisitivo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200486" y="76169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4088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71500" y="1104595"/>
            <a:ext cx="5410505" cy="5029200"/>
          </a:xfrm>
          <a:prstGeom prst="roundRect">
            <a:avLst>
              <a:gd name="adj" fmla="val 27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57325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3349" y="1533449"/>
            <a:ext cx="50868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3349" y="1285646"/>
            <a:ext cx="152705" cy="1527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3349" y="1952244"/>
            <a:ext cx="514807" cy="19202"/>
          </a:xfrm>
          <a:prstGeom prst="rect">
            <a:avLst/>
          </a:prstGeom>
          <a:solidFill>
            <a:srgbClr val="F57325">
              <a:alpha val="2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1241755" y="1952244"/>
            <a:ext cx="771754" cy="19202"/>
          </a:xfrm>
          <a:prstGeom prst="rect">
            <a:avLst/>
          </a:prstGeom>
          <a:solidFill>
            <a:srgbClr val="F57325">
              <a:alpha val="2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2005279" y="1952244"/>
            <a:ext cx="1019556" cy="19202"/>
          </a:xfrm>
          <a:prstGeom prst="rect">
            <a:avLst/>
          </a:prstGeom>
          <a:solidFill>
            <a:srgbClr val="F57325">
              <a:alpha val="2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3022092" y="1952244"/>
            <a:ext cx="771754" cy="19202"/>
          </a:xfrm>
          <a:prstGeom prst="rect">
            <a:avLst/>
          </a:prstGeom>
          <a:solidFill>
            <a:srgbClr val="F57325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3784702" y="1952244"/>
            <a:ext cx="2038198" cy="19202"/>
          </a:xfrm>
          <a:prstGeom prst="rect">
            <a:avLst/>
          </a:prstGeom>
          <a:solidFill>
            <a:srgbClr val="F57325">
              <a:alpha val="2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733349" y="2009851"/>
            <a:ext cx="514807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241755" y="20098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375258" y="21195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005279" y="20098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022092" y="20098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784702" y="20098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33349" y="24094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241755" y="24094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375258" y="25191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RJ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005279" y="24094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022092" y="24094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784702" y="24094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3349" y="28099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241755" y="28099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375258" y="29196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2005279" y="28099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022092" y="28099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784702" y="28099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33349" y="32095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241755" y="32095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375258" y="33192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2005279" y="32095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022092" y="32095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784702" y="32095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33349" y="36100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41755" y="36100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375258" y="37197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2005279" y="36100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022092" y="36100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3784702" y="36100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3349" y="40096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41755" y="40096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1375258" y="41193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2005279" y="40096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022092" y="40096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3784702" y="40096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33349" y="44101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241755" y="44101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1375258" y="45198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2005279" y="44101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3022092" y="44101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3784702" y="44101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733349" y="48097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241755" y="48097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1375258" y="49194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2005279" y="48097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3022092" y="48097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3784702" y="48097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733349" y="52102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1241755" y="52102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1375258" y="53199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>
            <a:off x="2005279" y="52102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3022092" y="52102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3784702" y="52102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733349" y="56098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1241755" y="56098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1375258" y="57195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endParaRPr lang="en-US" sz="800" dirty="0"/>
          </a:p>
        </p:txBody>
      </p:sp>
      <p:sp>
        <p:nvSpPr>
          <p:cNvPr id="78" name="Shape 73"/>
          <p:cNvSpPr/>
          <p:nvPr/>
        </p:nvSpPr>
        <p:spPr>
          <a:xfrm>
            <a:off x="2005279" y="56098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3022092" y="56098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3784702" y="56098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210605" y="1104595"/>
            <a:ext cx="5410505" cy="1200607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82" name="Shape 77"/>
          <p:cNvSpPr/>
          <p:nvPr/>
        </p:nvSpPr>
        <p:spPr>
          <a:xfrm>
            <a:off x="6210605" y="1104595"/>
            <a:ext cx="38405" cy="1200607"/>
          </a:xfrm>
          <a:prstGeom prst="rect">
            <a:avLst/>
          </a:prstGeom>
          <a:solidFill>
            <a:srgbClr val="F57325"/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6782105" y="1447495"/>
            <a:ext cx="48106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Sudeste + Sul (SP+RJ+MG+RS+PR+SC) concentram 83%</a:t>
            </a:r>
            <a:pPr algn="l" indent="0" marL="0">
              <a:buNone/>
            </a:pPr>
            <a:r>
              <a:rPr lang="en-US" sz="90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 demanda transacional. O dinheiro está aqui. A ausência da Hapvida em keywords genéricas nestas regiões significa perder o cliente de maior LTV do país para Amil e Bradesco.</a:t>
            </a:r>
            <a:endParaRPr lang="en-US" sz="900" dirty="0"/>
          </a:p>
        </p:txBody>
      </p:sp>
      <p:sp>
        <p:nvSpPr>
          <p:cNvPr id="84" name="Text 79"/>
          <p:cNvSpPr txBox="1"/>
          <p:nvPr/>
        </p:nvSpPr>
        <p:spPr>
          <a:xfrm>
            <a:off x="961949" y="1266444"/>
            <a:ext cx="28245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10 ESTADOS (RANKING ECONÔMICO)</a:t>
            </a:r>
            <a:endParaRPr 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809244" y="1762049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00" dirty="0"/>
          </a:p>
        </p:txBody>
      </p:sp>
      <p:sp>
        <p:nvSpPr>
          <p:cNvPr id="86" name="Text 81"/>
          <p:cNvSpPr txBox="1"/>
          <p:nvPr/>
        </p:nvSpPr>
        <p:spPr>
          <a:xfrm>
            <a:off x="1318565" y="1762049"/>
            <a:ext cx="457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00" dirty="0"/>
          </a:p>
        </p:txBody>
      </p:sp>
      <p:sp>
        <p:nvSpPr>
          <p:cNvPr id="87" name="Text 82"/>
          <p:cNvSpPr txBox="1"/>
          <p:nvPr/>
        </p:nvSpPr>
        <p:spPr>
          <a:xfrm>
            <a:off x="2081174" y="1762049"/>
            <a:ext cx="7050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VOLUME/MÊS</a:t>
            </a:r>
            <a:endParaRPr lang="en-US" sz="800" dirty="0"/>
          </a:p>
        </p:txBody>
      </p:sp>
      <p:sp>
        <p:nvSpPr>
          <p:cNvPr id="88" name="Text 83"/>
          <p:cNvSpPr txBox="1"/>
          <p:nvPr/>
        </p:nvSpPr>
        <p:spPr>
          <a:xfrm>
            <a:off x="3097987" y="1762049"/>
            <a:ext cx="5148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TOTAL</a:t>
            </a:r>
            <a:endParaRPr lang="en-US" sz="800" dirty="0"/>
          </a:p>
        </p:txBody>
      </p:sp>
      <p:sp>
        <p:nvSpPr>
          <p:cNvPr id="89" name="Text 84"/>
          <p:cNvSpPr txBox="1"/>
          <p:nvPr/>
        </p:nvSpPr>
        <p:spPr>
          <a:xfrm>
            <a:off x="3861511" y="1762049"/>
            <a:ext cx="11338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ECONÔMICO</a:t>
            </a:r>
            <a:endParaRPr lang="en-US" sz="800" dirty="0"/>
          </a:p>
        </p:txBody>
      </p:sp>
      <p:sp>
        <p:nvSpPr>
          <p:cNvPr id="90" name="Text 85"/>
          <p:cNvSpPr txBox="1"/>
          <p:nvPr/>
        </p:nvSpPr>
        <p:spPr>
          <a:xfrm>
            <a:off x="809244" y="21314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800" dirty="0"/>
          </a:p>
        </p:txBody>
      </p:sp>
      <p:sp>
        <p:nvSpPr>
          <p:cNvPr id="91" name="Shape 86"/>
          <p:cNvSpPr/>
          <p:nvPr/>
        </p:nvSpPr>
        <p:spPr>
          <a:xfrm>
            <a:off x="1318565" y="2076602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92" name="Text 87"/>
          <p:cNvSpPr txBox="1"/>
          <p:nvPr/>
        </p:nvSpPr>
        <p:spPr>
          <a:xfrm>
            <a:off x="2081174" y="21314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67.4k</a:t>
            </a:r>
            <a:endParaRPr lang="en-US" sz="800" dirty="0"/>
          </a:p>
        </p:txBody>
      </p:sp>
      <p:sp>
        <p:nvSpPr>
          <p:cNvPr id="93" name="Text 88"/>
          <p:cNvSpPr txBox="1"/>
          <p:nvPr/>
        </p:nvSpPr>
        <p:spPr>
          <a:xfrm>
            <a:off x="3097987" y="2112264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800" dirty="0"/>
          </a:p>
        </p:txBody>
      </p:sp>
      <p:sp>
        <p:nvSpPr>
          <p:cNvPr id="94" name="Shape 89"/>
          <p:cNvSpPr/>
          <p:nvPr/>
        </p:nvSpPr>
        <p:spPr>
          <a:xfrm>
            <a:off x="3861511" y="2112264"/>
            <a:ext cx="961949" cy="161849"/>
          </a:xfrm>
          <a:prstGeom prst="roundRect">
            <a:avLst>
              <a:gd name="adj" fmla="val 1329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5" name="Text 90"/>
          <p:cNvSpPr txBox="1"/>
          <p:nvPr/>
        </p:nvSpPr>
        <p:spPr>
          <a:xfrm>
            <a:off x="3928262" y="2140610"/>
            <a:ext cx="9052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 Econômico</a:t>
            </a:r>
            <a:endParaRPr lang="en-US" sz="800" dirty="0"/>
          </a:p>
        </p:txBody>
      </p:sp>
      <p:sp>
        <p:nvSpPr>
          <p:cNvPr id="96" name="Text 91"/>
          <p:cNvSpPr txBox="1"/>
          <p:nvPr/>
        </p:nvSpPr>
        <p:spPr>
          <a:xfrm>
            <a:off x="809244" y="25310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800" dirty="0"/>
          </a:p>
        </p:txBody>
      </p:sp>
      <p:sp>
        <p:nvSpPr>
          <p:cNvPr id="97" name="Shape 92"/>
          <p:cNvSpPr/>
          <p:nvPr/>
        </p:nvSpPr>
        <p:spPr>
          <a:xfrm>
            <a:off x="1318565" y="2476195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98" name="Text 93"/>
          <p:cNvSpPr txBox="1"/>
          <p:nvPr/>
        </p:nvSpPr>
        <p:spPr>
          <a:xfrm>
            <a:off x="2081174" y="25310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27.0k</a:t>
            </a:r>
            <a:endParaRPr lang="en-US" sz="800" dirty="0"/>
          </a:p>
        </p:txBody>
      </p:sp>
      <p:sp>
        <p:nvSpPr>
          <p:cNvPr id="99" name="Text 94"/>
          <p:cNvSpPr txBox="1"/>
          <p:nvPr/>
        </p:nvSpPr>
        <p:spPr>
          <a:xfrm>
            <a:off x="3097987" y="2511857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14%</a:t>
            </a:r>
            <a:endParaRPr lang="en-US" sz="800" dirty="0"/>
          </a:p>
        </p:txBody>
      </p:sp>
      <p:sp>
        <p:nvSpPr>
          <p:cNvPr id="100" name="Shape 95"/>
          <p:cNvSpPr/>
          <p:nvPr/>
        </p:nvSpPr>
        <p:spPr>
          <a:xfrm>
            <a:off x="3861511" y="2511857"/>
            <a:ext cx="657454" cy="161849"/>
          </a:xfrm>
          <a:prstGeom prst="roundRect">
            <a:avLst>
              <a:gd name="adj" fmla="val 1329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1" name="Text 96"/>
          <p:cNvSpPr txBox="1"/>
          <p:nvPr/>
        </p:nvSpPr>
        <p:spPr>
          <a:xfrm>
            <a:off x="3928262" y="2541118"/>
            <a:ext cx="6007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 Renda</a:t>
            </a:r>
            <a:endParaRPr lang="en-US" sz="800" dirty="0"/>
          </a:p>
        </p:txBody>
      </p:sp>
      <p:sp>
        <p:nvSpPr>
          <p:cNvPr id="102" name="Text 97"/>
          <p:cNvSpPr txBox="1"/>
          <p:nvPr/>
        </p:nvSpPr>
        <p:spPr>
          <a:xfrm>
            <a:off x="809244" y="29315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800" dirty="0"/>
          </a:p>
        </p:txBody>
      </p:sp>
      <p:sp>
        <p:nvSpPr>
          <p:cNvPr id="103" name="Shape 98"/>
          <p:cNvSpPr/>
          <p:nvPr/>
        </p:nvSpPr>
        <p:spPr>
          <a:xfrm>
            <a:off x="1318565" y="2876702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04" name="Text 99"/>
          <p:cNvSpPr txBox="1"/>
          <p:nvPr/>
        </p:nvSpPr>
        <p:spPr>
          <a:xfrm>
            <a:off x="2081174" y="29315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21.2k</a:t>
            </a:r>
            <a:endParaRPr lang="en-US" sz="800" dirty="0"/>
          </a:p>
        </p:txBody>
      </p:sp>
      <p:sp>
        <p:nvSpPr>
          <p:cNvPr id="105" name="Text 100"/>
          <p:cNvSpPr txBox="1"/>
          <p:nvPr/>
        </p:nvSpPr>
        <p:spPr>
          <a:xfrm>
            <a:off x="3097987" y="2912364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11%</a:t>
            </a:r>
            <a:endParaRPr lang="en-US" sz="800" dirty="0"/>
          </a:p>
        </p:txBody>
      </p:sp>
      <p:sp>
        <p:nvSpPr>
          <p:cNvPr id="106" name="Shape 101"/>
          <p:cNvSpPr/>
          <p:nvPr/>
        </p:nvSpPr>
        <p:spPr>
          <a:xfrm>
            <a:off x="3861511" y="2912364"/>
            <a:ext cx="914400" cy="161849"/>
          </a:xfrm>
          <a:prstGeom prst="roundRect">
            <a:avLst>
              <a:gd name="adj" fmla="val 132934"/>
            </a:avLst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07" name="Text 102"/>
          <p:cNvSpPr txBox="1"/>
          <p:nvPr/>
        </p:nvSpPr>
        <p:spPr>
          <a:xfrm>
            <a:off x="3928262" y="2940710"/>
            <a:ext cx="857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Polo Industrial</a:t>
            </a:r>
            <a:endParaRPr lang="en-US" sz="800" dirty="0"/>
          </a:p>
        </p:txBody>
      </p:sp>
      <p:sp>
        <p:nvSpPr>
          <p:cNvPr id="108" name="Text 103"/>
          <p:cNvSpPr txBox="1"/>
          <p:nvPr/>
        </p:nvSpPr>
        <p:spPr>
          <a:xfrm>
            <a:off x="809244" y="33311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800" dirty="0"/>
          </a:p>
        </p:txBody>
      </p:sp>
      <p:sp>
        <p:nvSpPr>
          <p:cNvPr id="109" name="Shape 104"/>
          <p:cNvSpPr/>
          <p:nvPr/>
        </p:nvSpPr>
        <p:spPr>
          <a:xfrm>
            <a:off x="1318565" y="3276295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10" name="Text 105"/>
          <p:cNvSpPr txBox="1"/>
          <p:nvPr/>
        </p:nvSpPr>
        <p:spPr>
          <a:xfrm>
            <a:off x="2081174" y="33311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17.3k</a:t>
            </a:r>
            <a:endParaRPr lang="en-US" sz="800" dirty="0"/>
          </a:p>
        </p:txBody>
      </p:sp>
      <p:sp>
        <p:nvSpPr>
          <p:cNvPr id="111" name="Text 106"/>
          <p:cNvSpPr txBox="1"/>
          <p:nvPr/>
        </p:nvSpPr>
        <p:spPr>
          <a:xfrm>
            <a:off x="3097987" y="33119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9%</a:t>
            </a:r>
            <a:endParaRPr lang="en-US" sz="800" dirty="0"/>
          </a:p>
        </p:txBody>
      </p:sp>
      <p:sp>
        <p:nvSpPr>
          <p:cNvPr id="112" name="Shape 107"/>
          <p:cNvSpPr/>
          <p:nvPr/>
        </p:nvSpPr>
        <p:spPr>
          <a:xfrm>
            <a:off x="3861511" y="3311957"/>
            <a:ext cx="961949" cy="161849"/>
          </a:xfrm>
          <a:prstGeom prst="roundRect">
            <a:avLst>
              <a:gd name="adj" fmla="val 132934"/>
            </a:avLst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13" name="Text 108"/>
          <p:cNvSpPr txBox="1"/>
          <p:nvPr/>
        </p:nvSpPr>
        <p:spPr>
          <a:xfrm>
            <a:off x="3928262" y="3341218"/>
            <a:ext cx="9052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Poder Aquisitivo</a:t>
            </a:r>
            <a:endParaRPr lang="en-US" sz="800" dirty="0"/>
          </a:p>
        </p:txBody>
      </p:sp>
      <p:sp>
        <p:nvSpPr>
          <p:cNvPr id="114" name="Text 109"/>
          <p:cNvSpPr txBox="1"/>
          <p:nvPr/>
        </p:nvSpPr>
        <p:spPr>
          <a:xfrm>
            <a:off x="809244" y="37316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800" dirty="0"/>
          </a:p>
        </p:txBody>
      </p:sp>
      <p:sp>
        <p:nvSpPr>
          <p:cNvPr id="115" name="Shape 110"/>
          <p:cNvSpPr/>
          <p:nvPr/>
        </p:nvSpPr>
        <p:spPr>
          <a:xfrm>
            <a:off x="1318565" y="3676802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16" name="Text 111"/>
          <p:cNvSpPr txBox="1"/>
          <p:nvPr/>
        </p:nvSpPr>
        <p:spPr>
          <a:xfrm>
            <a:off x="2081174" y="37316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15.4k</a:t>
            </a:r>
            <a:endParaRPr lang="en-US" sz="800" dirty="0"/>
          </a:p>
        </p:txBody>
      </p:sp>
      <p:sp>
        <p:nvSpPr>
          <p:cNvPr id="117" name="Text 112"/>
          <p:cNvSpPr txBox="1"/>
          <p:nvPr/>
        </p:nvSpPr>
        <p:spPr>
          <a:xfrm>
            <a:off x="3097987" y="37124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8%</a:t>
            </a:r>
            <a:endParaRPr lang="en-US" sz="800" dirty="0"/>
          </a:p>
        </p:txBody>
      </p:sp>
      <p:sp>
        <p:nvSpPr>
          <p:cNvPr id="118" name="Shape 113"/>
          <p:cNvSpPr/>
          <p:nvPr/>
        </p:nvSpPr>
        <p:spPr>
          <a:xfrm>
            <a:off x="3861511" y="3712464"/>
            <a:ext cx="809244" cy="161849"/>
          </a:xfrm>
          <a:prstGeom prst="roundRect">
            <a:avLst>
              <a:gd name="adj" fmla="val 132934"/>
            </a:avLst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19" name="Text 114"/>
          <p:cNvSpPr txBox="1"/>
          <p:nvPr/>
        </p:nvSpPr>
        <p:spPr>
          <a:xfrm>
            <a:off x="3928262" y="3740810"/>
            <a:ext cx="7525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Mercado Ativo</a:t>
            </a:r>
            <a:endParaRPr lang="en-US" sz="800" dirty="0"/>
          </a:p>
        </p:txBody>
      </p:sp>
      <p:sp>
        <p:nvSpPr>
          <p:cNvPr id="120" name="Text 115"/>
          <p:cNvSpPr txBox="1"/>
          <p:nvPr/>
        </p:nvSpPr>
        <p:spPr>
          <a:xfrm>
            <a:off x="809244" y="41312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800" dirty="0"/>
          </a:p>
        </p:txBody>
      </p:sp>
      <p:sp>
        <p:nvSpPr>
          <p:cNvPr id="121" name="Shape 116"/>
          <p:cNvSpPr/>
          <p:nvPr/>
        </p:nvSpPr>
        <p:spPr>
          <a:xfrm>
            <a:off x="1318565" y="4076395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22" name="Text 117"/>
          <p:cNvSpPr txBox="1"/>
          <p:nvPr/>
        </p:nvSpPr>
        <p:spPr>
          <a:xfrm>
            <a:off x="2081174" y="41312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11.5k</a:t>
            </a:r>
            <a:endParaRPr lang="en-US" sz="800" dirty="0"/>
          </a:p>
        </p:txBody>
      </p:sp>
      <p:sp>
        <p:nvSpPr>
          <p:cNvPr id="123" name="Text 118"/>
          <p:cNvSpPr txBox="1"/>
          <p:nvPr/>
        </p:nvSpPr>
        <p:spPr>
          <a:xfrm>
            <a:off x="3097987" y="41120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</a:t>
            </a:r>
            <a:endParaRPr lang="en-US" sz="800" dirty="0"/>
          </a:p>
        </p:txBody>
      </p:sp>
      <p:sp>
        <p:nvSpPr>
          <p:cNvPr id="124" name="Shape 119"/>
          <p:cNvSpPr/>
          <p:nvPr/>
        </p:nvSpPr>
        <p:spPr>
          <a:xfrm>
            <a:off x="3861511" y="4112057"/>
            <a:ext cx="1171346" cy="161849"/>
          </a:xfrm>
          <a:prstGeom prst="roundRect">
            <a:avLst>
              <a:gd name="adj" fmla="val 132934"/>
            </a:avLst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25" name="Text 120"/>
          <p:cNvSpPr txBox="1"/>
          <p:nvPr/>
        </p:nvSpPr>
        <p:spPr>
          <a:xfrm>
            <a:off x="3928262" y="4141318"/>
            <a:ext cx="11146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 Empregabilidade</a:t>
            </a:r>
            <a:endParaRPr lang="en-US" sz="800" dirty="0"/>
          </a:p>
        </p:txBody>
      </p:sp>
      <p:sp>
        <p:nvSpPr>
          <p:cNvPr id="126" name="Text 121"/>
          <p:cNvSpPr txBox="1"/>
          <p:nvPr/>
        </p:nvSpPr>
        <p:spPr>
          <a:xfrm>
            <a:off x="809244" y="45317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800" dirty="0"/>
          </a:p>
        </p:txBody>
      </p:sp>
      <p:sp>
        <p:nvSpPr>
          <p:cNvPr id="127" name="Shape 122"/>
          <p:cNvSpPr/>
          <p:nvPr/>
        </p:nvSpPr>
        <p:spPr>
          <a:xfrm>
            <a:off x="1318565" y="4476902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28" name="Text 123"/>
          <p:cNvSpPr txBox="1"/>
          <p:nvPr/>
        </p:nvSpPr>
        <p:spPr>
          <a:xfrm>
            <a:off x="2081174" y="4531766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9.6k</a:t>
            </a:r>
            <a:endParaRPr lang="en-US" sz="800" dirty="0"/>
          </a:p>
        </p:txBody>
      </p:sp>
      <p:sp>
        <p:nvSpPr>
          <p:cNvPr id="129" name="Text 124"/>
          <p:cNvSpPr txBox="1"/>
          <p:nvPr/>
        </p:nvSpPr>
        <p:spPr>
          <a:xfrm>
            <a:off x="3097987" y="45125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800" dirty="0"/>
          </a:p>
        </p:txBody>
      </p:sp>
      <p:sp>
        <p:nvSpPr>
          <p:cNvPr id="130" name="Shape 125"/>
          <p:cNvSpPr/>
          <p:nvPr/>
        </p:nvSpPr>
        <p:spPr>
          <a:xfrm>
            <a:off x="3861511" y="4512564"/>
            <a:ext cx="809244" cy="161849"/>
          </a:xfrm>
          <a:prstGeom prst="roundRect">
            <a:avLst>
              <a:gd name="adj" fmla="val 1329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1" name="Text 126"/>
          <p:cNvSpPr txBox="1"/>
          <p:nvPr/>
        </p:nvSpPr>
        <p:spPr>
          <a:xfrm>
            <a:off x="3928262" y="4540910"/>
            <a:ext cx="7525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Polo Nordeste</a:t>
            </a:r>
            <a:endParaRPr lang="en-US" sz="800" dirty="0"/>
          </a:p>
        </p:txBody>
      </p:sp>
      <p:sp>
        <p:nvSpPr>
          <p:cNvPr id="132" name="Text 127"/>
          <p:cNvSpPr txBox="1"/>
          <p:nvPr/>
        </p:nvSpPr>
        <p:spPr>
          <a:xfrm>
            <a:off x="809244" y="49313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800" dirty="0"/>
          </a:p>
        </p:txBody>
      </p:sp>
      <p:sp>
        <p:nvSpPr>
          <p:cNvPr id="133" name="Shape 128"/>
          <p:cNvSpPr/>
          <p:nvPr/>
        </p:nvSpPr>
        <p:spPr>
          <a:xfrm>
            <a:off x="1318565" y="4876495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34" name="Text 129"/>
          <p:cNvSpPr txBox="1"/>
          <p:nvPr/>
        </p:nvSpPr>
        <p:spPr>
          <a:xfrm>
            <a:off x="2081174" y="4931359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7.7k</a:t>
            </a:r>
            <a:endParaRPr lang="en-US" sz="800" dirty="0"/>
          </a:p>
        </p:txBody>
      </p:sp>
      <p:sp>
        <p:nvSpPr>
          <p:cNvPr id="135" name="Text 130"/>
          <p:cNvSpPr txBox="1"/>
          <p:nvPr/>
        </p:nvSpPr>
        <p:spPr>
          <a:xfrm>
            <a:off x="3097987" y="49121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4%</a:t>
            </a:r>
            <a:endParaRPr lang="en-US" sz="800" dirty="0"/>
          </a:p>
        </p:txBody>
      </p:sp>
      <p:sp>
        <p:nvSpPr>
          <p:cNvPr id="136" name="Shape 131"/>
          <p:cNvSpPr/>
          <p:nvPr/>
        </p:nvSpPr>
        <p:spPr>
          <a:xfrm>
            <a:off x="3861511" y="4912157"/>
            <a:ext cx="809244" cy="161849"/>
          </a:xfrm>
          <a:prstGeom prst="roundRect">
            <a:avLst>
              <a:gd name="adj" fmla="val 1329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7" name="Text 132"/>
          <p:cNvSpPr txBox="1"/>
          <p:nvPr/>
        </p:nvSpPr>
        <p:spPr>
          <a:xfrm>
            <a:off x="3928262" y="4941418"/>
            <a:ext cx="7525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Agro-business</a:t>
            </a:r>
            <a:endParaRPr lang="en-US" sz="800" dirty="0"/>
          </a:p>
        </p:txBody>
      </p:sp>
      <p:sp>
        <p:nvSpPr>
          <p:cNvPr id="138" name="Text 133"/>
          <p:cNvSpPr txBox="1"/>
          <p:nvPr/>
        </p:nvSpPr>
        <p:spPr>
          <a:xfrm>
            <a:off x="809244" y="53318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800" dirty="0"/>
          </a:p>
        </p:txBody>
      </p:sp>
      <p:sp>
        <p:nvSpPr>
          <p:cNvPr id="139" name="Shape 134"/>
          <p:cNvSpPr/>
          <p:nvPr/>
        </p:nvSpPr>
        <p:spPr>
          <a:xfrm>
            <a:off x="1318565" y="5277002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40" name="Text 135"/>
          <p:cNvSpPr txBox="1"/>
          <p:nvPr/>
        </p:nvSpPr>
        <p:spPr>
          <a:xfrm>
            <a:off x="2081174" y="5331866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7.7k</a:t>
            </a:r>
            <a:endParaRPr lang="en-US" sz="800" dirty="0"/>
          </a:p>
        </p:txBody>
      </p:sp>
      <p:sp>
        <p:nvSpPr>
          <p:cNvPr id="141" name="Text 136"/>
          <p:cNvSpPr txBox="1"/>
          <p:nvPr/>
        </p:nvSpPr>
        <p:spPr>
          <a:xfrm>
            <a:off x="3097987" y="53126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4%</a:t>
            </a:r>
            <a:endParaRPr lang="en-US" sz="800" dirty="0"/>
          </a:p>
        </p:txBody>
      </p:sp>
      <p:sp>
        <p:nvSpPr>
          <p:cNvPr id="142" name="Shape 137"/>
          <p:cNvSpPr/>
          <p:nvPr/>
        </p:nvSpPr>
        <p:spPr>
          <a:xfrm>
            <a:off x="3861511" y="5312664"/>
            <a:ext cx="752551" cy="161849"/>
          </a:xfrm>
          <a:prstGeom prst="roundRect">
            <a:avLst>
              <a:gd name="adj" fmla="val 1329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3" name="Text 138"/>
          <p:cNvSpPr txBox="1"/>
          <p:nvPr/>
        </p:nvSpPr>
        <p:spPr>
          <a:xfrm>
            <a:off x="3928262" y="5341010"/>
            <a:ext cx="6958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 Regional</a:t>
            </a:r>
            <a:endParaRPr lang="en-US" sz="800" dirty="0"/>
          </a:p>
        </p:txBody>
      </p:sp>
      <p:sp>
        <p:nvSpPr>
          <p:cNvPr id="144" name="Text 139"/>
          <p:cNvSpPr txBox="1"/>
          <p:nvPr/>
        </p:nvSpPr>
        <p:spPr>
          <a:xfrm>
            <a:off x="809244" y="57314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800" dirty="0"/>
          </a:p>
        </p:txBody>
      </p:sp>
      <p:sp>
        <p:nvSpPr>
          <p:cNvPr id="145" name="Shape 140"/>
          <p:cNvSpPr/>
          <p:nvPr/>
        </p:nvSpPr>
        <p:spPr>
          <a:xfrm>
            <a:off x="1318565" y="5676595"/>
            <a:ext cx="228600" cy="228600"/>
          </a:xfrm>
          <a:prstGeom prst="ellipse">
            <a:avLst/>
          </a:prstGeom>
          <a:solidFill>
            <a:srgbClr val="F57325"/>
          </a:solidFill>
          <a:ln/>
        </p:spPr>
      </p:sp>
      <p:sp>
        <p:nvSpPr>
          <p:cNvPr id="146" name="Text 141"/>
          <p:cNvSpPr txBox="1"/>
          <p:nvPr/>
        </p:nvSpPr>
        <p:spPr>
          <a:xfrm>
            <a:off x="2081174" y="5731459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5.8k</a:t>
            </a:r>
            <a:endParaRPr lang="en-US" sz="800" dirty="0"/>
          </a:p>
        </p:txBody>
      </p:sp>
      <p:sp>
        <p:nvSpPr>
          <p:cNvPr id="147" name="Text 142"/>
          <p:cNvSpPr txBox="1"/>
          <p:nvPr/>
        </p:nvSpPr>
        <p:spPr>
          <a:xfrm>
            <a:off x="3097987" y="57122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800" dirty="0"/>
          </a:p>
        </p:txBody>
      </p:sp>
      <p:sp>
        <p:nvSpPr>
          <p:cNvPr id="148" name="Shape 143"/>
          <p:cNvSpPr/>
          <p:nvPr/>
        </p:nvSpPr>
        <p:spPr>
          <a:xfrm>
            <a:off x="3861511" y="5712257"/>
            <a:ext cx="1009498" cy="161849"/>
          </a:xfrm>
          <a:prstGeom prst="roundRect">
            <a:avLst>
              <a:gd name="adj" fmla="val 1329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9" name="Text 144"/>
          <p:cNvSpPr txBox="1"/>
          <p:nvPr/>
        </p:nvSpPr>
        <p:spPr>
          <a:xfrm>
            <a:off x="3928262" y="5741518"/>
            <a:ext cx="9528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Turística</a:t>
            </a:r>
            <a:endParaRPr lang="en-US" sz="800" dirty="0"/>
          </a:p>
        </p:txBody>
      </p:sp>
      <p:pic>
        <p:nvPicPr>
          <p:cNvPr id="15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9205" y="1371600"/>
            <a:ext cx="152705" cy="152705"/>
          </a:xfrm>
          <a:prstGeom prst="rect">
            <a:avLst/>
          </a:prstGeom>
        </p:spPr>
      </p:pic>
      <p:sp>
        <p:nvSpPr>
          <p:cNvPr id="151" name="Text 145"/>
          <p:cNvSpPr txBox="1"/>
          <p:nvPr/>
        </p:nvSpPr>
        <p:spPr>
          <a:xfrm>
            <a:off x="6782105" y="1218895"/>
            <a:ext cx="31482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CONCENTRAÇÃO DE RIQUEZA &amp; OPORTUNIDADE</a:t>
            </a:r>
            <a:endParaRPr lang="en-US" sz="1000" dirty="0"/>
          </a:p>
        </p:txBody>
      </p:sp>
      <p:sp>
        <p:nvSpPr>
          <p:cNvPr id="152" name="Shape 146"/>
          <p:cNvSpPr/>
          <p:nvPr/>
        </p:nvSpPr>
        <p:spPr>
          <a:xfrm>
            <a:off x="6210605" y="2609698"/>
            <a:ext cx="5410505" cy="3524098"/>
          </a:xfrm>
          <a:prstGeom prst="roundRect">
            <a:avLst>
              <a:gd name="adj" fmla="val 56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57325">
                <a:alpha val="10000"/>
              </a:srgbClr>
            </a:solidFill>
            <a:prstDash val="solid"/>
          </a:ln>
        </p:spPr>
      </p:sp>
      <p:pic>
        <p:nvPicPr>
          <p:cNvPr id="15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72454" y="2809951"/>
            <a:ext cx="152705" cy="152705"/>
          </a:xfrm>
          <a:prstGeom prst="rect">
            <a:avLst/>
          </a:prstGeom>
        </p:spPr>
      </p:pic>
      <p:sp>
        <p:nvSpPr>
          <p:cNvPr id="154" name="Text 147"/>
          <p:cNvSpPr txBox="1"/>
          <p:nvPr/>
        </p:nvSpPr>
        <p:spPr>
          <a:xfrm>
            <a:off x="6601054" y="2790749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COMPARATIVO (TOP 10)</a:t>
            </a:r>
            <a:endParaRPr lang="en-US" sz="1000" dirty="0"/>
          </a:p>
        </p:txBody>
      </p:sp>
      <p:sp>
        <p:nvSpPr>
          <p:cNvPr id="155" name="Text 148"/>
          <p:cNvSpPr txBox="1"/>
          <p:nvPr/>
        </p:nvSpPr>
        <p:spPr>
          <a:xfrm>
            <a:off x="9538106" y="2800807"/>
            <a:ext cx="2039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Unidade: Milhares (k)</a:t>
            </a:r>
            <a:endParaRPr lang="en-US" sz="1200" dirty="0"/>
          </a:p>
        </p:txBody>
      </p:sp>
      <p:pic>
        <p:nvPicPr>
          <p:cNvPr id="15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" b="-1"/>
          <a:stretch/>
        </p:blipFill>
        <p:spPr>
          <a:xfrm>
            <a:off x="6372454" y="3076956"/>
            <a:ext cx="5086807" cy="28959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6210605"/>
            <a:ext cx="11048695" cy="9144"/>
          </a:xfrm>
          <a:prstGeom prst="rect">
            <a:avLst/>
          </a:prstGeom>
          <a:solidFill>
            <a:srgbClr val="224088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77" r="-1677" t="0" b="0"/>
          <a:stretch/>
        </p:blipFill>
        <p:spPr>
          <a:xfrm>
            <a:off x="571500" y="6448349"/>
            <a:ext cx="95098" cy="1051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407" y="6421831"/>
            <a:ext cx="59938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baseada em: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População Urbana, Acesso à Internet (PNAD), Escolaridade, Renda Regional.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88122" y="6421831"/>
            <a:ext cx="34125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</a:t>
            </a:r>
            <a:pPr algn="l" indent="0" marL="0">
              <a:buNone/>
            </a:pPr>
            <a:r>
              <a:rPr lang="en-US" sz="800" dirty="0">
                <a:solidFill>
                  <a:srgbClr val="2240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estimados por correlação sociodemográfica.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237744"/>
            <a:ext cx="80110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DEMANDA REGIONAL — KEYWORDS INFORMACIONAIS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8930030" y="390449"/>
            <a:ext cx="2695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TOTAL INFORMACIONAL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382098" y="580644"/>
            <a:ext cx="91988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151.1k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-1064" r="-1064" t="0" b="0"/>
          <a:stretch/>
        </p:blipFill>
        <p:spPr>
          <a:xfrm>
            <a:off x="571500" y="733349"/>
            <a:ext cx="21945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6851" y="685800"/>
            <a:ext cx="61392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Distribuição baseada em escolaridade + acesso à internet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200486" y="76169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4088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71500" y="1104595"/>
            <a:ext cx="5410505" cy="5029200"/>
          </a:xfrm>
          <a:prstGeom prst="roundRect">
            <a:avLst>
              <a:gd name="adj" fmla="val 27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3349" y="1533449"/>
            <a:ext cx="5086807" cy="9144"/>
          </a:xfrm>
          <a:prstGeom prst="rect">
            <a:avLst/>
          </a:prstGeom>
          <a:solidFill>
            <a:srgbClr val="A7F3D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3349" y="1285646"/>
            <a:ext cx="152705" cy="1527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3349" y="1952244"/>
            <a:ext cx="514807" cy="1920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1241755" y="1952244"/>
            <a:ext cx="771754" cy="1920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2005279" y="1952244"/>
            <a:ext cx="1019556" cy="1920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3022092" y="1952244"/>
            <a:ext cx="771754" cy="1920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3784702" y="1952244"/>
            <a:ext cx="2038198" cy="1920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733349" y="2009851"/>
            <a:ext cx="514807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241755" y="20098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375258" y="21195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005279" y="20098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022092" y="20098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784702" y="20098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33349" y="24094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241755" y="24094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375258" y="25191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RJ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005279" y="24094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022092" y="24094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784702" y="24094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3349" y="28099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241755" y="28099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375258" y="29196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2005279" y="28099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022092" y="28099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784702" y="28099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33349" y="32095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241755" y="32095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375258" y="33192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2005279" y="32095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022092" y="32095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784702" y="32095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33349" y="36100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41755" y="36100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375258" y="37197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2005279" y="36100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022092" y="36100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3784702" y="36100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3349" y="40096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41755" y="40096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1375258" y="41193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2005279" y="40096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022092" y="40096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3784702" y="40096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33349" y="44101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241755" y="44101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1375258" y="45198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2005279" y="44101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3022092" y="44101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3784702" y="44101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733349" y="48097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241755" y="48097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1375258" y="49194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2005279" y="48097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3022092" y="48097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3784702" y="48097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733349" y="5210251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1241755" y="52102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1375258" y="5319979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>
            <a:off x="2005279" y="5210251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3022092" y="5210251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3784702" y="5210251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733349" y="5609844"/>
            <a:ext cx="514807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1241755" y="56098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1375258" y="5719572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endParaRPr lang="en-US" sz="800" dirty="0"/>
          </a:p>
        </p:txBody>
      </p:sp>
      <p:sp>
        <p:nvSpPr>
          <p:cNvPr id="78" name="Shape 73"/>
          <p:cNvSpPr/>
          <p:nvPr/>
        </p:nvSpPr>
        <p:spPr>
          <a:xfrm>
            <a:off x="2005279" y="5609844"/>
            <a:ext cx="1019556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3022092" y="5609844"/>
            <a:ext cx="771754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3784702" y="5609844"/>
            <a:ext cx="2038198" cy="36210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210605" y="1104595"/>
            <a:ext cx="5410505" cy="139080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82" name="Shape 77"/>
          <p:cNvSpPr/>
          <p:nvPr/>
        </p:nvSpPr>
        <p:spPr>
          <a:xfrm>
            <a:off x="6210605" y="1104595"/>
            <a:ext cx="38405" cy="13908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3" name="Shape 78"/>
          <p:cNvSpPr/>
          <p:nvPr/>
        </p:nvSpPr>
        <p:spPr>
          <a:xfrm>
            <a:off x="6362395" y="1257300"/>
            <a:ext cx="267005" cy="3813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</p:sp>
      <p:sp>
        <p:nvSpPr>
          <p:cNvPr id="84" name="Text 79"/>
          <p:cNvSpPr txBox="1"/>
          <p:nvPr/>
        </p:nvSpPr>
        <p:spPr>
          <a:xfrm>
            <a:off x="6743700" y="1447495"/>
            <a:ext cx="4849063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Estados Urbanos (SP+RJ+MG+RS+PR) representam 76%</a:t>
            </a:r>
            <a:pPr algn="l" indent="0" marL="0"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 demanda informacional. Nestes centros, o consumidor pesquisa "qual o melhor plano" antes de decidir. A ausência de conteúdo educativo da Hapvida nessas praças entrega a autoridade digital para comparadores e concorrentes.</a:t>
            </a:r>
            <a:endParaRPr lang="en-US" sz="900" dirty="0"/>
          </a:p>
        </p:txBody>
      </p:sp>
      <p:sp>
        <p:nvSpPr>
          <p:cNvPr id="85" name="Text 80"/>
          <p:cNvSpPr txBox="1"/>
          <p:nvPr/>
        </p:nvSpPr>
        <p:spPr>
          <a:xfrm>
            <a:off x="961949" y="1266444"/>
            <a:ext cx="36246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10 ESTADOS (RANKING EDUCACIONAL/DIGITAL)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809244" y="1762049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00" dirty="0"/>
          </a:p>
        </p:txBody>
      </p:sp>
      <p:sp>
        <p:nvSpPr>
          <p:cNvPr id="87" name="Text 82"/>
          <p:cNvSpPr txBox="1"/>
          <p:nvPr/>
        </p:nvSpPr>
        <p:spPr>
          <a:xfrm>
            <a:off x="1318565" y="1762049"/>
            <a:ext cx="457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00" dirty="0"/>
          </a:p>
        </p:txBody>
      </p:sp>
      <p:sp>
        <p:nvSpPr>
          <p:cNvPr id="88" name="Text 83"/>
          <p:cNvSpPr txBox="1"/>
          <p:nvPr/>
        </p:nvSpPr>
        <p:spPr>
          <a:xfrm>
            <a:off x="2081174" y="1762049"/>
            <a:ext cx="7050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VOLUME/MÊS</a:t>
            </a:r>
            <a:endParaRPr lang="en-US" sz="800" dirty="0"/>
          </a:p>
        </p:txBody>
      </p:sp>
      <p:sp>
        <p:nvSpPr>
          <p:cNvPr id="89" name="Text 84"/>
          <p:cNvSpPr txBox="1"/>
          <p:nvPr/>
        </p:nvSpPr>
        <p:spPr>
          <a:xfrm>
            <a:off x="3097987" y="1762049"/>
            <a:ext cx="5148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TOTAL</a:t>
            </a:r>
            <a:endParaRPr lang="en-US" sz="800" dirty="0"/>
          </a:p>
        </p:txBody>
      </p:sp>
      <p:sp>
        <p:nvSpPr>
          <p:cNvPr id="90" name="Text 85"/>
          <p:cNvSpPr txBox="1"/>
          <p:nvPr/>
        </p:nvSpPr>
        <p:spPr>
          <a:xfrm>
            <a:off x="3861511" y="1762049"/>
            <a:ext cx="12573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EDUCACIONAL</a:t>
            </a:r>
            <a:endParaRPr lang="en-US" sz="800" dirty="0"/>
          </a:p>
        </p:txBody>
      </p:sp>
      <p:sp>
        <p:nvSpPr>
          <p:cNvPr id="91" name="Text 86"/>
          <p:cNvSpPr txBox="1"/>
          <p:nvPr/>
        </p:nvSpPr>
        <p:spPr>
          <a:xfrm>
            <a:off x="809244" y="21314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800" dirty="0"/>
          </a:p>
        </p:txBody>
      </p:sp>
      <p:sp>
        <p:nvSpPr>
          <p:cNvPr id="92" name="Shape 87"/>
          <p:cNvSpPr/>
          <p:nvPr/>
        </p:nvSpPr>
        <p:spPr>
          <a:xfrm>
            <a:off x="1318565" y="207660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3" name="Text 88"/>
          <p:cNvSpPr txBox="1"/>
          <p:nvPr/>
        </p:nvSpPr>
        <p:spPr>
          <a:xfrm>
            <a:off x="2081174" y="21314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48.4k</a:t>
            </a:r>
            <a:endParaRPr lang="en-US" sz="800" dirty="0"/>
          </a:p>
        </p:txBody>
      </p:sp>
      <p:sp>
        <p:nvSpPr>
          <p:cNvPr id="94" name="Text 89"/>
          <p:cNvSpPr txBox="1"/>
          <p:nvPr/>
        </p:nvSpPr>
        <p:spPr>
          <a:xfrm>
            <a:off x="3097987" y="2112264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32%</a:t>
            </a:r>
            <a:endParaRPr lang="en-US" sz="800" dirty="0"/>
          </a:p>
        </p:txBody>
      </p:sp>
      <p:sp>
        <p:nvSpPr>
          <p:cNvPr id="95" name="Shape 90"/>
          <p:cNvSpPr/>
          <p:nvPr/>
        </p:nvSpPr>
        <p:spPr>
          <a:xfrm>
            <a:off x="3861511" y="2112264"/>
            <a:ext cx="1067105" cy="161849"/>
          </a:xfrm>
          <a:prstGeom prst="roundRect">
            <a:avLst>
              <a:gd name="adj" fmla="val 13293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6" name="Text 91"/>
          <p:cNvSpPr txBox="1"/>
          <p:nvPr/>
        </p:nvSpPr>
        <p:spPr>
          <a:xfrm>
            <a:off x="3928262" y="2140610"/>
            <a:ext cx="10104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 Conectividade</a:t>
            </a:r>
            <a:endParaRPr lang="en-US" sz="800" dirty="0"/>
          </a:p>
        </p:txBody>
      </p:sp>
      <p:sp>
        <p:nvSpPr>
          <p:cNvPr id="97" name="Text 92"/>
          <p:cNvSpPr txBox="1"/>
          <p:nvPr/>
        </p:nvSpPr>
        <p:spPr>
          <a:xfrm>
            <a:off x="809244" y="25310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1318565" y="2476195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9" name="Text 94"/>
          <p:cNvSpPr txBox="1"/>
          <p:nvPr/>
        </p:nvSpPr>
        <p:spPr>
          <a:xfrm>
            <a:off x="2081174" y="25310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19.6k</a:t>
            </a:r>
            <a:endParaRPr lang="en-US" sz="800" dirty="0"/>
          </a:p>
        </p:txBody>
      </p:sp>
      <p:sp>
        <p:nvSpPr>
          <p:cNvPr id="100" name="Text 95"/>
          <p:cNvSpPr txBox="1"/>
          <p:nvPr/>
        </p:nvSpPr>
        <p:spPr>
          <a:xfrm>
            <a:off x="3097987" y="2511857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13%</a:t>
            </a:r>
            <a:endParaRPr lang="en-US" sz="800" dirty="0"/>
          </a:p>
        </p:txBody>
      </p:sp>
      <p:sp>
        <p:nvSpPr>
          <p:cNvPr id="101" name="Shape 96"/>
          <p:cNvSpPr/>
          <p:nvPr/>
        </p:nvSpPr>
        <p:spPr>
          <a:xfrm>
            <a:off x="3861511" y="2511857"/>
            <a:ext cx="1009498" cy="161849"/>
          </a:xfrm>
          <a:prstGeom prst="roundRect">
            <a:avLst>
              <a:gd name="adj" fmla="val 13293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2" name="Text 97"/>
          <p:cNvSpPr txBox="1"/>
          <p:nvPr/>
        </p:nvSpPr>
        <p:spPr>
          <a:xfrm>
            <a:off x="3928262" y="2541118"/>
            <a:ext cx="9528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 Qualificada</a:t>
            </a:r>
            <a:endParaRPr lang="en-US" sz="800" dirty="0"/>
          </a:p>
        </p:txBody>
      </p:sp>
      <p:sp>
        <p:nvSpPr>
          <p:cNvPr id="103" name="Text 98"/>
          <p:cNvSpPr txBox="1"/>
          <p:nvPr/>
        </p:nvSpPr>
        <p:spPr>
          <a:xfrm>
            <a:off x="809244" y="29315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800" dirty="0"/>
          </a:p>
        </p:txBody>
      </p:sp>
      <p:sp>
        <p:nvSpPr>
          <p:cNvPr id="104" name="Shape 99"/>
          <p:cNvSpPr/>
          <p:nvPr/>
        </p:nvSpPr>
        <p:spPr>
          <a:xfrm>
            <a:off x="1318565" y="287670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5" name="Text 100"/>
          <p:cNvSpPr txBox="1"/>
          <p:nvPr/>
        </p:nvSpPr>
        <p:spPr>
          <a:xfrm>
            <a:off x="2081174" y="29315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18.1k</a:t>
            </a:r>
            <a:endParaRPr lang="en-US" sz="800" dirty="0"/>
          </a:p>
        </p:txBody>
      </p:sp>
      <p:sp>
        <p:nvSpPr>
          <p:cNvPr id="106" name="Text 101"/>
          <p:cNvSpPr txBox="1"/>
          <p:nvPr/>
        </p:nvSpPr>
        <p:spPr>
          <a:xfrm>
            <a:off x="3097987" y="2912364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800" dirty="0"/>
          </a:p>
        </p:txBody>
      </p:sp>
      <p:sp>
        <p:nvSpPr>
          <p:cNvPr id="107" name="Shape 102"/>
          <p:cNvSpPr/>
          <p:nvPr/>
        </p:nvSpPr>
        <p:spPr>
          <a:xfrm>
            <a:off x="3861511" y="2912364"/>
            <a:ext cx="1067105" cy="161849"/>
          </a:xfrm>
          <a:prstGeom prst="roundRect">
            <a:avLst>
              <a:gd name="adj" fmla="val 13293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8" name="Text 103"/>
          <p:cNvSpPr txBox="1"/>
          <p:nvPr/>
        </p:nvSpPr>
        <p:spPr>
          <a:xfrm>
            <a:off x="3928262" y="2940710"/>
            <a:ext cx="10104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Pólo Universitário</a:t>
            </a:r>
            <a:endParaRPr lang="en-US" sz="800" dirty="0"/>
          </a:p>
        </p:txBody>
      </p:sp>
      <p:sp>
        <p:nvSpPr>
          <p:cNvPr id="109" name="Text 104"/>
          <p:cNvSpPr txBox="1"/>
          <p:nvPr/>
        </p:nvSpPr>
        <p:spPr>
          <a:xfrm>
            <a:off x="809244" y="33311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800" dirty="0"/>
          </a:p>
        </p:txBody>
      </p:sp>
      <p:sp>
        <p:nvSpPr>
          <p:cNvPr id="110" name="Shape 105"/>
          <p:cNvSpPr/>
          <p:nvPr/>
        </p:nvSpPr>
        <p:spPr>
          <a:xfrm>
            <a:off x="1318565" y="3276295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1" name="Text 106"/>
          <p:cNvSpPr txBox="1"/>
          <p:nvPr/>
        </p:nvSpPr>
        <p:spPr>
          <a:xfrm>
            <a:off x="2081174" y="33311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15.1k</a:t>
            </a:r>
            <a:endParaRPr lang="en-US" sz="800" dirty="0"/>
          </a:p>
        </p:txBody>
      </p:sp>
      <p:sp>
        <p:nvSpPr>
          <p:cNvPr id="112" name="Text 107"/>
          <p:cNvSpPr txBox="1"/>
          <p:nvPr/>
        </p:nvSpPr>
        <p:spPr>
          <a:xfrm>
            <a:off x="3097987" y="3311957"/>
            <a:ext cx="2697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800" dirty="0"/>
          </a:p>
        </p:txBody>
      </p:sp>
      <p:sp>
        <p:nvSpPr>
          <p:cNvPr id="113" name="Shape 108"/>
          <p:cNvSpPr/>
          <p:nvPr/>
        </p:nvSpPr>
        <p:spPr>
          <a:xfrm>
            <a:off x="3861511" y="3311957"/>
            <a:ext cx="1067105" cy="161849"/>
          </a:xfrm>
          <a:prstGeom prst="roundRect">
            <a:avLst>
              <a:gd name="adj" fmla="val 13293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4" name="Text 109"/>
          <p:cNvSpPr txBox="1"/>
          <p:nvPr/>
        </p:nvSpPr>
        <p:spPr>
          <a:xfrm>
            <a:off x="3928262" y="3341218"/>
            <a:ext cx="10104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Consumidor Crítico</a:t>
            </a:r>
            <a:endParaRPr lang="en-US" sz="800" dirty="0"/>
          </a:p>
        </p:txBody>
      </p:sp>
      <p:sp>
        <p:nvSpPr>
          <p:cNvPr id="115" name="Text 110"/>
          <p:cNvSpPr txBox="1"/>
          <p:nvPr/>
        </p:nvSpPr>
        <p:spPr>
          <a:xfrm>
            <a:off x="809244" y="37316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800" dirty="0"/>
          </a:p>
        </p:txBody>
      </p:sp>
      <p:sp>
        <p:nvSpPr>
          <p:cNvPr id="116" name="Shape 111"/>
          <p:cNvSpPr/>
          <p:nvPr/>
        </p:nvSpPr>
        <p:spPr>
          <a:xfrm>
            <a:off x="1318565" y="367680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7" name="Text 112"/>
          <p:cNvSpPr txBox="1"/>
          <p:nvPr/>
        </p:nvSpPr>
        <p:spPr>
          <a:xfrm>
            <a:off x="2081174" y="3731666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13.6k</a:t>
            </a:r>
            <a:endParaRPr lang="en-US" sz="800" dirty="0"/>
          </a:p>
        </p:txBody>
      </p:sp>
      <p:sp>
        <p:nvSpPr>
          <p:cNvPr id="118" name="Text 113"/>
          <p:cNvSpPr txBox="1"/>
          <p:nvPr/>
        </p:nvSpPr>
        <p:spPr>
          <a:xfrm>
            <a:off x="3097987" y="37124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9%</a:t>
            </a:r>
            <a:endParaRPr lang="en-US" sz="800" dirty="0"/>
          </a:p>
        </p:txBody>
      </p:sp>
      <p:sp>
        <p:nvSpPr>
          <p:cNvPr id="119" name="Shape 114"/>
          <p:cNvSpPr/>
          <p:nvPr/>
        </p:nvSpPr>
        <p:spPr>
          <a:xfrm>
            <a:off x="3861511" y="3712464"/>
            <a:ext cx="857707" cy="161849"/>
          </a:xfrm>
          <a:prstGeom prst="roundRect">
            <a:avLst>
              <a:gd name="adj" fmla="val 13293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0" name="Text 115"/>
          <p:cNvSpPr txBox="1"/>
          <p:nvPr/>
        </p:nvSpPr>
        <p:spPr>
          <a:xfrm>
            <a:off x="3928262" y="3740810"/>
            <a:ext cx="8001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Pesquisa Ativa</a:t>
            </a:r>
            <a:endParaRPr lang="en-US" sz="800" dirty="0"/>
          </a:p>
        </p:txBody>
      </p:sp>
      <p:sp>
        <p:nvSpPr>
          <p:cNvPr id="121" name="Text 116"/>
          <p:cNvSpPr txBox="1"/>
          <p:nvPr/>
        </p:nvSpPr>
        <p:spPr>
          <a:xfrm>
            <a:off x="809244" y="41312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800" dirty="0"/>
          </a:p>
        </p:txBody>
      </p:sp>
      <p:sp>
        <p:nvSpPr>
          <p:cNvPr id="122" name="Shape 117"/>
          <p:cNvSpPr/>
          <p:nvPr/>
        </p:nvSpPr>
        <p:spPr>
          <a:xfrm>
            <a:off x="1318565" y="4076395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3" name="Text 118"/>
          <p:cNvSpPr txBox="1"/>
          <p:nvPr/>
        </p:nvSpPr>
        <p:spPr>
          <a:xfrm>
            <a:off x="2081174" y="4131259"/>
            <a:ext cx="403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10.6k</a:t>
            </a:r>
            <a:endParaRPr lang="en-US" sz="800" dirty="0"/>
          </a:p>
        </p:txBody>
      </p:sp>
      <p:sp>
        <p:nvSpPr>
          <p:cNvPr id="124" name="Text 119"/>
          <p:cNvSpPr txBox="1"/>
          <p:nvPr/>
        </p:nvSpPr>
        <p:spPr>
          <a:xfrm>
            <a:off x="3097987" y="41120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7%</a:t>
            </a:r>
            <a:endParaRPr lang="en-US" sz="800" dirty="0"/>
          </a:p>
        </p:txBody>
      </p:sp>
      <p:sp>
        <p:nvSpPr>
          <p:cNvPr id="125" name="Shape 120"/>
          <p:cNvSpPr/>
          <p:nvPr/>
        </p:nvSpPr>
        <p:spPr>
          <a:xfrm>
            <a:off x="3861511" y="4112057"/>
            <a:ext cx="552298" cy="161849"/>
          </a:xfrm>
          <a:prstGeom prst="roundRect">
            <a:avLst>
              <a:gd name="adj" fmla="val 13293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6" name="Text 121"/>
          <p:cNvSpPr txBox="1"/>
          <p:nvPr/>
        </p:nvSpPr>
        <p:spPr>
          <a:xfrm>
            <a:off x="3928262" y="4141318"/>
            <a:ext cx="4956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Hub</a:t>
            </a:r>
            <a:endParaRPr lang="en-US" sz="800" dirty="0"/>
          </a:p>
        </p:txBody>
      </p:sp>
      <p:sp>
        <p:nvSpPr>
          <p:cNvPr id="127" name="Text 122"/>
          <p:cNvSpPr txBox="1"/>
          <p:nvPr/>
        </p:nvSpPr>
        <p:spPr>
          <a:xfrm>
            <a:off x="809244" y="45317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800" dirty="0"/>
          </a:p>
        </p:txBody>
      </p:sp>
      <p:sp>
        <p:nvSpPr>
          <p:cNvPr id="128" name="Shape 123"/>
          <p:cNvSpPr/>
          <p:nvPr/>
        </p:nvSpPr>
        <p:spPr>
          <a:xfrm>
            <a:off x="1318565" y="447690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9" name="Text 124"/>
          <p:cNvSpPr txBox="1"/>
          <p:nvPr/>
        </p:nvSpPr>
        <p:spPr>
          <a:xfrm>
            <a:off x="2081174" y="4531766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9.1k</a:t>
            </a:r>
            <a:endParaRPr lang="en-US" sz="800" dirty="0"/>
          </a:p>
        </p:txBody>
      </p:sp>
      <p:sp>
        <p:nvSpPr>
          <p:cNvPr id="130" name="Text 125"/>
          <p:cNvSpPr txBox="1"/>
          <p:nvPr/>
        </p:nvSpPr>
        <p:spPr>
          <a:xfrm>
            <a:off x="3097987" y="45125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</a:t>
            </a:r>
            <a:endParaRPr lang="en-US" sz="800" dirty="0"/>
          </a:p>
        </p:txBody>
      </p:sp>
      <p:sp>
        <p:nvSpPr>
          <p:cNvPr id="131" name="Shape 126"/>
          <p:cNvSpPr/>
          <p:nvPr/>
        </p:nvSpPr>
        <p:spPr>
          <a:xfrm>
            <a:off x="3861511" y="4512564"/>
            <a:ext cx="1114654" cy="161849"/>
          </a:xfrm>
          <a:prstGeom prst="roundRect">
            <a:avLst>
              <a:gd name="adj" fmla="val 13293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2" name="Text 127"/>
          <p:cNvSpPr txBox="1"/>
          <p:nvPr/>
        </p:nvSpPr>
        <p:spPr>
          <a:xfrm>
            <a:off x="3928262" y="4540910"/>
            <a:ext cx="10579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Crescimento Digital</a:t>
            </a:r>
            <a:endParaRPr lang="en-US" sz="800" dirty="0"/>
          </a:p>
        </p:txBody>
      </p:sp>
      <p:sp>
        <p:nvSpPr>
          <p:cNvPr id="133" name="Text 128"/>
          <p:cNvSpPr txBox="1"/>
          <p:nvPr/>
        </p:nvSpPr>
        <p:spPr>
          <a:xfrm>
            <a:off x="809244" y="49313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800" dirty="0"/>
          </a:p>
        </p:txBody>
      </p:sp>
      <p:sp>
        <p:nvSpPr>
          <p:cNvPr id="134" name="Shape 129"/>
          <p:cNvSpPr/>
          <p:nvPr/>
        </p:nvSpPr>
        <p:spPr>
          <a:xfrm>
            <a:off x="1318565" y="4876495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5" name="Text 130"/>
          <p:cNvSpPr txBox="1"/>
          <p:nvPr/>
        </p:nvSpPr>
        <p:spPr>
          <a:xfrm>
            <a:off x="2081174" y="4931359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7.5k</a:t>
            </a:r>
            <a:endParaRPr lang="en-US" sz="800" dirty="0"/>
          </a:p>
        </p:txBody>
      </p:sp>
      <p:sp>
        <p:nvSpPr>
          <p:cNvPr id="136" name="Text 131"/>
          <p:cNvSpPr txBox="1"/>
          <p:nvPr/>
        </p:nvSpPr>
        <p:spPr>
          <a:xfrm>
            <a:off x="3097987" y="49121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800" dirty="0"/>
          </a:p>
        </p:txBody>
      </p:sp>
      <p:sp>
        <p:nvSpPr>
          <p:cNvPr id="137" name="Shape 132"/>
          <p:cNvSpPr/>
          <p:nvPr/>
        </p:nvSpPr>
        <p:spPr>
          <a:xfrm>
            <a:off x="3861511" y="4912157"/>
            <a:ext cx="914400" cy="161849"/>
          </a:xfrm>
          <a:prstGeom prst="roundRect">
            <a:avLst>
              <a:gd name="adj" fmla="val 13293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8" name="Text 133"/>
          <p:cNvSpPr txBox="1"/>
          <p:nvPr/>
        </p:nvSpPr>
        <p:spPr>
          <a:xfrm>
            <a:off x="3928262" y="4941418"/>
            <a:ext cx="857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Expansão Urbana</a:t>
            </a:r>
            <a:endParaRPr lang="en-US" sz="800" dirty="0"/>
          </a:p>
        </p:txBody>
      </p:sp>
      <p:sp>
        <p:nvSpPr>
          <p:cNvPr id="139" name="Text 134"/>
          <p:cNvSpPr txBox="1"/>
          <p:nvPr/>
        </p:nvSpPr>
        <p:spPr>
          <a:xfrm>
            <a:off x="809244" y="5331866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800" dirty="0"/>
          </a:p>
        </p:txBody>
      </p:sp>
      <p:sp>
        <p:nvSpPr>
          <p:cNvPr id="140" name="Shape 135"/>
          <p:cNvSpPr/>
          <p:nvPr/>
        </p:nvSpPr>
        <p:spPr>
          <a:xfrm>
            <a:off x="1318565" y="527700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1" name="Text 136"/>
          <p:cNvSpPr txBox="1"/>
          <p:nvPr/>
        </p:nvSpPr>
        <p:spPr>
          <a:xfrm>
            <a:off x="2081174" y="5331866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6.0k</a:t>
            </a:r>
            <a:endParaRPr lang="en-US" sz="800" dirty="0"/>
          </a:p>
        </p:txBody>
      </p:sp>
      <p:sp>
        <p:nvSpPr>
          <p:cNvPr id="142" name="Text 137"/>
          <p:cNvSpPr txBox="1"/>
          <p:nvPr/>
        </p:nvSpPr>
        <p:spPr>
          <a:xfrm>
            <a:off x="3097987" y="5312664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4%</a:t>
            </a:r>
            <a:endParaRPr lang="en-US" sz="800" dirty="0"/>
          </a:p>
        </p:txBody>
      </p:sp>
      <p:sp>
        <p:nvSpPr>
          <p:cNvPr id="143" name="Shape 138"/>
          <p:cNvSpPr/>
          <p:nvPr/>
        </p:nvSpPr>
        <p:spPr>
          <a:xfrm>
            <a:off x="3861511" y="5312664"/>
            <a:ext cx="961949" cy="161849"/>
          </a:xfrm>
          <a:prstGeom prst="roundRect">
            <a:avLst>
              <a:gd name="adj" fmla="val 13293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4" name="Text 139"/>
          <p:cNvSpPr txBox="1"/>
          <p:nvPr/>
        </p:nvSpPr>
        <p:spPr>
          <a:xfrm>
            <a:off x="3928262" y="5341010"/>
            <a:ext cx="9052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Polo Tecnológico</a:t>
            </a:r>
            <a:endParaRPr lang="en-US" sz="800" dirty="0"/>
          </a:p>
        </p:txBody>
      </p:sp>
      <p:sp>
        <p:nvSpPr>
          <p:cNvPr id="145" name="Text 140"/>
          <p:cNvSpPr txBox="1"/>
          <p:nvPr/>
        </p:nvSpPr>
        <p:spPr>
          <a:xfrm>
            <a:off x="809244" y="5731459"/>
            <a:ext cx="212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800" dirty="0"/>
          </a:p>
        </p:txBody>
      </p:sp>
      <p:sp>
        <p:nvSpPr>
          <p:cNvPr id="146" name="Shape 141"/>
          <p:cNvSpPr/>
          <p:nvPr/>
        </p:nvSpPr>
        <p:spPr>
          <a:xfrm>
            <a:off x="1318565" y="5676595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7" name="Text 142"/>
          <p:cNvSpPr txBox="1"/>
          <p:nvPr/>
        </p:nvSpPr>
        <p:spPr>
          <a:xfrm>
            <a:off x="2081174" y="5731459"/>
            <a:ext cx="3364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4.5k</a:t>
            </a:r>
            <a:endParaRPr lang="en-US" sz="800" dirty="0"/>
          </a:p>
        </p:txBody>
      </p:sp>
      <p:sp>
        <p:nvSpPr>
          <p:cNvPr id="148" name="Text 143"/>
          <p:cNvSpPr txBox="1"/>
          <p:nvPr/>
        </p:nvSpPr>
        <p:spPr>
          <a:xfrm>
            <a:off x="3097987" y="5712257"/>
            <a:ext cx="2121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800" dirty="0"/>
          </a:p>
        </p:txBody>
      </p:sp>
      <p:sp>
        <p:nvSpPr>
          <p:cNvPr id="149" name="Shape 144"/>
          <p:cNvSpPr/>
          <p:nvPr/>
        </p:nvSpPr>
        <p:spPr>
          <a:xfrm>
            <a:off x="3861511" y="5712257"/>
            <a:ext cx="961949" cy="161849"/>
          </a:xfrm>
          <a:prstGeom prst="roundRect">
            <a:avLst>
              <a:gd name="adj" fmla="val 13293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0" name="Text 145"/>
          <p:cNvSpPr txBox="1"/>
          <p:nvPr/>
        </p:nvSpPr>
        <p:spPr>
          <a:xfrm>
            <a:off x="3928262" y="5741518"/>
            <a:ext cx="9052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Educação em Alta</a:t>
            </a:r>
            <a:endParaRPr lang="en-US" sz="800" dirty="0"/>
          </a:p>
        </p:txBody>
      </p:sp>
      <p:pic>
        <p:nvPicPr>
          <p:cNvPr id="15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6439205" y="1371600"/>
            <a:ext cx="114300" cy="152705"/>
          </a:xfrm>
          <a:prstGeom prst="rect">
            <a:avLst/>
          </a:prstGeom>
        </p:spPr>
      </p:pic>
      <p:sp>
        <p:nvSpPr>
          <p:cNvPr id="152" name="Text 146"/>
          <p:cNvSpPr txBox="1"/>
          <p:nvPr/>
        </p:nvSpPr>
        <p:spPr>
          <a:xfrm>
            <a:off x="6743700" y="1218895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OPORTUNIDADE DE CONTENT MARKETING</a:t>
            </a:r>
            <a:endParaRPr lang="en-US" sz="1000" dirty="0"/>
          </a:p>
        </p:txBody>
      </p:sp>
      <p:sp>
        <p:nvSpPr>
          <p:cNvPr id="153" name="Shape 147"/>
          <p:cNvSpPr/>
          <p:nvPr/>
        </p:nvSpPr>
        <p:spPr>
          <a:xfrm>
            <a:off x="6210605" y="2795321"/>
            <a:ext cx="5410505" cy="3343046"/>
          </a:xfrm>
          <a:prstGeom prst="roundRect">
            <a:avLst>
              <a:gd name="adj" fmla="val 62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pic>
        <p:nvPicPr>
          <p:cNvPr id="15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72454" y="2995574"/>
            <a:ext cx="152705" cy="152705"/>
          </a:xfrm>
          <a:prstGeom prst="rect">
            <a:avLst/>
          </a:prstGeom>
        </p:spPr>
      </p:pic>
      <p:sp>
        <p:nvSpPr>
          <p:cNvPr id="155" name="Text 148"/>
          <p:cNvSpPr txBox="1"/>
          <p:nvPr/>
        </p:nvSpPr>
        <p:spPr>
          <a:xfrm>
            <a:off x="6601054" y="2976372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COMPARATIVO (TOP 10)</a:t>
            </a:r>
            <a:endParaRPr lang="en-US" sz="1000" dirty="0"/>
          </a:p>
        </p:txBody>
      </p:sp>
      <p:sp>
        <p:nvSpPr>
          <p:cNvPr id="156" name="Text 149"/>
          <p:cNvSpPr txBox="1"/>
          <p:nvPr/>
        </p:nvSpPr>
        <p:spPr>
          <a:xfrm>
            <a:off x="9538106" y="2986430"/>
            <a:ext cx="2039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Unidade: Milhares (k)</a:t>
            </a:r>
            <a:endParaRPr lang="en-US" sz="1200" dirty="0"/>
          </a:p>
        </p:txBody>
      </p:sp>
      <p:pic>
        <p:nvPicPr>
          <p:cNvPr id="15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76" b="-176"/>
          <a:stretch/>
        </p:blipFill>
        <p:spPr>
          <a:xfrm>
            <a:off x="6372454" y="3262579"/>
            <a:ext cx="5086807" cy="27148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381305" y="847649"/>
            <a:ext cx="11430000" cy="39054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8130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533095" y="5105095"/>
            <a:ext cx="152705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5086807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 CRÍTICO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33095" y="5343754"/>
            <a:ext cx="25914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(14.3%)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 pilar de retenção.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185k saídas mensais para atendimento direto via API.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7629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7629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29000" y="5105095"/>
            <a:ext cx="171907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76802" y="5086807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AWARENESS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5343754"/>
            <a:ext cx="25914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63.7% Tráfego Direto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Marca forte reduz CAC.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Dependência de mídia paga é baixa na base instalada.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72200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172200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24905" y="5009998"/>
            <a:ext cx="171907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72707" y="4990795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ACELERAÇÃO PAID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24905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+995% em Paid Search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Movimento agressivo para capturar demanda transacional e fechar gap vs concorrência.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06810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06810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9219895" y="5009998"/>
            <a:ext cx="133502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30207" y="4990795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RECEITA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9219895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XGEN (850k saídas)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 o principal hub de monetização (boletos). Fluxo de receita claro e rastreável.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81305" y="6391656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381305" y="6476695"/>
            <a:ext cx="133502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6474866"/>
            <a:ext cx="618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Fontes: SEMrush Traffic Analytics (Dez/2025) • Análise de Outbound Links • BuiltWith • Wappalyzer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7975397" y="6495898"/>
            <a:ext cx="3917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 Largura dos fluxos é proporcional ao volume de sessões.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381305" y="761695"/>
            <a:ext cx="11430000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476402" y="352044"/>
            <a:ext cx="190195" cy="17190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14400" y="190195"/>
            <a:ext cx="32104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JORNADA DE TRÁFEGO DIGITAL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8617306" y="200254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SESSIONS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9195206" y="418795"/>
            <a:ext cx="6574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2.58M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0309860" y="200254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224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SHARE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0625328" y="418795"/>
            <a:ext cx="638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408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14.3%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914400" y="485546"/>
            <a:ext cx="3591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224088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Origens, Fluxo e Destinos de Conversão (Dez 2025)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759391" y="523951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176711" y="523951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24088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(Portal)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66598" y="881482"/>
            <a:ext cx="75895" cy="75895"/>
          </a:xfrm>
          <a:prstGeom prst="roundRect">
            <a:avLst>
              <a:gd name="adj" fmla="val 301206"/>
            </a:avLst>
          </a:prstGeom>
          <a:solidFill>
            <a:srgbClr val="9CA3AF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838505" y="847649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ORIGENS DE TRÁFEGO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5576926" y="847649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PROPRIEDADES HAPVIDA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10143439" y="847649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CONVERSÃO &amp; SAÍDA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381305" y="847649"/>
            <a:ext cx="11430000" cy="39054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8130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533095" y="5009998"/>
            <a:ext cx="219456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8446" y="4990795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 EQUILIBRADO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33095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+ SEO + Paid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sustentam aquisição de forma robusta. Dependência menor de um único canal vs concorrentes.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7629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7629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3429000" y="5009998"/>
            <a:ext cx="152705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0" y="4990795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 CRÍTICO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3004-1000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 hub central de autorizações e suporte, integrado diretamente à jornada do beneficiário.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72200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172200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6324905" y="5009998"/>
            <a:ext cx="21945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20256" y="4990795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FORTE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24905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10% (172k)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 acima da média do setor, indicando forte engajamento e presença de marca em redes sociais.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06810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06810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19895" y="5009998"/>
            <a:ext cx="171907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67698" y="4990795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INVESTIMENTO PAID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9219895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Ads 18%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 investimento balanceado para captura de demanda transacional, sem canibalizar orgânico.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81305" y="6391656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381305" y="6476695"/>
            <a:ext cx="133502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6474866"/>
            <a:ext cx="71844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Fontes: SEMrush Traffic Analytics (Dez/2025) • Páginas Oficiais Amil. Dados probabilísticos; validar com GA4/CRM.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7975397" y="6495898"/>
            <a:ext cx="3917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 Largura dos fluxos é proporcional ao volume de sessões.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381305" y="761695"/>
            <a:ext cx="11430000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476402" y="352044"/>
            <a:ext cx="190195" cy="17190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14400" y="190195"/>
            <a:ext cx="32104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37415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JORNADA DE TRÁFEGO DIGITAL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8617306" y="200254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SESSIONS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9232697" y="418795"/>
            <a:ext cx="619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1.72M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0309860" y="200254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SHARE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0905134" y="418795"/>
            <a:ext cx="571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3.0%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914400" y="485546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374151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Amil (Dez 2025) - Origens, Fluxo e Destinos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759391" y="523951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382451" y="523951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(Ref)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66598" y="881482"/>
            <a:ext cx="75895" cy="75895"/>
          </a:xfrm>
          <a:prstGeom prst="roundRect">
            <a:avLst>
              <a:gd name="adj" fmla="val 301206"/>
            </a:avLst>
          </a:prstGeom>
          <a:solidFill>
            <a:srgbClr val="9CA3AF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838505" y="847649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ORIGENS DE TRÁFEGO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5710428" y="847649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 AMIL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10143439" y="847649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CONVERSÃO &amp; SAÍDA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381305" y="847649"/>
            <a:ext cx="11430000" cy="39054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8130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095" y="5105095"/>
            <a:ext cx="171907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80898" y="5086807"/>
            <a:ext cx="1581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DOMINANTE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33095" y="5343754"/>
            <a:ext cx="25914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52% Tráfego Direto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Marca Bradesco forte reduz drasticamente o CAC e dependência de mídia paga.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7629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7629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29000" y="5009998"/>
            <a:ext cx="171907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76802" y="4990795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 ROBUSTO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22% Orgânico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Presença consolidada em buscas informacionais e de serviços, garantindo fluxo constante.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72200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172200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6324905" y="5105095"/>
            <a:ext cx="133502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34302" y="5086807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ESTRATÉGICO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24905" y="5343754"/>
            <a:ext cx="25914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300k Saídas para App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Atua como principal hub transacional, aumentando a retenção do beneficiário.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068105" y="4867351"/>
            <a:ext cx="2743200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068105" y="4867351"/>
            <a:ext cx="38405" cy="1447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9219895" y="5009998"/>
            <a:ext cx="190195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86900" y="4990795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TELEMEDICINA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9219895" y="5248656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Saúde Digital (150k)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Integração forte com serviços de telemedicina é um diferencial competitivo claro.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81305" y="6391656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381305" y="6476695"/>
            <a:ext cx="133502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6474866"/>
            <a:ext cx="56793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Fontes: SimilarWeb (Nov/2025) • Páginas Oficiais Bradesco Seguros • Dados probabilísticos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7975397" y="6495898"/>
            <a:ext cx="3917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 Largura dos fluxos é proporcional ao volume de sessões.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381305" y="761695"/>
            <a:ext cx="11430000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476402" y="352044"/>
            <a:ext cx="190195" cy="17190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14400" y="190195"/>
            <a:ext cx="32104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CC092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JORNADA DE TRÁFEGO DIGITAL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8815730" y="200254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SESSIONS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9519818" y="418795"/>
            <a:ext cx="523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C092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912k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0507370" y="200254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CC0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SHARE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0544861" y="418795"/>
            <a:ext cx="514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C092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52%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914400" y="485546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CC092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Bradesco Saúde: Origens, Fluxo e Destinos (Nov 2025)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956902" y="523951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C092F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970971" y="523951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C092F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(Dominante)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533095" y="881482"/>
            <a:ext cx="75895" cy="75895"/>
          </a:xfrm>
          <a:prstGeom prst="roundRect">
            <a:avLst>
              <a:gd name="adj" fmla="val 301206"/>
            </a:avLst>
          </a:prstGeom>
          <a:solidFill>
            <a:srgbClr val="9CA3AF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705002" y="847649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ORIGENS DE TRÁFEGO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5510174" y="847649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 BRADESCO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10276942" y="847649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CONVERSÃO &amp; SAÍDA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381305" y="847649"/>
            <a:ext cx="11430000" cy="37152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305" y="4677156"/>
            <a:ext cx="2743200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81305" y="4677156"/>
            <a:ext cx="38405" cy="16386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095" y="4819802"/>
            <a:ext cx="171907" cy="1719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0898" y="4800600"/>
            <a:ext cx="14008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STRENGTH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33095" y="5057546"/>
            <a:ext cx="25914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Elevado (64%)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Reconhecimento de marca forte reduz custo de aquisição (CAC) e dependência de canais pagos.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76295" y="4677156"/>
            <a:ext cx="2743200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76295" y="4677156"/>
            <a:ext cx="38405" cy="16386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29000" y="4914900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76802" y="4895698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ACELERAÇÃO PAID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429000" y="5152644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+86.71% em Paid Search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Movimento tático agressivo de aquisição recente, representando 15% do mix total.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2200" y="4677156"/>
            <a:ext cx="2743200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72200" y="4677156"/>
            <a:ext cx="38405" cy="16386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6324905" y="4819802"/>
            <a:ext cx="219456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20256" y="4800600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EMERGENTE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324905" y="5057546"/>
            <a:ext cx="25914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 Visitas via LLMs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Tráfego via ChatGPT e Perplexity ainda é marginal, mas mostra tendência de busca conversacional.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068105" y="4677156"/>
            <a:ext cx="2743200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068105" y="4677156"/>
            <a:ext cx="38405" cy="16386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9219895" y="4914900"/>
            <a:ext cx="190195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486900" y="4895698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 INSTITUCIONAL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219895" y="5152644"/>
            <a:ext cx="25914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Fluxo Corporativo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Diferente de concorrentes, principal saída (300k) é para o hub institucional sulamerica.com.br.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81305" y="6391656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381305" y="6476695"/>
            <a:ext cx="133502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90702" y="6474866"/>
            <a:ext cx="599389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Fontes: SEMrush Traffic Analytics (Dez/2025) • Dados probabilísticos sujeitos a erro amostral.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7975397" y="6495898"/>
            <a:ext cx="3917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Nota: Largura dos fluxos é proporcional ao volume de sessões.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81305" y="761695"/>
            <a:ext cx="11430000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476402" y="352044"/>
            <a:ext cx="190195" cy="17190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14400" y="190195"/>
            <a:ext cx="47530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JORNADA DE TRÁFEGO DIGITAL — SULAMÉRICA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8946490" y="200254"/>
            <a:ext cx="1505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SESSIONS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614916" y="418795"/>
            <a:ext cx="562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694k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10705795" y="200254"/>
            <a:ext cx="1114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60" kern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TRAFFIC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0609783" y="418795"/>
            <a:ext cx="448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655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914400" y="485546"/>
            <a:ext cx="3591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1F2937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Origens, Fluxo e Destinos de Conversão (Dez 2025)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087661" y="523951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/mês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0970971" y="523951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(Emergente)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533095" y="881482"/>
            <a:ext cx="75895" cy="75895"/>
          </a:xfrm>
          <a:prstGeom prst="roundRect">
            <a:avLst>
              <a:gd name="adj" fmla="val 301206"/>
            </a:avLst>
          </a:prstGeom>
          <a:solidFill>
            <a:srgbClr val="9CA3AF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705002" y="847649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ORIGENS DE TRÁFEGO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5443423" y="847649"/>
            <a:ext cx="1552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 SULAMÉRICA</a:t>
            </a:r>
            <a:endParaRPr lang="en-US" sz="800" dirty="0"/>
          </a:p>
        </p:txBody>
      </p:sp>
      <p:sp>
        <p:nvSpPr>
          <p:cNvPr id="42" name="Text 33"/>
          <p:cNvSpPr txBox="1"/>
          <p:nvPr/>
        </p:nvSpPr>
        <p:spPr>
          <a:xfrm>
            <a:off x="10276942" y="847649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7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CONVERSÃO &amp; SAÍDA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9E3"/>
          </a:solidFill>
          <a:ln/>
        </p:spPr>
      </p:sp>
      <p:sp>
        <p:nvSpPr>
          <p:cNvPr id="3" name="Shape 1"/>
          <p:cNvSpPr/>
          <p:nvPr/>
        </p:nvSpPr>
        <p:spPr>
          <a:xfrm>
            <a:off x="381305" y="828446"/>
            <a:ext cx="1143000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181051"/>
            <a:ext cx="5405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6" kern="0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ROADMAP DE IMPLEMENTAÇÃO Q1-Q4 2026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580644"/>
            <a:ext cx="54443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6" kern="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Plano Estratégico de Transformação Digital: Gaps → Oportunidades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10561320" y="599846"/>
            <a:ext cx="133502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70718" y="599846"/>
            <a:ext cx="1133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2026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305" y="1028700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9634" y="1067105"/>
            <a:ext cx="1133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Q1 - FUNDAÇÃO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1305" y="1352398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1305" y="1352398"/>
            <a:ext cx="2743200" cy="2834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476402" y="1481328"/>
            <a:ext cx="85954" cy="950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19049" y="1457554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WINS (30-60D)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6402" y="1657807"/>
            <a:ext cx="57607" cy="576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0702" y="1657807"/>
            <a:ext cx="18864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Otimizar funil XGEN (-20% abandono)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6402" y="1806854"/>
            <a:ext cx="57607" cy="576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90702" y="1806854"/>
            <a:ext cx="1828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 10 páginas SEO transacionais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6402" y="1956816"/>
            <a:ext cx="57607" cy="576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90702" y="1956816"/>
            <a:ext cx="17245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 server-side (conversão)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381305" y="2361895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81305" y="2361895"/>
            <a:ext cx="2743200" cy="283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1923" r="-1923" t="0" b="0"/>
          <a:stretch/>
        </p:blipFill>
        <p:spPr>
          <a:xfrm>
            <a:off x="476402" y="2490826"/>
            <a:ext cx="123444" cy="9509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57454" y="2467051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 TÉCNICOS</a:t>
            </a:r>
            <a:endParaRPr lang="en-US" sz="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004" b="-3004"/>
          <a:stretch/>
        </p:blipFill>
        <p:spPr>
          <a:xfrm>
            <a:off x="476402" y="2667305"/>
            <a:ext cx="47549" cy="576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80644" y="2667305"/>
            <a:ext cx="1828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Integrar WhatsApp API + Salesforce</a:t>
            </a:r>
            <a:endParaRPr lang="en-US" sz="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004" b="-3004"/>
          <a:stretch/>
        </p:blipFill>
        <p:spPr>
          <a:xfrm>
            <a:off x="476402" y="2816352"/>
            <a:ext cx="47549" cy="57607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80644" y="2816352"/>
            <a:ext cx="1467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Implementar GTM server-side</a:t>
            </a:r>
            <a:endParaRPr lang="en-US" sz="800" dirty="0"/>
          </a:p>
        </p:txBody>
      </p:sp>
      <p:sp>
        <p:nvSpPr>
          <p:cNvPr id="28" name="Shape 18"/>
          <p:cNvSpPr/>
          <p:nvPr/>
        </p:nvSpPr>
        <p:spPr>
          <a:xfrm>
            <a:off x="381305" y="3372307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381305" y="3372307"/>
            <a:ext cx="2743200" cy="2834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-5288" r="-5288" t="0" b="0"/>
          <a:stretch/>
        </p:blipFill>
        <p:spPr>
          <a:xfrm>
            <a:off x="476402" y="3500323"/>
            <a:ext cx="105156" cy="9509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38251" y="3476549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 META</a:t>
            </a:r>
            <a:endParaRPr lang="en-US" sz="8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-5026" r="-5026" t="0" b="0"/>
          <a:stretch/>
        </p:blipFill>
        <p:spPr>
          <a:xfrm>
            <a:off x="476402" y="3676802"/>
            <a:ext cx="47549" cy="57607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80644" y="3676802"/>
            <a:ext cx="12673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Media: 5% → 8% mix</a:t>
            </a:r>
            <a:endParaRPr lang="en-US" sz="8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rcRect l="-5026" r="-5026" t="0" b="0"/>
          <a:stretch/>
        </p:blipFill>
        <p:spPr>
          <a:xfrm>
            <a:off x="476402" y="3825850"/>
            <a:ext cx="47549" cy="57607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580644" y="3825850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CAC: -10% via otimização</a:t>
            </a:r>
            <a:endParaRPr lang="en-US" sz="8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rcRect l="-5026" r="-5026" t="0" b="0"/>
          <a:stretch/>
        </p:blipFill>
        <p:spPr>
          <a:xfrm>
            <a:off x="476402" y="3975811"/>
            <a:ext cx="47549" cy="57607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80644" y="3975811"/>
            <a:ext cx="15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Tracking: 60% → 85% accuracy</a:t>
            </a:r>
            <a:endParaRPr lang="en-US" sz="800" dirty="0"/>
          </a:p>
        </p:txBody>
      </p:sp>
      <p:sp>
        <p:nvSpPr>
          <p:cNvPr id="38" name="Shape 24"/>
          <p:cNvSpPr/>
          <p:nvPr/>
        </p:nvSpPr>
        <p:spPr>
          <a:xfrm>
            <a:off x="381305" y="4381805"/>
            <a:ext cx="2743200" cy="647395"/>
          </a:xfrm>
          <a:prstGeom prst="roundRect">
            <a:avLst>
              <a:gd name="adj" fmla="val 12463"/>
            </a:avLst>
          </a:prstGeom>
          <a:solidFill>
            <a:srgbClr val="374151"/>
          </a:solidFill>
          <a:ln/>
        </p:spPr>
      </p:sp>
      <p:sp>
        <p:nvSpPr>
          <p:cNvPr id="39" name="Text 25"/>
          <p:cNvSpPr txBox="1"/>
          <p:nvPr/>
        </p:nvSpPr>
        <p:spPr>
          <a:xfrm>
            <a:off x="1009498" y="4466844"/>
            <a:ext cx="1610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INVESTIMENTO Q1</a:t>
            </a:r>
            <a:endParaRPr lang="en-US" sz="1200" dirty="0"/>
          </a:p>
        </p:txBody>
      </p:sp>
      <p:sp>
        <p:nvSpPr>
          <p:cNvPr id="40" name="Text 26"/>
          <p:cNvSpPr txBox="1"/>
          <p:nvPr/>
        </p:nvSpPr>
        <p:spPr>
          <a:xfrm>
            <a:off x="1392631" y="4705502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R$ 2.5M</a:t>
            </a:r>
            <a:endParaRPr lang="en-US" sz="1300" dirty="0"/>
          </a:p>
        </p:txBody>
      </p:sp>
      <p:sp>
        <p:nvSpPr>
          <p:cNvPr id="41" name="Shape 27"/>
          <p:cNvSpPr/>
          <p:nvPr/>
        </p:nvSpPr>
        <p:spPr>
          <a:xfrm>
            <a:off x="3276295" y="1028700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42" name="Text 28"/>
          <p:cNvSpPr txBox="1"/>
          <p:nvPr/>
        </p:nvSpPr>
        <p:spPr>
          <a:xfrm>
            <a:off x="4005072" y="1067105"/>
            <a:ext cx="1295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Q2 - ACELERAÇÃO</a:t>
            </a:r>
            <a:endParaRPr lang="en-US" sz="900" dirty="0"/>
          </a:p>
        </p:txBody>
      </p:sp>
      <p:sp>
        <p:nvSpPr>
          <p:cNvPr id="43" name="Shape 29"/>
          <p:cNvSpPr/>
          <p:nvPr/>
        </p:nvSpPr>
        <p:spPr>
          <a:xfrm>
            <a:off x="3276295" y="1352398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4" name="Shape 30"/>
          <p:cNvSpPr/>
          <p:nvPr/>
        </p:nvSpPr>
        <p:spPr>
          <a:xfrm>
            <a:off x="3276295" y="1352398"/>
            <a:ext cx="2743200" cy="2834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-1648" r="-1648" t="0" b="0"/>
          <a:stretch/>
        </p:blipFill>
        <p:spPr>
          <a:xfrm>
            <a:off x="3372307" y="1481328"/>
            <a:ext cx="85954" cy="95098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3514954" y="1457554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WINS (30-60D)</a:t>
            </a:r>
            <a:endParaRPr lang="en-US" sz="8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372307" y="1657807"/>
            <a:ext cx="57607" cy="57607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3486607" y="1657807"/>
            <a:ext cx="1420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Lançar 20 LPs keywords top</a:t>
            </a:r>
            <a:endParaRPr lang="en-US" sz="80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372307" y="1806854"/>
            <a:ext cx="57607" cy="57607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3486607" y="1806854"/>
            <a:ext cx="137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A/B testing checkout XGEN</a:t>
            </a:r>
            <a:endParaRPr lang="en-US" sz="8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372307" y="1956816"/>
            <a:ext cx="57607" cy="57607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3486607" y="1956816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Integrar Hotjar heatmaps</a:t>
            </a:r>
            <a:endParaRPr lang="en-US" sz="800" dirty="0"/>
          </a:p>
        </p:txBody>
      </p:sp>
      <p:sp>
        <p:nvSpPr>
          <p:cNvPr id="53" name="Shape 35"/>
          <p:cNvSpPr/>
          <p:nvPr/>
        </p:nvSpPr>
        <p:spPr>
          <a:xfrm>
            <a:off x="3276295" y="2361895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54" name="Shape 36"/>
          <p:cNvSpPr/>
          <p:nvPr/>
        </p:nvSpPr>
        <p:spPr>
          <a:xfrm>
            <a:off x="3276295" y="2361895"/>
            <a:ext cx="2743200" cy="283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-1923" r="-1923" t="0" b="0"/>
          <a:stretch/>
        </p:blipFill>
        <p:spPr>
          <a:xfrm>
            <a:off x="3372307" y="2490826"/>
            <a:ext cx="123444" cy="95098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3552444" y="2467051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 TÉCNICOS</a:t>
            </a:r>
            <a:endParaRPr lang="en-US" sz="800" dirty="0"/>
          </a:p>
        </p:txBody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3004" b="-3004"/>
          <a:stretch/>
        </p:blipFill>
        <p:spPr>
          <a:xfrm>
            <a:off x="3372307" y="2667305"/>
            <a:ext cx="47549" cy="57607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3476549" y="2667305"/>
            <a:ext cx="1571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App Hapvida (iOS/Android)</a:t>
            </a:r>
            <a:endParaRPr lang="en-US" sz="800" dirty="0"/>
          </a:p>
        </p:txBody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3004" b="-3004"/>
          <a:stretch/>
        </p:blipFill>
        <p:spPr>
          <a:xfrm>
            <a:off x="3372307" y="2816352"/>
            <a:ext cx="47549" cy="57607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3476549" y="2816352"/>
            <a:ext cx="1571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Migrar GA4 Enhanced Ecommerce</a:t>
            </a:r>
            <a:endParaRPr lang="en-US" sz="800" dirty="0"/>
          </a:p>
        </p:txBody>
      </p:sp>
      <p:sp>
        <p:nvSpPr>
          <p:cNvPr id="61" name="Shape 40"/>
          <p:cNvSpPr/>
          <p:nvPr/>
        </p:nvSpPr>
        <p:spPr>
          <a:xfrm>
            <a:off x="3276295" y="3372307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62" name="Shape 41"/>
          <p:cNvSpPr/>
          <p:nvPr/>
        </p:nvSpPr>
        <p:spPr>
          <a:xfrm>
            <a:off x="3276295" y="3372307"/>
            <a:ext cx="2743200" cy="2834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rcRect l="-5288" r="-5288" t="0" b="0"/>
          <a:stretch/>
        </p:blipFill>
        <p:spPr>
          <a:xfrm>
            <a:off x="3372307" y="3500323"/>
            <a:ext cx="105156" cy="95098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3534156" y="3476549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 META</a:t>
            </a:r>
            <a:endParaRPr lang="en-US" sz="800" dirty="0"/>
          </a:p>
        </p:txBody>
      </p:sp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rcRect l="-5026" r="-5026" t="0" b="0"/>
          <a:stretch/>
        </p:blipFill>
        <p:spPr>
          <a:xfrm>
            <a:off x="3372307" y="3676802"/>
            <a:ext cx="47549" cy="57607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3476549" y="3676802"/>
            <a:ext cx="10104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Downloads: 50k</a:t>
            </a:r>
            <a:endParaRPr lang="en-US" sz="800" dirty="0"/>
          </a:p>
        </p:txBody>
      </p:sp>
      <p:pic>
        <p:nvPicPr>
          <p:cNvPr id="67" name="Image 21" descr="preencoded.png">    </p:cNvPr>
          <p:cNvPicPr>
            <a:picLocks noChangeAspect="1"/>
          </p:cNvPicPr>
          <p:nvPr/>
        </p:nvPicPr>
        <p:blipFill>
          <a:blip r:embed="rId22"/>
          <a:srcRect l="-5026" r="-5026" t="0" b="0"/>
          <a:stretch/>
        </p:blipFill>
        <p:spPr>
          <a:xfrm>
            <a:off x="3372307" y="3825850"/>
            <a:ext cx="47549" cy="57607"/>
          </a:xfrm>
          <a:prstGeom prst="rect">
            <a:avLst/>
          </a:prstGeom>
        </p:spPr>
      </p:pic>
      <p:sp>
        <p:nvSpPr>
          <p:cNvPr id="68" name="Text 44"/>
          <p:cNvSpPr txBox="1"/>
          <p:nvPr/>
        </p:nvSpPr>
        <p:spPr>
          <a:xfrm>
            <a:off x="3476549" y="3825850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CVR Transacional: +0.5pp</a:t>
            </a:r>
            <a:endParaRPr lang="en-US" sz="800" dirty="0"/>
          </a:p>
        </p:txBody>
      </p:sp>
      <p:pic>
        <p:nvPicPr>
          <p:cNvPr id="69" name="Image 22" descr="preencoded.png">    </p:cNvPr>
          <p:cNvPicPr>
            <a:picLocks noChangeAspect="1"/>
          </p:cNvPicPr>
          <p:nvPr/>
        </p:nvPicPr>
        <p:blipFill>
          <a:blip r:embed="rId23"/>
          <a:srcRect l="-5026" r="-5026" t="0" b="0"/>
          <a:stretch/>
        </p:blipFill>
        <p:spPr>
          <a:xfrm>
            <a:off x="3372307" y="3975811"/>
            <a:ext cx="47549" cy="57607"/>
          </a:xfrm>
          <a:prstGeom prst="rect">
            <a:avLst/>
          </a:prstGeom>
        </p:spPr>
      </p:pic>
      <p:sp>
        <p:nvSpPr>
          <p:cNvPr id="70" name="Text 45"/>
          <p:cNvSpPr txBox="1"/>
          <p:nvPr/>
        </p:nvSpPr>
        <p:spPr>
          <a:xfrm>
            <a:off x="3476549" y="3975811"/>
            <a:ext cx="12097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Duration: +15%</a:t>
            </a:r>
            <a:endParaRPr lang="en-US" sz="800" dirty="0"/>
          </a:p>
        </p:txBody>
      </p:sp>
      <p:sp>
        <p:nvSpPr>
          <p:cNvPr id="71" name="Shape 46"/>
          <p:cNvSpPr/>
          <p:nvPr/>
        </p:nvSpPr>
        <p:spPr>
          <a:xfrm>
            <a:off x="3276295" y="4381805"/>
            <a:ext cx="2743200" cy="647395"/>
          </a:xfrm>
          <a:prstGeom prst="roundRect">
            <a:avLst>
              <a:gd name="adj" fmla="val 12463"/>
            </a:avLst>
          </a:prstGeom>
          <a:solidFill>
            <a:srgbClr val="374151"/>
          </a:solidFill>
          <a:ln/>
        </p:spPr>
      </p:sp>
      <p:sp>
        <p:nvSpPr>
          <p:cNvPr id="72" name="Text 47"/>
          <p:cNvSpPr txBox="1"/>
          <p:nvPr/>
        </p:nvSpPr>
        <p:spPr>
          <a:xfrm>
            <a:off x="3905402" y="4466844"/>
            <a:ext cx="1610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INVESTIMENTO Q2</a:t>
            </a:r>
            <a:endParaRPr lang="en-US" sz="1200" dirty="0"/>
          </a:p>
        </p:txBody>
      </p:sp>
      <p:sp>
        <p:nvSpPr>
          <p:cNvPr id="73" name="Text 48"/>
          <p:cNvSpPr txBox="1"/>
          <p:nvPr/>
        </p:nvSpPr>
        <p:spPr>
          <a:xfrm>
            <a:off x="4287622" y="4705502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R$ 4.8M</a:t>
            </a:r>
            <a:endParaRPr lang="en-US" sz="1300" dirty="0"/>
          </a:p>
        </p:txBody>
      </p:sp>
      <p:sp>
        <p:nvSpPr>
          <p:cNvPr id="74" name="Shape 49"/>
          <p:cNvSpPr/>
          <p:nvPr/>
        </p:nvSpPr>
        <p:spPr>
          <a:xfrm>
            <a:off x="6172200" y="1028700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75" name="Text 50"/>
          <p:cNvSpPr txBox="1"/>
          <p:nvPr/>
        </p:nvSpPr>
        <p:spPr>
          <a:xfrm>
            <a:off x="6900977" y="1067105"/>
            <a:ext cx="1295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Q3 - OTIMIZAÇÃO</a:t>
            </a:r>
            <a:endParaRPr lang="en-US" sz="900" dirty="0"/>
          </a:p>
        </p:txBody>
      </p:sp>
      <p:sp>
        <p:nvSpPr>
          <p:cNvPr id="76" name="Shape 51"/>
          <p:cNvSpPr/>
          <p:nvPr/>
        </p:nvSpPr>
        <p:spPr>
          <a:xfrm>
            <a:off x="6172200" y="1352398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77" name="Shape 52"/>
          <p:cNvSpPr/>
          <p:nvPr/>
        </p:nvSpPr>
        <p:spPr>
          <a:xfrm>
            <a:off x="6172200" y="1352398"/>
            <a:ext cx="2743200" cy="2834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8" name="Image 23" descr="preencoded.png">    </p:cNvPr>
          <p:cNvPicPr>
            <a:picLocks noChangeAspect="1"/>
          </p:cNvPicPr>
          <p:nvPr/>
        </p:nvPicPr>
        <p:blipFill>
          <a:blip r:embed="rId24"/>
          <a:srcRect l="-1648" r="-1648" t="0" b="0"/>
          <a:stretch/>
        </p:blipFill>
        <p:spPr>
          <a:xfrm>
            <a:off x="6267298" y="1481328"/>
            <a:ext cx="85954" cy="95098"/>
          </a:xfrm>
          <a:prstGeom prst="rect">
            <a:avLst/>
          </a:prstGeom>
        </p:spPr>
      </p:pic>
      <p:sp>
        <p:nvSpPr>
          <p:cNvPr id="79" name="Text 53"/>
          <p:cNvSpPr txBox="1"/>
          <p:nvPr/>
        </p:nvSpPr>
        <p:spPr>
          <a:xfrm>
            <a:off x="6409944" y="1457554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WINS (30-60D)</a:t>
            </a:r>
            <a:endParaRPr lang="en-US" sz="800" dirty="0"/>
          </a:p>
        </p:txBody>
      </p:sp>
      <p:pic>
        <p:nvPicPr>
          <p:cNvPr id="80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6267298" y="1657807"/>
            <a:ext cx="57607" cy="57607"/>
          </a:xfrm>
          <a:prstGeom prst="rect">
            <a:avLst/>
          </a:prstGeom>
        </p:spPr>
      </p:pic>
      <p:sp>
        <p:nvSpPr>
          <p:cNvPr id="81" name="Text 54"/>
          <p:cNvSpPr txBox="1"/>
          <p:nvPr/>
        </p:nvSpPr>
        <p:spPr>
          <a:xfrm>
            <a:off x="6381598" y="1657807"/>
            <a:ext cx="1677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 30 páginas informacionais</a:t>
            </a:r>
            <a:endParaRPr lang="en-US" sz="800" dirty="0"/>
          </a:p>
        </p:txBody>
      </p:sp>
      <p:pic>
        <p:nvPicPr>
          <p:cNvPr id="82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6267298" y="1806854"/>
            <a:ext cx="57607" cy="57607"/>
          </a:xfrm>
          <a:prstGeom prst="rect">
            <a:avLst/>
          </a:prstGeom>
        </p:spPr>
      </p:pic>
      <p:sp>
        <p:nvSpPr>
          <p:cNvPr id="83" name="Text 55"/>
          <p:cNvSpPr txBox="1"/>
          <p:nvPr/>
        </p:nvSpPr>
        <p:spPr>
          <a:xfrm>
            <a:off x="6381598" y="1806854"/>
            <a:ext cx="1162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proativo no site</a:t>
            </a:r>
            <a:endParaRPr lang="en-US" sz="800" dirty="0"/>
          </a:p>
        </p:txBody>
      </p:sp>
      <p:pic>
        <p:nvPicPr>
          <p:cNvPr id="84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6267298" y="1956816"/>
            <a:ext cx="57607" cy="57607"/>
          </a:xfrm>
          <a:prstGeom prst="rect">
            <a:avLst/>
          </a:prstGeom>
        </p:spPr>
      </p:pic>
      <p:sp>
        <p:nvSpPr>
          <p:cNvPr id="85" name="Text 56"/>
          <p:cNvSpPr txBox="1"/>
          <p:nvPr/>
        </p:nvSpPr>
        <p:spPr>
          <a:xfrm>
            <a:off x="6381598" y="1956816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Otimizar Core Web Vitals</a:t>
            </a:r>
            <a:endParaRPr lang="en-US" sz="800" dirty="0"/>
          </a:p>
        </p:txBody>
      </p:sp>
      <p:sp>
        <p:nvSpPr>
          <p:cNvPr id="86" name="Shape 57"/>
          <p:cNvSpPr/>
          <p:nvPr/>
        </p:nvSpPr>
        <p:spPr>
          <a:xfrm>
            <a:off x="6172200" y="2361895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7" name="Shape 58"/>
          <p:cNvSpPr/>
          <p:nvPr/>
        </p:nvSpPr>
        <p:spPr>
          <a:xfrm>
            <a:off x="6172200" y="2361895"/>
            <a:ext cx="2743200" cy="283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8" name="Image 27" descr="preencoded.png">    </p:cNvPr>
          <p:cNvPicPr>
            <a:picLocks noChangeAspect="1"/>
          </p:cNvPicPr>
          <p:nvPr/>
        </p:nvPicPr>
        <p:blipFill>
          <a:blip r:embed="rId28"/>
          <a:srcRect l="-1923" r="-1923" t="0" b="0"/>
          <a:stretch/>
        </p:blipFill>
        <p:spPr>
          <a:xfrm>
            <a:off x="6267298" y="2490826"/>
            <a:ext cx="123444" cy="95098"/>
          </a:xfrm>
          <a:prstGeom prst="rect">
            <a:avLst/>
          </a:prstGeom>
        </p:spPr>
      </p:pic>
      <p:sp>
        <p:nvSpPr>
          <p:cNvPr id="89" name="Text 59"/>
          <p:cNvSpPr txBox="1"/>
          <p:nvPr/>
        </p:nvSpPr>
        <p:spPr>
          <a:xfrm>
            <a:off x="6448349" y="2467051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 TÉCNICOS</a:t>
            </a:r>
            <a:endParaRPr lang="en-US" sz="800" dirty="0"/>
          </a:p>
        </p:txBody>
      </p:sp>
      <p:pic>
        <p:nvPicPr>
          <p:cNvPr id="90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-3004" b="-3004"/>
          <a:stretch/>
        </p:blipFill>
        <p:spPr>
          <a:xfrm>
            <a:off x="6267298" y="2667305"/>
            <a:ext cx="47549" cy="57607"/>
          </a:xfrm>
          <a:prstGeom prst="rect">
            <a:avLst/>
          </a:prstGeom>
        </p:spPr>
      </p:pic>
      <p:sp>
        <p:nvSpPr>
          <p:cNvPr id="91" name="Text 60"/>
          <p:cNvSpPr txBox="1"/>
          <p:nvPr/>
        </p:nvSpPr>
        <p:spPr>
          <a:xfrm>
            <a:off x="6372454" y="2667305"/>
            <a:ext cx="18864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Optimize360 (Personalização)</a:t>
            </a:r>
            <a:endParaRPr lang="en-US" sz="800" dirty="0"/>
          </a:p>
        </p:txBody>
      </p:sp>
      <p:pic>
        <p:nvPicPr>
          <p:cNvPr id="92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3004" b="-3004"/>
          <a:stretch/>
        </p:blipFill>
        <p:spPr>
          <a:xfrm>
            <a:off x="6267298" y="2816352"/>
            <a:ext cx="47549" cy="57607"/>
          </a:xfrm>
          <a:prstGeom prst="rect">
            <a:avLst/>
          </a:prstGeom>
        </p:spPr>
      </p:pic>
      <p:sp>
        <p:nvSpPr>
          <p:cNvPr id="93" name="Text 61"/>
          <p:cNvSpPr txBox="1"/>
          <p:nvPr/>
        </p:nvSpPr>
        <p:spPr>
          <a:xfrm>
            <a:off x="6372454" y="2816352"/>
            <a:ext cx="1420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Salesforce Marketing Cloud</a:t>
            </a:r>
            <a:endParaRPr lang="en-US" sz="800" dirty="0"/>
          </a:p>
        </p:txBody>
      </p:sp>
      <p:sp>
        <p:nvSpPr>
          <p:cNvPr id="94" name="Shape 62"/>
          <p:cNvSpPr/>
          <p:nvPr/>
        </p:nvSpPr>
        <p:spPr>
          <a:xfrm>
            <a:off x="6172200" y="3372307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95" name="Shape 63"/>
          <p:cNvSpPr/>
          <p:nvPr/>
        </p:nvSpPr>
        <p:spPr>
          <a:xfrm>
            <a:off x="6172200" y="3372307"/>
            <a:ext cx="2743200" cy="2834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96" name="Image 30" descr="preencoded.png">    </p:cNvPr>
          <p:cNvPicPr>
            <a:picLocks noChangeAspect="1"/>
          </p:cNvPicPr>
          <p:nvPr/>
        </p:nvPicPr>
        <p:blipFill>
          <a:blip r:embed="rId31"/>
          <a:srcRect l="-5288" r="-5288" t="0" b="0"/>
          <a:stretch/>
        </p:blipFill>
        <p:spPr>
          <a:xfrm>
            <a:off x="6267298" y="3500323"/>
            <a:ext cx="105156" cy="95098"/>
          </a:xfrm>
          <a:prstGeom prst="rect">
            <a:avLst/>
          </a:prstGeom>
        </p:spPr>
      </p:pic>
      <p:sp>
        <p:nvSpPr>
          <p:cNvPr id="97" name="Text 64"/>
          <p:cNvSpPr txBox="1"/>
          <p:nvPr/>
        </p:nvSpPr>
        <p:spPr>
          <a:xfrm>
            <a:off x="6429146" y="3476549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 META</a:t>
            </a:r>
            <a:endParaRPr lang="en-US" sz="800" dirty="0"/>
          </a:p>
        </p:txBody>
      </p:sp>
      <p:pic>
        <p:nvPicPr>
          <p:cNvPr id="98" name="Image 31" descr="preencoded.png">    </p:cNvPr>
          <p:cNvPicPr>
            <a:picLocks noChangeAspect="1"/>
          </p:cNvPicPr>
          <p:nvPr/>
        </p:nvPicPr>
        <p:blipFill>
          <a:blip r:embed="rId32"/>
          <a:srcRect l="-5026" r="-5026" t="0" b="0"/>
          <a:stretch/>
        </p:blipFill>
        <p:spPr>
          <a:xfrm>
            <a:off x="6267298" y="3676802"/>
            <a:ext cx="47549" cy="57607"/>
          </a:xfrm>
          <a:prstGeom prst="rect">
            <a:avLst/>
          </a:prstGeom>
        </p:spPr>
      </p:pic>
      <p:sp>
        <p:nvSpPr>
          <p:cNvPr id="99" name="Text 65"/>
          <p:cNvSpPr txBox="1"/>
          <p:nvPr/>
        </p:nvSpPr>
        <p:spPr>
          <a:xfrm>
            <a:off x="6372454" y="3676802"/>
            <a:ext cx="137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Personalização Reach: 40%</a:t>
            </a:r>
            <a:endParaRPr lang="en-US" sz="800" dirty="0"/>
          </a:p>
        </p:txBody>
      </p:sp>
      <p:pic>
        <p:nvPicPr>
          <p:cNvPr id="100" name="Image 32" descr="preencoded.png">    </p:cNvPr>
          <p:cNvPicPr>
            <a:picLocks noChangeAspect="1"/>
          </p:cNvPicPr>
          <p:nvPr/>
        </p:nvPicPr>
        <p:blipFill>
          <a:blip r:embed="rId33"/>
          <a:srcRect l="-5026" r="-5026" t="0" b="0"/>
          <a:stretch/>
        </p:blipFill>
        <p:spPr>
          <a:xfrm>
            <a:off x="6267298" y="3825850"/>
            <a:ext cx="47549" cy="57607"/>
          </a:xfrm>
          <a:prstGeom prst="rect">
            <a:avLst/>
          </a:prstGeom>
        </p:spPr>
      </p:pic>
      <p:sp>
        <p:nvSpPr>
          <p:cNvPr id="101" name="Text 66"/>
          <p:cNvSpPr txBox="1"/>
          <p:nvPr/>
        </p:nvSpPr>
        <p:spPr>
          <a:xfrm>
            <a:off x="6372454" y="3825850"/>
            <a:ext cx="12097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CVR: 1.5% → 2.5%</a:t>
            </a:r>
            <a:endParaRPr lang="en-US" sz="800" dirty="0"/>
          </a:p>
        </p:txBody>
      </p:sp>
      <p:pic>
        <p:nvPicPr>
          <p:cNvPr id="102" name="Image 33" descr="preencoded.png">    </p:cNvPr>
          <p:cNvPicPr>
            <a:picLocks noChangeAspect="1"/>
          </p:cNvPicPr>
          <p:nvPr/>
        </p:nvPicPr>
        <p:blipFill>
          <a:blip r:embed="rId34"/>
          <a:srcRect l="-5026" r="-5026" t="0" b="0"/>
          <a:stretch/>
        </p:blipFill>
        <p:spPr>
          <a:xfrm>
            <a:off x="6267298" y="3975811"/>
            <a:ext cx="47549" cy="57607"/>
          </a:xfrm>
          <a:prstGeom prst="rect">
            <a:avLst/>
          </a:prstGeom>
        </p:spPr>
      </p:pic>
      <p:sp>
        <p:nvSpPr>
          <p:cNvPr id="103" name="Text 67"/>
          <p:cNvSpPr txBox="1"/>
          <p:nvPr/>
        </p:nvSpPr>
        <p:spPr>
          <a:xfrm>
            <a:off x="6372454" y="3975811"/>
            <a:ext cx="1057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Digital: -1pp</a:t>
            </a:r>
            <a:endParaRPr lang="en-US" sz="800" dirty="0"/>
          </a:p>
        </p:txBody>
      </p:sp>
      <p:sp>
        <p:nvSpPr>
          <p:cNvPr id="104" name="Shape 68"/>
          <p:cNvSpPr/>
          <p:nvPr/>
        </p:nvSpPr>
        <p:spPr>
          <a:xfrm>
            <a:off x="6172200" y="4381805"/>
            <a:ext cx="2743200" cy="647395"/>
          </a:xfrm>
          <a:prstGeom prst="roundRect">
            <a:avLst>
              <a:gd name="adj" fmla="val 12463"/>
            </a:avLst>
          </a:prstGeom>
          <a:solidFill>
            <a:srgbClr val="374151"/>
          </a:solidFill>
          <a:ln/>
        </p:spPr>
      </p:sp>
      <p:sp>
        <p:nvSpPr>
          <p:cNvPr id="105" name="Text 69"/>
          <p:cNvSpPr txBox="1"/>
          <p:nvPr/>
        </p:nvSpPr>
        <p:spPr>
          <a:xfrm>
            <a:off x="6800393" y="4466844"/>
            <a:ext cx="1610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INVESTIMENTO Q3</a:t>
            </a:r>
            <a:endParaRPr lang="en-US" sz="1200" dirty="0"/>
          </a:p>
        </p:txBody>
      </p:sp>
      <p:sp>
        <p:nvSpPr>
          <p:cNvPr id="106" name="Text 70"/>
          <p:cNvSpPr txBox="1"/>
          <p:nvPr/>
        </p:nvSpPr>
        <p:spPr>
          <a:xfrm>
            <a:off x="7183526" y="4705502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R$ 3.2M</a:t>
            </a:r>
            <a:endParaRPr lang="en-US" sz="1300" dirty="0"/>
          </a:p>
        </p:txBody>
      </p:sp>
      <p:sp>
        <p:nvSpPr>
          <p:cNvPr id="107" name="Shape 71"/>
          <p:cNvSpPr/>
          <p:nvPr/>
        </p:nvSpPr>
        <p:spPr>
          <a:xfrm>
            <a:off x="9068105" y="1028700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108" name="Text 72"/>
          <p:cNvSpPr txBox="1"/>
          <p:nvPr/>
        </p:nvSpPr>
        <p:spPr>
          <a:xfrm>
            <a:off x="9716414" y="1067105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Q4 - CONSOLIDAÇÃO</a:t>
            </a:r>
            <a:endParaRPr lang="en-US" sz="900" dirty="0"/>
          </a:p>
        </p:txBody>
      </p:sp>
      <p:sp>
        <p:nvSpPr>
          <p:cNvPr id="109" name="Shape 73"/>
          <p:cNvSpPr/>
          <p:nvPr/>
        </p:nvSpPr>
        <p:spPr>
          <a:xfrm>
            <a:off x="9068105" y="1352398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10" name="Shape 74"/>
          <p:cNvSpPr/>
          <p:nvPr/>
        </p:nvSpPr>
        <p:spPr>
          <a:xfrm>
            <a:off x="9068105" y="1352398"/>
            <a:ext cx="2743200" cy="2834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1" name="Image 34" descr="preencoded.png">    </p:cNvPr>
          <p:cNvPicPr>
            <a:picLocks noChangeAspect="1"/>
          </p:cNvPicPr>
          <p:nvPr/>
        </p:nvPicPr>
        <p:blipFill>
          <a:blip r:embed="rId35"/>
          <a:srcRect l="-1648" r="-1648" t="0" b="0"/>
          <a:stretch/>
        </p:blipFill>
        <p:spPr>
          <a:xfrm>
            <a:off x="9163202" y="1481328"/>
            <a:ext cx="85954" cy="95098"/>
          </a:xfrm>
          <a:prstGeom prst="rect">
            <a:avLst/>
          </a:prstGeom>
        </p:spPr>
      </p:pic>
      <p:sp>
        <p:nvSpPr>
          <p:cNvPr id="112" name="Text 75"/>
          <p:cNvSpPr txBox="1"/>
          <p:nvPr/>
        </p:nvSpPr>
        <p:spPr>
          <a:xfrm>
            <a:off x="9305849" y="1457554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WINS (30-60D)</a:t>
            </a:r>
            <a:endParaRPr lang="en-US" sz="800" dirty="0"/>
          </a:p>
        </p:txBody>
      </p:sp>
      <p:pic>
        <p:nvPicPr>
          <p:cNvPr id="113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9163202" y="1657807"/>
            <a:ext cx="57607" cy="57607"/>
          </a:xfrm>
          <a:prstGeom prst="rect">
            <a:avLst/>
          </a:prstGeom>
        </p:spPr>
      </p:pic>
      <p:sp>
        <p:nvSpPr>
          <p:cNvPr id="114" name="Text 76"/>
          <p:cNvSpPr txBox="1"/>
          <p:nvPr/>
        </p:nvSpPr>
        <p:spPr>
          <a:xfrm>
            <a:off x="9277502" y="1657807"/>
            <a:ext cx="15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 Fidelidade WhatsApp</a:t>
            </a:r>
            <a:endParaRPr lang="en-US" sz="800" dirty="0"/>
          </a:p>
        </p:txBody>
      </p:sp>
      <p:pic>
        <p:nvPicPr>
          <p:cNvPr id="115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9163202" y="1806854"/>
            <a:ext cx="57607" cy="57607"/>
          </a:xfrm>
          <a:prstGeom prst="rect">
            <a:avLst/>
          </a:prstGeom>
        </p:spPr>
      </p:pic>
      <p:sp>
        <p:nvSpPr>
          <p:cNvPr id="116" name="Text 77"/>
          <p:cNvSpPr txBox="1"/>
          <p:nvPr/>
        </p:nvSpPr>
        <p:spPr>
          <a:xfrm>
            <a:off x="9277502" y="1806854"/>
            <a:ext cx="12097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 Educacional (Blog)</a:t>
            </a:r>
            <a:endParaRPr lang="en-US" sz="800" dirty="0"/>
          </a:p>
        </p:txBody>
      </p:sp>
      <p:pic>
        <p:nvPicPr>
          <p:cNvPr id="117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9163202" y="1956816"/>
            <a:ext cx="57607" cy="57607"/>
          </a:xfrm>
          <a:prstGeom prst="rect">
            <a:avLst/>
          </a:prstGeom>
        </p:spPr>
      </p:pic>
      <p:sp>
        <p:nvSpPr>
          <p:cNvPr id="118" name="Text 78"/>
          <p:cNvSpPr txBox="1"/>
          <p:nvPr/>
        </p:nvSpPr>
        <p:spPr>
          <a:xfrm>
            <a:off x="9277502" y="1956816"/>
            <a:ext cx="11146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Remarketing Avançado</a:t>
            </a:r>
            <a:endParaRPr lang="en-US" sz="800" dirty="0"/>
          </a:p>
        </p:txBody>
      </p:sp>
      <p:sp>
        <p:nvSpPr>
          <p:cNvPr id="119" name="Shape 79"/>
          <p:cNvSpPr/>
          <p:nvPr/>
        </p:nvSpPr>
        <p:spPr>
          <a:xfrm>
            <a:off x="9068105" y="2361895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20" name="Shape 80"/>
          <p:cNvSpPr/>
          <p:nvPr/>
        </p:nvSpPr>
        <p:spPr>
          <a:xfrm>
            <a:off x="9068105" y="2361895"/>
            <a:ext cx="2743200" cy="283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1" name="Image 38" descr="preencoded.png">    </p:cNvPr>
          <p:cNvPicPr>
            <a:picLocks noChangeAspect="1"/>
          </p:cNvPicPr>
          <p:nvPr/>
        </p:nvPicPr>
        <p:blipFill>
          <a:blip r:embed="rId39"/>
          <a:srcRect l="-1923" r="-1923" t="0" b="0"/>
          <a:stretch/>
        </p:blipFill>
        <p:spPr>
          <a:xfrm>
            <a:off x="9163202" y="2490826"/>
            <a:ext cx="123444" cy="95098"/>
          </a:xfrm>
          <a:prstGeom prst="rect">
            <a:avLst/>
          </a:prstGeom>
        </p:spPr>
      </p:pic>
      <p:sp>
        <p:nvSpPr>
          <p:cNvPr id="122" name="Text 81"/>
          <p:cNvSpPr txBox="1"/>
          <p:nvPr/>
        </p:nvSpPr>
        <p:spPr>
          <a:xfrm>
            <a:off x="9344254" y="2467051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 TÉCNICOS</a:t>
            </a:r>
            <a:endParaRPr lang="en-US" sz="800" dirty="0"/>
          </a:p>
        </p:txBody>
      </p:sp>
      <p:pic>
        <p:nvPicPr>
          <p:cNvPr id="123" name="Image 39" descr="preencoded.png">    </p:cNvPr>
          <p:cNvPicPr>
            <a:picLocks noChangeAspect="1"/>
          </p:cNvPicPr>
          <p:nvPr/>
        </p:nvPicPr>
        <p:blipFill>
          <a:blip r:embed="rId40"/>
          <a:srcRect l="0" r="0" t="-3004" b="-3004"/>
          <a:stretch/>
        </p:blipFill>
        <p:spPr>
          <a:xfrm>
            <a:off x="9163202" y="2667305"/>
            <a:ext cx="47549" cy="57607"/>
          </a:xfrm>
          <a:prstGeom prst="rect">
            <a:avLst/>
          </a:prstGeom>
        </p:spPr>
      </p:pic>
      <p:sp>
        <p:nvSpPr>
          <p:cNvPr id="124" name="Text 82"/>
          <p:cNvSpPr txBox="1"/>
          <p:nvPr/>
        </p:nvSpPr>
        <p:spPr>
          <a:xfrm>
            <a:off x="9267444" y="2667305"/>
            <a:ext cx="137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Pagamento Interno</a:t>
            </a:r>
            <a:endParaRPr lang="en-US" sz="800" dirty="0"/>
          </a:p>
        </p:txBody>
      </p:sp>
      <p:pic>
        <p:nvPicPr>
          <p:cNvPr id="125" name="Image 40" descr="preencoded.png">    </p:cNvPr>
          <p:cNvPicPr>
            <a:picLocks noChangeAspect="1"/>
          </p:cNvPicPr>
          <p:nvPr/>
        </p:nvPicPr>
        <p:blipFill>
          <a:blip r:embed="rId41"/>
          <a:srcRect l="0" r="0" t="-3004" b="-3004"/>
          <a:stretch/>
        </p:blipFill>
        <p:spPr>
          <a:xfrm>
            <a:off x="9163202" y="2816352"/>
            <a:ext cx="47549" cy="57607"/>
          </a:xfrm>
          <a:prstGeom prst="rect">
            <a:avLst/>
          </a:prstGeom>
        </p:spPr>
      </p:pic>
      <p:sp>
        <p:nvSpPr>
          <p:cNvPr id="126" name="Text 83"/>
          <p:cNvSpPr txBox="1"/>
          <p:nvPr/>
        </p:nvSpPr>
        <p:spPr>
          <a:xfrm>
            <a:off x="9267444" y="2816352"/>
            <a:ext cx="1467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Dynatrace APM (Performance)</a:t>
            </a:r>
            <a:endParaRPr lang="en-US" sz="800" dirty="0"/>
          </a:p>
        </p:txBody>
      </p:sp>
      <p:sp>
        <p:nvSpPr>
          <p:cNvPr id="127" name="Shape 84"/>
          <p:cNvSpPr/>
          <p:nvPr/>
        </p:nvSpPr>
        <p:spPr>
          <a:xfrm>
            <a:off x="9068105" y="3372307"/>
            <a:ext cx="2743200" cy="9144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28" name="Shape 85"/>
          <p:cNvSpPr/>
          <p:nvPr/>
        </p:nvSpPr>
        <p:spPr>
          <a:xfrm>
            <a:off x="9068105" y="3372307"/>
            <a:ext cx="2743200" cy="2834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9" name="Image 41" descr="preencoded.png">    </p:cNvPr>
          <p:cNvPicPr>
            <a:picLocks noChangeAspect="1"/>
          </p:cNvPicPr>
          <p:nvPr/>
        </p:nvPicPr>
        <p:blipFill>
          <a:blip r:embed="rId42"/>
          <a:srcRect l="-5288" r="-5288" t="0" b="0"/>
          <a:stretch/>
        </p:blipFill>
        <p:spPr>
          <a:xfrm>
            <a:off x="9163202" y="3500323"/>
            <a:ext cx="105156" cy="95098"/>
          </a:xfrm>
          <a:prstGeom prst="rect">
            <a:avLst/>
          </a:prstGeom>
        </p:spPr>
      </p:pic>
      <p:sp>
        <p:nvSpPr>
          <p:cNvPr id="130" name="Text 86"/>
          <p:cNvSpPr txBox="1"/>
          <p:nvPr/>
        </p:nvSpPr>
        <p:spPr>
          <a:xfrm>
            <a:off x="9325051" y="3476549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 META</a:t>
            </a:r>
            <a:endParaRPr lang="en-US" sz="800" dirty="0"/>
          </a:p>
        </p:txBody>
      </p:sp>
      <p:pic>
        <p:nvPicPr>
          <p:cNvPr id="131" name="Image 42" descr="preencoded.png">    </p:cNvPr>
          <p:cNvPicPr>
            <a:picLocks noChangeAspect="1"/>
          </p:cNvPicPr>
          <p:nvPr/>
        </p:nvPicPr>
        <p:blipFill>
          <a:blip r:embed="rId43"/>
          <a:srcRect l="-5026" r="-5026" t="0" b="0"/>
          <a:stretch/>
        </p:blipFill>
        <p:spPr>
          <a:xfrm>
            <a:off x="9163202" y="3676802"/>
            <a:ext cx="47549" cy="57607"/>
          </a:xfrm>
          <a:prstGeom prst="rect">
            <a:avLst/>
          </a:prstGeom>
        </p:spPr>
      </p:pic>
      <p:sp>
        <p:nvSpPr>
          <p:cNvPr id="132" name="Text 87"/>
          <p:cNvSpPr txBox="1"/>
          <p:nvPr/>
        </p:nvSpPr>
        <p:spPr>
          <a:xfrm>
            <a:off x="9267444" y="3676802"/>
            <a:ext cx="1420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Interno: 100% live</a:t>
            </a:r>
            <a:endParaRPr lang="en-US" sz="800" dirty="0"/>
          </a:p>
        </p:txBody>
      </p:sp>
      <p:pic>
        <p:nvPicPr>
          <p:cNvPr id="133" name="Image 43" descr="preencoded.png">    </p:cNvPr>
          <p:cNvPicPr>
            <a:picLocks noChangeAspect="1"/>
          </p:cNvPicPr>
          <p:nvPr/>
        </p:nvPicPr>
        <p:blipFill>
          <a:blip r:embed="rId44"/>
          <a:srcRect l="-5026" r="-5026" t="0" b="0"/>
          <a:stretch/>
        </p:blipFill>
        <p:spPr>
          <a:xfrm>
            <a:off x="9163202" y="3825850"/>
            <a:ext cx="47549" cy="57607"/>
          </a:xfrm>
          <a:prstGeom prst="rect">
            <a:avLst/>
          </a:prstGeom>
        </p:spPr>
      </p:pic>
      <p:sp>
        <p:nvSpPr>
          <p:cNvPr id="134" name="Text 88"/>
          <p:cNvSpPr txBox="1"/>
          <p:nvPr/>
        </p:nvSpPr>
        <p:spPr>
          <a:xfrm>
            <a:off x="9267444" y="3825850"/>
            <a:ext cx="12673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Retention: 25%</a:t>
            </a:r>
            <a:endParaRPr lang="en-US" sz="800" dirty="0"/>
          </a:p>
        </p:txBody>
      </p:sp>
      <p:pic>
        <p:nvPicPr>
          <p:cNvPr id="135" name="Image 44" descr="preencoded.png">    </p:cNvPr>
          <p:cNvPicPr>
            <a:picLocks noChangeAspect="1"/>
          </p:cNvPicPr>
          <p:nvPr/>
        </p:nvPicPr>
        <p:blipFill>
          <a:blip r:embed="rId45"/>
          <a:srcRect l="-5026" r="-5026" t="0" b="0"/>
          <a:stretch/>
        </p:blipFill>
        <p:spPr>
          <a:xfrm>
            <a:off x="9163202" y="3975811"/>
            <a:ext cx="47549" cy="57607"/>
          </a:xfrm>
          <a:prstGeom prst="rect">
            <a:avLst/>
          </a:prstGeom>
        </p:spPr>
      </p:pic>
      <p:sp>
        <p:nvSpPr>
          <p:cNvPr id="136" name="Text 89"/>
          <p:cNvSpPr txBox="1"/>
          <p:nvPr/>
        </p:nvSpPr>
        <p:spPr>
          <a:xfrm>
            <a:off x="9267444" y="3975811"/>
            <a:ext cx="12673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NPS Digital: +15 pontos</a:t>
            </a:r>
            <a:endParaRPr lang="en-US" sz="800" dirty="0"/>
          </a:p>
        </p:txBody>
      </p:sp>
      <p:sp>
        <p:nvSpPr>
          <p:cNvPr id="137" name="Shape 90"/>
          <p:cNvSpPr/>
          <p:nvPr/>
        </p:nvSpPr>
        <p:spPr>
          <a:xfrm>
            <a:off x="9068105" y="4381805"/>
            <a:ext cx="2743200" cy="647395"/>
          </a:xfrm>
          <a:prstGeom prst="roundRect">
            <a:avLst>
              <a:gd name="adj" fmla="val 12463"/>
            </a:avLst>
          </a:prstGeom>
          <a:solidFill>
            <a:srgbClr val="374151"/>
          </a:solidFill>
          <a:ln/>
        </p:spPr>
      </p:sp>
      <p:sp>
        <p:nvSpPr>
          <p:cNvPr id="138" name="Text 91"/>
          <p:cNvSpPr txBox="1"/>
          <p:nvPr/>
        </p:nvSpPr>
        <p:spPr>
          <a:xfrm>
            <a:off x="9696298" y="4466844"/>
            <a:ext cx="1610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INVESTIMENTO Q4</a:t>
            </a:r>
            <a:endParaRPr lang="en-US" sz="1200" dirty="0"/>
          </a:p>
        </p:txBody>
      </p:sp>
      <p:sp>
        <p:nvSpPr>
          <p:cNvPr id="139" name="Text 92"/>
          <p:cNvSpPr txBox="1"/>
          <p:nvPr/>
        </p:nvSpPr>
        <p:spPr>
          <a:xfrm>
            <a:off x="10079431" y="4705502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R$ 5.5M</a:t>
            </a:r>
            <a:endParaRPr lang="en-US" sz="1300" dirty="0"/>
          </a:p>
        </p:txBody>
      </p:sp>
      <p:sp>
        <p:nvSpPr>
          <p:cNvPr id="140" name="Shape 93"/>
          <p:cNvSpPr/>
          <p:nvPr/>
        </p:nvSpPr>
        <p:spPr>
          <a:xfrm>
            <a:off x="381305" y="5181905"/>
            <a:ext cx="11430000" cy="866851"/>
          </a:xfrm>
          <a:prstGeom prst="roundRect">
            <a:avLst>
              <a:gd name="adj" fmla="val 9273"/>
            </a:avLst>
          </a:prstGeom>
          <a:solidFill>
            <a:srgbClr val="224088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1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666598" y="5519318"/>
            <a:ext cx="190195" cy="190195"/>
          </a:xfrm>
          <a:prstGeom prst="rect">
            <a:avLst/>
          </a:prstGeom>
        </p:spPr>
      </p:pic>
      <p:sp>
        <p:nvSpPr>
          <p:cNvPr id="142" name="Text 94"/>
          <p:cNvSpPr txBox="1"/>
          <p:nvPr/>
        </p:nvSpPr>
        <p:spPr>
          <a:xfrm>
            <a:off x="1104595" y="5357470"/>
            <a:ext cx="197693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Resumo Financeiro 2026</a:t>
            </a:r>
            <a:endParaRPr lang="en-US" sz="1300" dirty="0"/>
          </a:p>
        </p:txBody>
      </p:sp>
      <p:sp>
        <p:nvSpPr>
          <p:cNvPr id="143" name="Text 95"/>
          <p:cNvSpPr txBox="1"/>
          <p:nvPr/>
        </p:nvSpPr>
        <p:spPr>
          <a:xfrm>
            <a:off x="1104595" y="5605272"/>
            <a:ext cx="3229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Estimativas baseadas em benchmarks</a:t>
            </a:r>
            <a:endParaRPr lang="en-US" sz="1200" dirty="0"/>
          </a:p>
        </p:txBody>
      </p:sp>
      <p:sp>
        <p:nvSpPr>
          <p:cNvPr id="144" name="Shape 96"/>
          <p:cNvSpPr/>
          <p:nvPr/>
        </p:nvSpPr>
        <p:spPr>
          <a:xfrm>
            <a:off x="4281221" y="5471770"/>
            <a:ext cx="9144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45" name="Text 97"/>
          <p:cNvSpPr txBox="1"/>
          <p:nvPr/>
        </p:nvSpPr>
        <p:spPr>
          <a:xfrm>
            <a:off x="4358030" y="5424221"/>
            <a:ext cx="1286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INVESTIMENTO TOTAL</a:t>
            </a:r>
            <a:endParaRPr lang="en-US" sz="800" dirty="0"/>
          </a:p>
        </p:txBody>
      </p:sp>
      <p:sp>
        <p:nvSpPr>
          <p:cNvPr id="146" name="Text 98"/>
          <p:cNvSpPr txBox="1"/>
          <p:nvPr/>
        </p:nvSpPr>
        <p:spPr>
          <a:xfrm>
            <a:off x="4358030" y="5567782"/>
            <a:ext cx="795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R$ 16.0M</a:t>
            </a:r>
            <a:endParaRPr lang="en-US" sz="1300" dirty="0"/>
          </a:p>
        </p:txBody>
      </p:sp>
      <p:sp>
        <p:nvSpPr>
          <p:cNvPr id="147" name="Shape 99"/>
          <p:cNvSpPr/>
          <p:nvPr/>
        </p:nvSpPr>
        <p:spPr>
          <a:xfrm>
            <a:off x="5626303" y="5471770"/>
            <a:ext cx="9144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48" name="Text 100"/>
          <p:cNvSpPr txBox="1"/>
          <p:nvPr/>
        </p:nvSpPr>
        <p:spPr>
          <a:xfrm>
            <a:off x="5703113" y="5424221"/>
            <a:ext cx="8860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ESPERADO</a:t>
            </a:r>
            <a:endParaRPr lang="en-US" sz="800" dirty="0"/>
          </a:p>
        </p:txBody>
      </p:sp>
      <p:sp>
        <p:nvSpPr>
          <p:cNvPr id="149" name="Text 101"/>
          <p:cNvSpPr txBox="1"/>
          <p:nvPr/>
        </p:nvSpPr>
        <p:spPr>
          <a:xfrm>
            <a:off x="5703113" y="5567782"/>
            <a:ext cx="462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2.8x</a:t>
            </a:r>
            <a:endParaRPr lang="en-US" sz="1300" dirty="0"/>
          </a:p>
        </p:txBody>
      </p:sp>
      <p:sp>
        <p:nvSpPr>
          <p:cNvPr id="150" name="Text 102"/>
          <p:cNvSpPr txBox="1"/>
          <p:nvPr/>
        </p:nvSpPr>
        <p:spPr>
          <a:xfrm>
            <a:off x="6029554" y="5652821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(18 meses)</a:t>
            </a:r>
            <a:endParaRPr lang="en-US" sz="900" dirty="0"/>
          </a:p>
        </p:txBody>
      </p:sp>
      <p:sp>
        <p:nvSpPr>
          <p:cNvPr id="151" name="Shape 103"/>
          <p:cNvSpPr/>
          <p:nvPr/>
        </p:nvSpPr>
        <p:spPr>
          <a:xfrm>
            <a:off x="6782105" y="5471770"/>
            <a:ext cx="9144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2" name="Text 104"/>
          <p:cNvSpPr txBox="1"/>
          <p:nvPr/>
        </p:nvSpPr>
        <p:spPr>
          <a:xfrm>
            <a:off x="6858914" y="5424221"/>
            <a:ext cx="10195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PAYBACK PERIOD</a:t>
            </a:r>
            <a:endParaRPr lang="en-US" sz="800" dirty="0"/>
          </a:p>
        </p:txBody>
      </p:sp>
      <p:sp>
        <p:nvSpPr>
          <p:cNvPr id="153" name="Text 105"/>
          <p:cNvSpPr txBox="1"/>
          <p:nvPr/>
        </p:nvSpPr>
        <p:spPr>
          <a:xfrm>
            <a:off x="6858914" y="5567782"/>
            <a:ext cx="7287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Q4 2027</a:t>
            </a:r>
            <a:endParaRPr lang="en-US" sz="1300" dirty="0"/>
          </a:p>
        </p:txBody>
      </p:sp>
      <p:sp>
        <p:nvSpPr>
          <p:cNvPr id="154" name="Shape 106"/>
          <p:cNvSpPr/>
          <p:nvPr/>
        </p:nvSpPr>
        <p:spPr>
          <a:xfrm>
            <a:off x="7860182" y="5471770"/>
            <a:ext cx="9144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5" name="Text 107"/>
          <p:cNvSpPr txBox="1"/>
          <p:nvPr/>
        </p:nvSpPr>
        <p:spPr>
          <a:xfrm>
            <a:off x="7936992" y="5333695"/>
            <a:ext cx="18864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PRINCIPAIS DRIVERS DE VALOR</a:t>
            </a:r>
            <a:endParaRPr lang="en-US" sz="800" dirty="0"/>
          </a:p>
        </p:txBody>
      </p:sp>
      <p:sp>
        <p:nvSpPr>
          <p:cNvPr id="156" name="Shape 108"/>
          <p:cNvSpPr/>
          <p:nvPr/>
        </p:nvSpPr>
        <p:spPr>
          <a:xfrm>
            <a:off x="7936992" y="5505602"/>
            <a:ext cx="1742846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57" name="Image 46" descr="preencoded.png">    </p:cNvPr>
          <p:cNvPicPr>
            <a:picLocks noChangeAspect="1"/>
          </p:cNvPicPr>
          <p:nvPr/>
        </p:nvPicPr>
        <p:blipFill>
          <a:blip r:embed="rId47"/>
          <a:srcRect l="-133" r="-133" t="0" b="0"/>
          <a:stretch/>
        </p:blipFill>
        <p:spPr>
          <a:xfrm>
            <a:off x="8022946" y="5557723"/>
            <a:ext cx="85954" cy="114300"/>
          </a:xfrm>
          <a:prstGeom prst="rect">
            <a:avLst/>
          </a:prstGeom>
        </p:spPr>
      </p:pic>
      <p:sp>
        <p:nvSpPr>
          <p:cNvPr id="158" name="Text 109"/>
          <p:cNvSpPr txBox="1"/>
          <p:nvPr/>
        </p:nvSpPr>
        <p:spPr>
          <a:xfrm>
            <a:off x="8022946" y="5562295"/>
            <a:ext cx="1038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 -25% (R$ 12M/ano)</a:t>
            </a:r>
            <a:endParaRPr lang="en-US" sz="900" dirty="0"/>
          </a:p>
        </p:txBody>
      </p:sp>
      <p:sp>
        <p:nvSpPr>
          <p:cNvPr id="159" name="Shape 110"/>
          <p:cNvSpPr/>
          <p:nvPr/>
        </p:nvSpPr>
        <p:spPr>
          <a:xfrm>
            <a:off x="9747504" y="5505602"/>
            <a:ext cx="1876349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60" name="Image 47" descr="preencoded.png">    </p:cNvPr>
          <p:cNvPicPr>
            <a:picLocks noChangeAspect="1"/>
          </p:cNvPicPr>
          <p:nvPr/>
        </p:nvPicPr>
        <p:blipFill>
          <a:blip r:embed="rId48"/>
          <a:srcRect l="-133" r="-133" t="0" b="0"/>
          <a:stretch/>
        </p:blipFill>
        <p:spPr>
          <a:xfrm>
            <a:off x="9833458" y="5557723"/>
            <a:ext cx="85954" cy="114300"/>
          </a:xfrm>
          <a:prstGeom prst="rect">
            <a:avLst/>
          </a:prstGeom>
        </p:spPr>
      </p:pic>
      <p:sp>
        <p:nvSpPr>
          <p:cNvPr id="161" name="Text 111"/>
          <p:cNvSpPr txBox="1"/>
          <p:nvPr/>
        </p:nvSpPr>
        <p:spPr>
          <a:xfrm>
            <a:off x="9833458" y="556229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CVR +1.5pp (R$ 32M/ano)</a:t>
            </a:r>
            <a:endParaRPr lang="en-US" sz="900" dirty="0"/>
          </a:p>
        </p:txBody>
      </p:sp>
      <p:pic>
        <p:nvPicPr>
          <p:cNvPr id="162" name="Image 48" descr="preencoded.png">    </p:cNvPr>
          <p:cNvPicPr>
            <a:picLocks noChangeAspect="1"/>
          </p:cNvPicPr>
          <p:nvPr/>
        </p:nvPicPr>
        <p:blipFill>
          <a:blip r:embed="rId49"/>
          <a:srcRect l="0" r="0" t="0" b="0"/>
          <a:stretch/>
        </p:blipFill>
        <p:spPr>
          <a:xfrm>
            <a:off x="381305" y="6314846"/>
            <a:ext cx="152705" cy="152705"/>
          </a:xfrm>
          <a:prstGeom prst="rect">
            <a:avLst/>
          </a:prstGeom>
        </p:spPr>
      </p:pic>
      <p:sp>
        <p:nvSpPr>
          <p:cNvPr id="163" name="Text 112"/>
          <p:cNvSpPr txBox="1"/>
          <p:nvPr/>
        </p:nvSpPr>
        <p:spPr>
          <a:xfrm>
            <a:off x="609905" y="6191402"/>
            <a:ext cx="36868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Premissas: Benchmarks de mercado + gaps identificados (Slides 5-22).</a:t>
            </a:r>
            <a:endParaRPr lang="en-US" sz="1200" dirty="0"/>
          </a:p>
        </p:txBody>
      </p:sp>
      <p:sp>
        <p:nvSpPr>
          <p:cNvPr id="164" name="Text 113"/>
          <p:cNvSpPr txBox="1"/>
          <p:nvPr/>
        </p:nvSpPr>
        <p:spPr>
          <a:xfrm>
            <a:off x="4870094" y="6191402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Nota:</a:t>
            </a:r>
            <a:endParaRPr lang="en-US" sz="1200" dirty="0"/>
          </a:p>
        </p:txBody>
      </p:sp>
      <p:sp>
        <p:nvSpPr>
          <p:cNvPr id="165" name="Text 114"/>
          <p:cNvSpPr txBox="1"/>
          <p:nvPr/>
        </p:nvSpPr>
        <p:spPr>
          <a:xfrm>
            <a:off x="4870094" y="6191402"/>
            <a:ext cx="69823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Prazos e custos sujeitos a validação detalhada com times de engenharia e produto. Dados probabilísticos.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2026-01-21T13:40:11Z</dcterms:created>
  <dcterms:modified xsi:type="dcterms:W3CDTF">2026-01-21T13:40:11Z</dcterms:modified>
</cp:coreProperties>
</file>