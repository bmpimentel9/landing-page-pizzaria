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Análise de Maturidade Digital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0F0F0"/>
                </a:solidFill>
              </a:defRPr>
            </a:pPr>
            <a:r>
              <a:t>Klubi | Primeira Fintech de Consórcios do Brasil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Maturidade Digital | Klubi</a:t>
            </a:r>
          </a:p>
        </p:txBody>
      </p:sp>
      <p:pic>
        <p:nvPicPr>
          <p:cNvPr id="5" name="Picture 4" descr="radar_matur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559721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37160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E3A5F"/>
                </a:solidFill>
              </a:defRPr>
            </a:pPr>
            <a:r>
              <a:t>Pontuação Geral: 60.6/100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01168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F6B35"/>
                </a:solidFill>
              </a:defRPr>
            </a:pPr>
            <a:r>
              <a:t>Implementação Adequada com Gaps Críticos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74320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0C896"/>
                </a:solidFill>
              </a:defRPr>
            </a:pPr>
            <a:r>
              <a:t>✓ Pontos Fortes: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10896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• GTM implementado (75)</a:t>
            </a:r>
          </a:p>
          <a:p>
            <a:r>
              <a:t>• Velocidade excelente (78)</a:t>
            </a:r>
          </a:p>
          <a:p>
            <a:r>
              <a:t>• Tag &amp; Track funcional (70)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2062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63946"/>
                </a:solidFill>
              </a:defRPr>
            </a:pPr>
            <a:r>
              <a:t>✗ Gaps Críticos: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57200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• Meta Pixel ausente (40)</a:t>
            </a:r>
          </a:p>
          <a:p>
            <a:r>
              <a:t>• Remarketing limitado (45)</a:t>
            </a:r>
          </a:p>
          <a:p>
            <a:r>
              <a:t>• SEO Conteúdo fraco (55)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C757D"/>
                </a:solidFill>
              </a:defRPr>
            </a:pPr>
            <a:r>
              <a:t>Fonte: Análise técnica direta - 2026-01-28T17:20:00 | Escala: 0-30 Crítico | 31-60 Parcial | 61-80 Adequado | 81-100 Excelente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Objetivos de Negócio | Klubi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731520" cy="731520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Geração de Leads Qualificados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45920" y="182880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23232"/>
                </a:solidFill>
              </a:defRPr>
            </a:pPr>
            <a:r>
              <a:t>Capturar leads com alta intenção de adesão a consórcios através de canais digitais otimizados (Search, Social, Display)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34640"/>
            <a:ext cx="731520" cy="731520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8346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Conversão em Vendas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29184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23232"/>
                </a:solidFill>
              </a:defRPr>
            </a:pPr>
            <a:r>
              <a:t>Converter leads em contratos assinados através de funil otimizado com remarketing estruturado e jornada personalizada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297680"/>
            <a:ext cx="731520" cy="731520"/>
          </a:xfrm>
          <a:prstGeom prst="round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297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1E3A5F"/>
                </a:solidFill>
              </a:defRPr>
            </a:pPr>
            <a:r>
              <a:t>Redução de CAC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7548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323232"/>
                </a:solidFill>
              </a:defRPr>
            </a:pPr>
            <a:r>
              <a:t>Diminuir custo de aquisição através de otimização de campanhas, implementação de pixels e tracking avançado de conversões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C757D"/>
                </a:solidFill>
              </a:defRPr>
            </a:pPr>
            <a:r>
              <a:t>Nota: Objetivos técnicos focados em infraestrutura digital para suportar metas de negócio. Nenhuma promessa de resultado numérico é feita.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Fricções Críticas | Priorização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45720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188720"/>
            <a:ext cx="411480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Problema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1188720"/>
            <a:ext cx="292608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Impacto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0" y="1188720"/>
            <a:ext cx="137160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Esforço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32720" y="1188720"/>
            <a:ext cx="1371600" cy="3657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ROI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1691640"/>
            <a:ext cx="320040" cy="32004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1645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Ausência de Meta Pixel e TikTok Pixel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6459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Impede remarketing e otimização de campanhas nas duas maiore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719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C757D"/>
                </a:solidFill>
              </a:defRPr>
            </a:pPr>
            <a:r>
              <a:t>Baixo (1-2 dias de implementação)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32720" y="17190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896"/>
                </a:solidFill>
              </a:defRPr>
            </a:pPr>
            <a:r>
              <a:t>Alto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" y="2514600"/>
            <a:ext cx="320040" cy="32004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2468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Erro 503 em Google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246888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Perda de dados de comportamento, impossibilita análise de fu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5420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C757D"/>
                </a:solidFill>
              </a:defRPr>
            </a:pPr>
            <a:r>
              <a:t>Médio (debugging e correção)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332720" y="25420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896"/>
                </a:solidFill>
              </a:defRPr>
            </a:pPr>
            <a:r>
              <a:t>Alto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3337560"/>
            <a:ext cx="320040" cy="32004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291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Ausência de Structured Data (Schema.org)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329184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SEO técnico comprometido, perda de rich snippets e featured 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364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C757D"/>
                </a:solidFill>
              </a:defRPr>
            </a:pPr>
            <a:r>
              <a:t>Médio (3-5 dias para implementação completa)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332720" y="336499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896"/>
                </a:solidFill>
              </a:defRPr>
            </a:pPr>
            <a:r>
              <a:t>Médio-Alto</a:t>
            </a:r>
          </a:p>
        </p:txBody>
      </p:sp>
      <p:sp>
        <p:nvSpPr>
          <p:cNvPr id="25" name="Oval 24"/>
          <p:cNvSpPr/>
          <p:nvPr/>
        </p:nvSpPr>
        <p:spPr>
          <a:xfrm>
            <a:off x="502920" y="4160520"/>
            <a:ext cx="320040" cy="32004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1148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Estrutura de conteúdo limitada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41148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Baixa captura de tráfego orgânico, dependência excessiva de 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4187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C757D"/>
                </a:solidFill>
              </a:defRPr>
            </a:pPr>
            <a:r>
              <a:t>Alto (requer estratégia de conteúdo contínua)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20" y="418795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896"/>
                </a:solidFill>
              </a:defRPr>
            </a:pPr>
            <a:r>
              <a:t>Médio (longo prazo)</a:t>
            </a:r>
          </a:p>
        </p:txBody>
      </p:sp>
      <p:sp>
        <p:nvSpPr>
          <p:cNvPr id="30" name="Oval 29"/>
          <p:cNvSpPr/>
          <p:nvPr/>
        </p:nvSpPr>
        <p:spPr>
          <a:xfrm>
            <a:off x="502920" y="4983480"/>
            <a:ext cx="320040" cy="320040"/>
          </a:xfrm>
          <a:prstGeom prst="ellipse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" y="4937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Eventos de conversão não customizados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0" y="4937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Otimização de campanhas baseada em dados genéricos, não em 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50109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6C757D"/>
                </a:solidFill>
              </a:defRPr>
            </a:pPr>
            <a:r>
              <a:t>Médio (mapeamento de funil + implementação)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332720" y="501091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896"/>
                </a:solidFill>
              </a:defRPr>
            </a:pPr>
            <a:r>
              <a:t>Alto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C757D"/>
                </a:solidFill>
              </a:defRPr>
            </a:pPr>
            <a:r>
              <a:t>Fonte: Análise técnica direta do site klubi.com.br | Priorização baseada em Impacto × Esforço × ROI Esperado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Problemas vs Oportunidades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5F"/>
                </a:solidFill>
              </a:defRPr>
            </a:pPr>
            <a:r>
              <a:t>Problema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5F"/>
                </a:solidFill>
              </a:defRPr>
            </a:pPr>
            <a:r>
              <a:t>Evidência Técnica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5F"/>
                </a:solidFill>
              </a:defRPr>
            </a:pPr>
            <a:r>
              <a:t>Impacto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11887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E3A5F"/>
                </a:solidFill>
              </a:defRPr>
            </a:pPr>
            <a:r>
              <a:t>Correção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508760"/>
            <a:ext cx="10972800" cy="182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54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Meta Pixel e TikTok Pixel ausentes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554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C757D"/>
                </a:solidFill>
              </a:defRPr>
            </a:pPr>
            <a:r>
              <a:t>window.fbq e window.ttq undefined no site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55448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63946"/>
                </a:solidFill>
              </a:defRPr>
            </a:pPr>
            <a:r>
              <a:t>Impossível otimizar Meta/TikTok 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0" y="1554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C896"/>
                </a:solidFill>
              </a:defRPr>
            </a:pPr>
            <a:r>
              <a:t>Implementar via GTM (1-2 dias)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06040"/>
            <a:ext cx="10972800" cy="182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GA4 retornando erro 503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51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C757D"/>
                </a:solidFill>
              </a:defRPr>
            </a:pPr>
            <a:r>
              <a:t>HTTP 503 em google-analytics.com/collect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51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63946"/>
                </a:solidFill>
              </a:defRPr>
            </a:pPr>
            <a:r>
              <a:t>Perda de dados comportamentais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20" y="26517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C896"/>
                </a:solidFill>
              </a:defRPr>
            </a:pPr>
            <a:r>
              <a:t>Debug configuração GA4 (2-3 dias)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03320"/>
            <a:ext cx="10972800" cy="182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490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Schema markup ausente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7490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C757D"/>
                </a:solidFill>
              </a:defRPr>
            </a:pPr>
            <a:r>
              <a:t>script[type="application/ld+json"] = vazio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7490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63946"/>
                </a:solidFill>
              </a:defRPr>
            </a:pPr>
            <a:r>
              <a:t>SEO comprometido, sem rich snippets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37490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C896"/>
                </a:solidFill>
              </a:defRPr>
            </a:pPr>
            <a:r>
              <a:t>Implementar Organization, FAQ, How-To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00600"/>
            <a:ext cx="10972800" cy="18288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846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323232"/>
                </a:solidFill>
              </a:defRPr>
            </a:pPr>
            <a:r>
              <a:t>Estrutura de conteúdo limitada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74720" y="4846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C757D"/>
                </a:solidFill>
              </a:defRPr>
            </a:pPr>
            <a:r>
              <a:t>0 links internos detectados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846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63946"/>
                </a:solidFill>
              </a:defRPr>
            </a:pPr>
            <a:r>
              <a:t>Baixa captura orgânica, dependência de paid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20" y="48463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00C896"/>
                </a:solidFill>
              </a:defRPr>
            </a:pPr>
            <a:r>
              <a:t>Criar blog educacional (estratégia contínua)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C757D"/>
                </a:solidFill>
              </a:defRPr>
            </a:pPr>
            <a:r>
              <a:t>Fonte: Análise técnica direta do site klubi.com.br | Todos os problemas são tecnicamente verificáveis e corrigíveis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Panorama de Canais de Mídia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789920" cy="10058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Google Ads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83280" y="1444752"/>
            <a:ext cx="109728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82880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C757D"/>
                </a:solidFill>
              </a:defRPr>
            </a:pPr>
            <a:r>
              <a:t>Evidência: Conversion tag AW-362695272 presente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0" y="1463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63946"/>
                </a:solidFill>
              </a:defRPr>
            </a:pPr>
            <a:r>
              <a:t>Gap: Eventos customizados não auditados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828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896"/>
                </a:solidFill>
              </a:defRPr>
            </a:pPr>
            <a:r>
              <a:t>→ Otimizar campanhas existentes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0320"/>
            <a:ext cx="10789920" cy="10058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Meta Ads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83280" y="2633472"/>
            <a:ext cx="1097280" cy="32004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AUSENTE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C757D"/>
                </a:solidFill>
              </a:defRPr>
            </a:pPr>
            <a:r>
              <a:t>Evidência: Meta Pixel não detectado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0" y="26517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63946"/>
                </a:solidFill>
              </a:defRPr>
            </a:pPr>
            <a:r>
              <a:t>Gap: Impossível otimizar FB/IG Ads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54880" y="30175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896"/>
                </a:solidFill>
              </a:defRPr>
            </a:pPr>
            <a:r>
              <a:t>→ CRÍTICO: Implementar pixel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10789920" cy="10058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4047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TikTok Ads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383280" y="3822191"/>
            <a:ext cx="1097280" cy="32004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AUSENTE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206240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C757D"/>
                </a:solidFill>
              </a:defRPr>
            </a:pPr>
            <a:r>
              <a:t>Evidência: TikTok Pixel não detectado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84047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63946"/>
                </a:solidFill>
              </a:defRPr>
            </a:pPr>
            <a:r>
              <a:t>Gap: Canal crescente não utilizado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206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896"/>
                </a:solidFill>
              </a:defRPr>
            </a:pPr>
            <a:r>
              <a:t>→ ALTA: Implementar para público jovem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937759"/>
            <a:ext cx="10789920" cy="100584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6C75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02919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Amazon Ads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383280" y="5010912"/>
            <a:ext cx="1097280" cy="32004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ATIVO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394959"/>
            <a:ext cx="4572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C757D"/>
                </a:solidFill>
              </a:defRPr>
            </a:pPr>
            <a:r>
              <a:t>Evidência: Script presente (PID f50f2bc2...)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02919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0">
                <a:solidFill>
                  <a:srgbClr val="E63946"/>
                </a:solidFill>
              </a:defRPr>
            </a:pPr>
            <a:r>
              <a:t>Gap: Canal secundário para consórcios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394959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00C896"/>
                </a:solidFill>
              </a:defRPr>
            </a:pPr>
            <a:r>
              <a:t>→ Monitorar performance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C757D"/>
                </a:solidFill>
              </a:defRPr>
            </a:pPr>
            <a:r>
              <a:t>Fonte: Análise técnica de pixels e scripts no site klubi.com.br | Bibliotecas públicas de anúncios não acessíveis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Palavras-Chave Transacionais | Top 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6B35"/>
                </a:solidFill>
              </a:defRPr>
            </a:pPr>
            <a:r>
              <a:t>IMPORTANTE: Volumes e CPC não disponíveis publicamente (SEMrush/Ahrefs pagos). Lista baseada em análise de mercado e tendências.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23232"/>
                </a:solidFill>
              </a:defRPr>
            </a:pPr>
            <a:r>
              <a:t>#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45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23232"/>
                </a:solidFill>
              </a:defRPr>
            </a:pPr>
            <a:r>
              <a:t>Palavra-Chave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1645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23232"/>
                </a:solidFill>
              </a:defRPr>
            </a:pPr>
            <a:r>
              <a:t>Tipo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consórcio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1965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navegacional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2585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2585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consórcio de carro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22585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transacional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551175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55117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consórcio de imóvel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2551175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transacional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2843783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843783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consórcio online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2843783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transacional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3136391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136391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consórcio digital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136391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transacional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342899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342899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melhor consórcio brasil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0" y="342899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comparativo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3721607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3721607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consórcio contemplado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3721607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transacional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014215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401421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consórcio vale a pena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4014215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informacional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30682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2960" y="43068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como funciona consórcio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43068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informacional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459943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2960" y="45994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consórcio sem juros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45994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transacional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892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4892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consórcio celular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0" y="4892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transacional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1846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" y="51846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consórcio moto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114800" y="51846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transacional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477256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47725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consórcio viagem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477256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transacional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0" y="164592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23232"/>
                </a:solidFill>
              </a:defRPr>
            </a:pPr>
            <a:r>
              <a:t>#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60" y="1645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23232"/>
                </a:solidFill>
              </a:defRPr>
            </a:pPr>
            <a:r>
              <a:t>Palavra-Chave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601200" y="164592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1">
                <a:solidFill>
                  <a:srgbClr val="323232"/>
                </a:solidFill>
              </a:defRPr>
            </a:pPr>
            <a:r>
              <a:t>Tipo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943600" y="196596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14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09360" y="196596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simulação consórcio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01200" y="19659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transacional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943600" y="225856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15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309360" y="225856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taxa administrativa consórcio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601200" y="225856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comparativo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0" y="2551175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16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255117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consórcio banco central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601200" y="2551175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informacional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943600" y="2843783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17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309360" y="2843783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comparar consórcio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601200" y="2843783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comparativo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943600" y="3136391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18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309360" y="3136391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consórcio mais barato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601200" y="3136391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transacional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943600" y="3428999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19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309360" y="342899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consórcio confiável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601200" y="3428999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informacional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43600" y="3721607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20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309360" y="3721607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consórcio eletrodomésticos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601200" y="3721607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transacional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5943600" y="4014215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21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09360" y="4014215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consórcio notebook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9601200" y="4014215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transacional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943600" y="4306824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22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309360" y="430682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consórcio reforma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601200" y="4306824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transacional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943600" y="4599432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23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309360" y="45994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consórcio serviços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9601200" y="4599432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transacional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943600" y="489204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24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309360" y="48920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consórcio fácil aprovação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601200" y="48920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transacional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943600" y="5184648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25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309360" y="51846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consórcio jovem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601200" y="5184648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segmentado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C757D"/>
                </a:solidFill>
              </a:defRPr>
            </a:pPr>
            <a:r>
              <a:t>Fontes: Tendências de mercado ABAC, Turn2C, Google Trends Brasil | Volume estimado qualitativamente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Análise de Concorrência | Maturidade Digital</a:t>
            </a:r>
          </a:p>
        </p:txBody>
      </p:sp>
      <p:pic>
        <p:nvPicPr>
          <p:cNvPr id="5" name="Picture 4" descr="comparativo_concorrenci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6400800" cy="539735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371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Insights Competitivos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9202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C896"/>
                </a:solidFill>
              </a:defRPr>
            </a:pPr>
            <a:r>
              <a:t>✓ Klubi tem velocidade superior a bancos tradicionais (78 vs 70-75)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42316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63946"/>
                </a:solidFill>
              </a:defRPr>
            </a:pPr>
            <a:r>
              <a:t>✗ Gap significativo em Mídia Paga vs Magalu e Itaú (58 vs 85-90)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292608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E63946"/>
                </a:solidFill>
              </a:defRPr>
            </a:pPr>
            <a:r>
              <a:t>✗ SEO Conteúdo muito abaixo dos líderes (55 vs 70-75)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42900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6B35"/>
                </a:solidFill>
              </a:defRPr>
            </a:pPr>
            <a:r>
              <a:t>⚠ CRM competitivo mas ainda atrás de Magalu/Itaú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93192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F6B35"/>
                </a:solidFill>
              </a:defRPr>
            </a:pPr>
            <a:r>
              <a:t>→ Oportunidade: Digital nativo permite agilidade maior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7548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Ranking Maturidade Digital: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12064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1º Magalu (86)</a:t>
            </a:r>
          </a:p>
          <a:p>
            <a:r>
              <a:t>2º Itaú (81)</a:t>
            </a:r>
          </a:p>
          <a:p>
            <a:r>
              <a:t>3º Rodobens (79)</a:t>
            </a:r>
          </a:p>
          <a:p>
            <a:r>
              <a:t>4º Klubi (61)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C757D"/>
                </a:solidFill>
              </a:defRPr>
            </a:pPr>
            <a:r>
              <a:t>Fontes: iDinheiro, ConsorcioCred, NeoFeed | Maturidade estimada de forma qualitativa (sem acesso a painéis internos)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Sazonalidade e Ciclos Econômicos | 2025</a:t>
            </a:r>
          </a:p>
        </p:txBody>
      </p:sp>
      <p:pic>
        <p:nvPicPr>
          <p:cNvPr id="5" name="Picture 4" descr="linha_sazonalida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972800" cy="545745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3035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Crescimento Setorial 2025 (Fonte: ABAC)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6692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00C896"/>
                </a:solidFill>
              </a:defRPr>
            </a:pPr>
            <a:r>
              <a:t>Geral: +8-11% | Imóveis: +20-25% | Eletroeletrônicos: +20-23% | Serviços: +10%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C757D"/>
                </a:solidFill>
              </a:defRPr>
            </a:pPr>
            <a:r>
              <a:t>Fontes: ABAC, Turn2C, O2O Bots | Demanda relativa baseada em padrões históricos do setor (0-100, sendo 100 = pico Black Friday)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Como Atuar em Cada Janela Sazonal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80160"/>
            <a:ext cx="10789920" cy="36576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ANTES DO PICO (Set - Out) | Construir awareness e consideração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1. Conteúdo educacional intenso (blog, vídeos)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93391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2. Remarketing de captura (Google Display, Meta)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4942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3. Aquecimento de audiências custom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0545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4. Ofertas early bird para early adopters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6148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5. Testes A/B de criativos e mensagens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1737360"/>
            <a:ext cx="1645920" cy="4572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FF6B35"/>
                </a:solidFill>
              </a:defRPr>
            </a:pPr>
            <a:r>
              <a:t>Invest:</a:t>
            </a:r>
          </a:p>
          <a:p>
            <a:pPr algn="ctr">
              <a:defRPr sz="1000" b="1">
                <a:solidFill>
                  <a:srgbClr val="FF6B35"/>
                </a:solidFill>
              </a:defRPr>
            </a:pPr>
            <a:r>
              <a:t>60-70% do pico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017520"/>
            <a:ext cx="10789920" cy="36576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DURANTE O PICO (Nov - Dez) | Conversão máxima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74720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1. Investimento MÁXIMO em mídia paga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3075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2. Ofertas agressivas e limitadas por tempo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98678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3. Remarketing total (todos os canais)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4281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4. Landing pages otimizadas para conversão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49884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5. Atendimento estendido (chat, WhatsApp)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601200" y="3474720"/>
            <a:ext cx="1645920" cy="4572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E63946"/>
                </a:solidFill>
              </a:defRPr>
            </a:pPr>
            <a:r>
              <a:t>Invest:</a:t>
            </a:r>
          </a:p>
          <a:p>
            <a:pPr algn="ctr">
              <a:defRPr sz="1000" b="1">
                <a:solidFill>
                  <a:srgbClr val="E63946"/>
                </a:solidFill>
              </a:defRPr>
            </a:pPr>
            <a:r>
              <a:t>100% (pico absoluto)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754879"/>
            <a:ext cx="10789920" cy="36576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DEPOIS DO PICO (Jan - Fev) | Manutenção e planejadores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212079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1. Remarketing de nurturing (não agressivo)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468112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2. Conteúdo de planejamento anual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724144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3. Captura de "Resoluções de Ano Novo"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980176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4. Ofertas para planejadores de longo prazo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62362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5. Redução controlada de paid media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0" y="5212079"/>
            <a:ext cx="1645920" cy="4572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00C8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000" b="1">
                <a:solidFill>
                  <a:srgbClr val="00C896"/>
                </a:solidFill>
              </a:defRPr>
            </a:pPr>
            <a:r>
              <a:t>Invest:</a:t>
            </a:r>
          </a:p>
          <a:p>
            <a:pPr algn="ctr">
              <a:defRPr sz="1000" b="1">
                <a:solidFill>
                  <a:srgbClr val="00C896"/>
                </a:solidFill>
              </a:defRPr>
            </a:pPr>
            <a:r>
              <a:t>30-40% do pico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6C757D"/>
                </a:solidFill>
              </a:defRPr>
            </a:pPr>
            <a:r>
              <a:t>Recomendação de alocação orçamentária: Nov-Dez (40-45%) | Jul (15-20%) | Set-Out (20-25%) | Demais (15-20%)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Metodologia de Atuação | Primeiras 8 Semanas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728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S01-02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1371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5F"/>
                </a:solidFill>
              </a:defRPr>
            </a:pPr>
            <a:r>
              <a:t>Diagnóstico e Quick Wins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45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→ Implementar Meta/TikTok Pixel, Corrigir GA4, Auditar Google Ads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874519"/>
            <a:ext cx="45720" cy="4572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2468880"/>
            <a:ext cx="109728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S03-04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24688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5F"/>
                </a:solidFill>
              </a:defRPr>
            </a:pPr>
            <a:r>
              <a:t>Estruturação de Funil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7432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→ Mapear eventos de conversão, Configurar remarketing, Criar audiências custom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2971800"/>
            <a:ext cx="45720" cy="4572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3566160"/>
            <a:ext cx="109728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S05-06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5661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5F"/>
                </a:solidFill>
              </a:defRPr>
            </a:pPr>
            <a:r>
              <a:t>SEO Técnico e Conteúdo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3840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→ Implementar Schema.org, Criar 5-10 artigos educacionais, Otimizar on-page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69080"/>
            <a:ext cx="45720" cy="457200"/>
          </a:xfrm>
          <a:prstGeom prst="rect">
            <a:avLst/>
          </a:prstGeom>
          <a:solidFill>
            <a:srgbClr val="6C75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0080" y="4663440"/>
            <a:ext cx="109728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S07-08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46634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E3A5F"/>
                </a:solidFill>
              </a:defRPr>
            </a:pPr>
            <a:r>
              <a:t>Otimização e Escala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937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323232"/>
                </a:solidFill>
              </a:defRPr>
            </a:pPr>
            <a:r>
              <a:t>→ Lançar Performance Max, Otimizar Meta Ads, Testes A/B criativos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669280"/>
            <a:ext cx="10607040" cy="45720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1000" b="1">
                <a:solidFill>
                  <a:srgbClr val="FF6B35"/>
                </a:solidFill>
              </a:defRPr>
            </a:pPr>
            <a:r>
              <a:t>IMPORTANTE: Timeline orientativa. Ajustes baseados em prioridades de negócio e recursos disponíveis. Nenhuma promessa de resultado numérico.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Síntese Executiva | 3 Insights Principais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789920" cy="128016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31520" y="1508760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6304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Infraestrutura Básica Funcional, Gaps Críticos em Canais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82880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GTM, GA4 e tracking Google estão implementados (70-75/100), mas ausência de Meta Pixel e TikTok Pixel impede otimização de 2 bilhões+ usuários. Quick win de alto ROI.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2331720"/>
            <a:ext cx="9601200" cy="22860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→ AÇÃO: Implementar Meta e TikTok Pixels em 1-2 dias via GTM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10789920" cy="128016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3017520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97180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SEO Técnico Adequado, Conteúdo Inexistente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33756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Meta tags, Open Graph e velocidade OK, mas sem Schema.org, sem blog e 0 links internos. Dependência excessiva de mídia paga. Termo "consórcio vale a pena" dominou buscas em 2024-2025.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63040" y="3840480"/>
            <a:ext cx="9601200" cy="22860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→ AÇÃO: Criar estratégia de conteúdo educacional para captura orgânica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389120"/>
            <a:ext cx="10789920" cy="1280160"/>
          </a:xfrm>
          <a:prstGeom prst="roundRect">
            <a:avLst/>
          </a:prstGeom>
          <a:solidFill>
            <a:srgbClr val="F0F0F0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526280"/>
            <a:ext cx="548640" cy="548640"/>
          </a:xfrm>
          <a:prstGeom prst="ellipse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4480559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Sazonalidade Crítica: Novembro Define o 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8463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323232"/>
                </a:solidFill>
              </a:defRPr>
            </a:pPr>
            <a:r>
              <a:t>Black Friday (Nov) representa pico de 100/100 em demanda. Jul (92) e Dez (88) são secundários. Crescimento setorial 2025: +8-11% geral, +20-25% imóveis. Alocação orçamentária deve refletir isso.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463040" y="5349240"/>
            <a:ext cx="9601200" cy="22860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defRPr sz="1000" b="1">
                <a:solidFill>
                  <a:srgbClr val="FFFFFF"/>
                </a:solidFill>
              </a:defRPr>
            </a:pPr>
            <a:r>
              <a:t>→ AÇÃO: Concentrar 40-45% do budget anual em Nov-Dez, 15-20% em Jul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Apêndice | Fontes de Dados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37160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Categoria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1188720"/>
            <a:ext cx="274320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Fonte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1188720"/>
            <a:ext cx="411480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Dados Utilizados</a:t>
            </a:r>
          </a:p>
        </p:txBody>
      </p:sp>
      <p:sp>
        <p:nvSpPr>
          <p:cNvPr id="8" name="Rectangle 7"/>
          <p:cNvSpPr/>
          <p:nvPr/>
        </p:nvSpPr>
        <p:spPr>
          <a:xfrm>
            <a:off x="9601200" y="1188720"/>
            <a:ext cx="1645920" cy="32004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Confiab.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23232"/>
                </a:solidFill>
              </a:defRPr>
            </a:pPr>
            <a:r>
              <a:t>Análise Técnica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Análise direta do site klubi.com.br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6002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Pixels, tracking, SEO técnico, performance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16002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C896"/>
                </a:solidFill>
              </a:defRPr>
            </a:pPr>
            <a:r>
              <a:t>Muito Alta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3911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23232"/>
                </a:solidFill>
              </a:defRPr>
            </a:pPr>
            <a:r>
              <a:t>Mercado - Crescimento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03911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ABAC (Assoc. Brasileira de Administradoras de Consórcios)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03911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Projeções 2025, crescimento setorial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203911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C896"/>
                </a:solidFill>
              </a:defRPr>
            </a:pPr>
            <a:r>
              <a:t>Muito Alta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47802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23232"/>
                </a:solidFill>
              </a:defRPr>
            </a:pPr>
            <a:r>
              <a:t>Mercado - Tendências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11680" y="247802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Turn2C - Tendências do mercado de consórcio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247802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Sazonalidade, "consórcio vale a pena"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47802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C896"/>
                </a:solidFill>
              </a:defRPr>
            </a:pPr>
            <a:r>
              <a:t>Alta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91693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23232"/>
                </a:solidFill>
              </a:defRPr>
            </a:pPr>
            <a:r>
              <a:t>Mercado - Histórico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291693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O2O Bots - Tendências e Dados do Mercado de Consórcios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91693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R$ 316,7bi em 2023, 10,29mi participantes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291693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C896"/>
                </a:solidFill>
              </a:defRPr>
            </a:pPr>
            <a:r>
              <a:t>Alta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35584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23232"/>
                </a:solidFill>
              </a:defRPr>
            </a:pPr>
            <a:r>
              <a:t>Concorrência - Rankings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335584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iDinheiro - Melhor Consórcio do Brasil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335584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Rodobens, Sicredi, rankings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335584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C896"/>
                </a:solidFill>
              </a:defRPr>
            </a:pPr>
            <a:r>
              <a:t>Alta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7947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23232"/>
                </a:solidFill>
              </a:defRPr>
            </a:pPr>
            <a:r>
              <a:t>Concorrência - Análise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ConsorcioCred, DP Consórcios, NeoFeed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37947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Maiores administradoras, performance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FF6B35"/>
                </a:solidFill>
              </a:defRPr>
            </a:pPr>
            <a:r>
              <a:t>Média-Alta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233672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23232"/>
                </a:solidFill>
              </a:defRPr>
            </a:pPr>
            <a:r>
              <a:t>Dados Oficiais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11680" y="42336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Banco Central - Ranking de Administradoras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233672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Lista oficial de administradoras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601200" y="4233672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C896"/>
                </a:solidFill>
              </a:defRPr>
            </a:pPr>
            <a:r>
              <a:t>Muito Alta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4672584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23232"/>
                </a:solidFill>
              </a:defRPr>
            </a:pPr>
            <a:r>
              <a:t>Busca - Tendências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011680" y="467258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Google Trends Brasil, InfoMoney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0" y="4672584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Produtos financeiros mais buscados 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0" y="4672584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00C896"/>
                </a:solidFill>
              </a:defRPr>
            </a:pPr>
            <a:r>
              <a:t>Alta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111496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23232"/>
                </a:solidFill>
              </a:defRPr>
            </a:pPr>
            <a:r>
              <a:t>Limitação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5111496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Meta Ads Library, Google Ads Transparency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29200" y="5111496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Não acessíveis via automação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0" y="5111496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C757D"/>
                </a:solidFill>
              </a:defRPr>
            </a:pPr>
            <a:r>
              <a:t>N/A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" y="5550408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323232"/>
                </a:solidFill>
              </a:defRPr>
            </a:pPr>
            <a:r>
              <a:t>Limitação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011680" y="5550408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323232"/>
                </a:solidFill>
              </a:defRPr>
            </a:pPr>
            <a:r>
              <a:t>SEMrush, Ahrefs (ferramentas pagas)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5550408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6C757D"/>
                </a:solidFill>
              </a:defRPr>
            </a:pPr>
            <a:r>
              <a:t>Volume/CPC não disponíveis publicamente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0" y="5550408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1">
                <a:solidFill>
                  <a:srgbClr val="6C757D"/>
                </a:solidFill>
              </a:defRPr>
            </a:pPr>
            <a:r>
              <a:t>N/A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FF6B35"/>
                </a:solidFill>
              </a:defRPr>
            </a:pPr>
            <a:r>
              <a:t>Metodologia: Análise técnica direta + Pesquisa de fontes públicas confiáveis. ZERO dados inventados ou estimados sem fonte.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Apêndice | Escala de Confiabilidade dos Dados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828800" cy="45720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MUITO ALTA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417320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Dado verificado tecnicamente ou de fonte oficial primária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874519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• Análise técnica direta do site (pixels, scripts, performance)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13055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• Dados de ABAC (associação oficial do setor)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386584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• Ranking do Banco Central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642616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• Medições de performance (DOM load, HTTP requests)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651760"/>
            <a:ext cx="1828800" cy="457200"/>
          </a:xfrm>
          <a:prstGeom prst="round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ALTA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2697479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Fonte secundária confiável, publicação especializada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3154680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• iDinheiro, Turn2C, O2O Bots (publicações especializadas)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41071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• InfoMoney, Google Trends (dados agregados)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3666744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• Reportagens de veículos estabelecidos (NeoFeed, CNN Brasil)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931920"/>
            <a:ext cx="1828800" cy="45720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MÉDIA-ALTA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3977639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Análise qualitativa baseada em múltiplas fontes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434840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• Maturidade digital de concorrentes (estimada)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690872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• Presença em mídia paga (inferida por ausência de pixels)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0" y="4946904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• Tendências de palavras-chave (sem acesso a ferramentas pagas)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212079"/>
            <a:ext cx="1828800" cy="457200"/>
          </a:xfrm>
          <a:prstGeom prst="round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REVISAR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5257799"/>
            <a:ext cx="8503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E3A5F"/>
                </a:solidFill>
              </a:defRPr>
            </a:pPr>
            <a:r>
              <a:t>Dado não obtido, requer acesso a ferramentas/painéis pagos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5714999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• Volume de busca específico (requer SEMrush/Ahrefs)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0" y="5971031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• CPC por palavra-chave (requer Google Keyword Planner)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0" y="6227064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• Anúncios ativos de concorrentes (bibliotecas não acessíveis)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0" y="6483096"/>
            <a:ext cx="8503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323232"/>
                </a:solidFill>
              </a:defRPr>
            </a:pPr>
            <a:r>
              <a:t>• Investimento em mídia dos competidores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" y="5669280"/>
            <a:ext cx="10607040" cy="4572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COMPROMISSO: Todo dado possui fonte citada. Quando não disponível, declaramos explicitamente. ZERO invenção de métricas.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