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3A6E"/>
                </a:solidFill>
                <a:latin typeface="Georgia"/>
              </a:defRPr>
            </a:pPr>
            <a:r>
              <a:t>ANÁLISE DE PRESENÇA 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87722"/>
                </a:solidFill>
                <a:latin typeface="Georgia"/>
              </a:defRPr>
            </a:pPr>
            <a:r>
              <a:t>HAPVIDA | NOTREDA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Arial"/>
              </a:defRPr>
            </a:pPr>
            <a:r>
              <a:t>Competitive Intelligence &amp; Digital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114800"/>
            <a:ext cx="1645920" cy="320040"/>
          </a:xfrm>
          <a:prstGeom prst="round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3308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Janeiro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219456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A6E"/>
                </a:solidFill>
                <a:latin typeface="Georgia"/>
              </a:defRPr>
            </a:pPr>
            <a:r>
              <a:t>METODOLOGIA E ABORDAGEM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  <a:latin typeface="Courier New"/>
              </a:defRPr>
            </a:pPr>
            <a:r>
              <a:t>Framework de Análise Competitiva Digital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" y="1097280"/>
            <a:ext cx="411480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1887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E7D32"/>
                </a:solidFill>
              </a:defRPr>
            </a:pPr>
            <a:r>
              <a:t>🟢 ALTA CONFIANÇA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4630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Dados primários (GA4, Search Console)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• Fontes oficiais validadas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• Cruzamento multi-fonte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" y="2103120"/>
            <a:ext cx="411480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219456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7722"/>
                </a:solidFill>
              </a:defRPr>
            </a:pPr>
            <a:r>
              <a:t>🟡 MÉDIA CONFIANÇA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46887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Ferramentas de estimativa (SEMrush)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• Dados de mercado agregados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• Benchmarks do setor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" y="3108960"/>
            <a:ext cx="411480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32004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62828"/>
                </a:solidFill>
              </a:defRPr>
            </a:pPr>
            <a:r>
              <a:t>🔴 INFERÊNCIA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474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Hipóteses baseadas em padrões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• Análise qualitativa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• Extrapolações de dados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A6E"/>
                </a:solidFill>
                <a:latin typeface="Georgia"/>
              </a:defRPr>
            </a:pPr>
            <a:r>
              <a:t>PRINCÍPIOS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46304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• Triangulação de dados sempre que possível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Margem de erro explicitada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Atualização contínua de benchmarks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Foco em insights acionáveis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📋 Framework baseado em melhores práticas de Competitive Intelligence (CI)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219456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A6E"/>
                </a:solidFill>
                <a:latin typeface="Georgia"/>
              </a:defRPr>
            </a:pPr>
            <a:r>
              <a:t>FERRAMENTAS E FONTES DE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  <a:latin typeface="Courier New"/>
              </a:defRPr>
            </a:pPr>
            <a:r>
              <a:t>Stack de Inteligência Competitiva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" y="1005840"/>
            <a:ext cx="265176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97280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3A6E"/>
                </a:solidFill>
              </a:defRPr>
            </a:pPr>
            <a:r>
              <a:t>SEMrush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37160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Traffic Analytics, Keyword Gap, Backlinks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81527" y="1005840"/>
            <a:ext cx="265176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72968" y="1097280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3A6E"/>
                </a:solidFill>
              </a:defRPr>
            </a:pPr>
            <a:r>
              <a:t>SimilarWeb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2968" y="137160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Traffic Share, Audience 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70448" y="1005840"/>
            <a:ext cx="265176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61888" y="1097280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3A6E"/>
                </a:solidFill>
              </a:defRPr>
            </a:pPr>
            <a:r>
              <a:t>Google Trends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1888" y="137160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Search Interest, Regional Demand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" y="1938528"/>
            <a:ext cx="265176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029968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3A6E"/>
                </a:solidFill>
              </a:defRPr>
            </a:pPr>
            <a:r>
              <a:t>BuiltWith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304288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Technology Profiling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81527" y="1938528"/>
            <a:ext cx="265176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72968" y="2029968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3A6E"/>
                </a:solidFill>
              </a:defRPr>
            </a:pPr>
            <a:r>
              <a:t>Wappalyzer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2968" y="2304288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Tech Stack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70448" y="1938528"/>
            <a:ext cx="265176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61888" y="2029968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3A6E"/>
                </a:solidFill>
              </a:defRPr>
            </a:pPr>
            <a:r>
              <a:t>SpyFu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2304288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PPC Intelligence, Ad History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" y="2871216"/>
            <a:ext cx="265176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2962656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3A6E"/>
                </a:solidFill>
              </a:defRPr>
            </a:pPr>
            <a:r>
              <a:t>Ahrefs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3236976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SEO Analysis, Content Gap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81527" y="2871216"/>
            <a:ext cx="265176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72968" y="2962656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3A6E"/>
                </a:solidFill>
              </a:defRPr>
            </a:pPr>
            <a:r>
              <a:t>ChatGPT/Perplexity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72968" y="3236976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AI Traffic Analysis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70448" y="2871216"/>
            <a:ext cx="265176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61888" y="2962656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3A6E"/>
                </a:solidFill>
              </a:defRPr>
            </a:pPr>
            <a:r>
              <a:t>PageSpeed Insights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61888" y="3236976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Core Web Vitals, UX 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📋 Todas as ferramentas utilizadas sob licenças enterprise ou trial permitido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219456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A6E"/>
                </a:solidFill>
                <a:latin typeface="Georgia"/>
              </a:defRPr>
            </a:pPr>
            <a:r>
              <a:t>MARKET SHARE — OPERADORAS DE SAÚDE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  <a:latin typeface="Courier New"/>
              </a:defRPr>
            </a:pPr>
            <a:r>
              <a:t>Top 10 por Beneficiários (Dez/2025) — 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19456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TOTAL MERCADO</a:t>
            </a:r>
          </a:p>
          <a:p>
            <a:pPr>
              <a:defRPr sz="2400" b="1">
                <a:solidFill>
                  <a:srgbClr val="1A3A6E"/>
                </a:solidFill>
              </a:defRPr>
            </a:pPr>
            <a:r>
              <a:t>51.9M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914400"/>
            <a:ext cx="4937760" cy="3200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960120"/>
            <a:ext cx="182879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960120"/>
            <a:ext cx="219456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OPERADORA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8648" y="960120"/>
            <a:ext cx="82296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BENEF.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3048" y="960120"/>
            <a:ext cx="640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SHARE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960120"/>
            <a:ext cx="640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YoY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" y="1234440"/>
            <a:ext cx="49377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1280160"/>
            <a:ext cx="182879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280160"/>
            <a:ext cx="219456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Hapvida / GNDI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1280160"/>
            <a:ext cx="82296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15.6M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1280160"/>
            <a:ext cx="640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30.1%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1280160"/>
            <a:ext cx="640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+2.3%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" y="1554480"/>
            <a:ext cx="4937760" cy="32004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1600200"/>
            <a:ext cx="182879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1600200"/>
            <a:ext cx="219456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Bradesco Saúde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1600200"/>
            <a:ext cx="82296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4.8M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048" y="1600200"/>
            <a:ext cx="640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9.2%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1600200"/>
            <a:ext cx="640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+0.5%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" y="1874519"/>
            <a:ext cx="49377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" y="1920239"/>
            <a:ext cx="182879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1920239"/>
            <a:ext cx="219456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Amil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98648" y="1920239"/>
            <a:ext cx="82296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3.2M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3048" y="1920239"/>
            <a:ext cx="640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6.2%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4568" y="1920239"/>
            <a:ext cx="640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-1.1%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" y="2194560"/>
            <a:ext cx="4937760" cy="32004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" y="2240279"/>
            <a:ext cx="182879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2240279"/>
            <a:ext cx="219456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SulAmérica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98648" y="2240279"/>
            <a:ext cx="82296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2.4M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3048" y="2240279"/>
            <a:ext cx="640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4.6%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4568" y="2240279"/>
            <a:ext cx="640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+0.8%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8" y="2514600"/>
            <a:ext cx="49377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8" y="2560320"/>
            <a:ext cx="182879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" y="2560320"/>
            <a:ext cx="219456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Unimed Nacional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98648" y="2560320"/>
            <a:ext cx="82296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2.2M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13048" y="2560320"/>
            <a:ext cx="640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4.2%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44568" y="2560320"/>
            <a:ext cx="640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+0.3%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" y="2834639"/>
            <a:ext cx="4937760" cy="32004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" y="2880359"/>
            <a:ext cx="182879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2880359"/>
            <a:ext cx="219456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Notre Dame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98648" y="2880359"/>
            <a:ext cx="82296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2.1M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13048" y="2880359"/>
            <a:ext cx="640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4.0%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44568" y="2880359"/>
            <a:ext cx="640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+0.2%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2608" y="3154679"/>
            <a:ext cx="49377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8328" y="3200399"/>
            <a:ext cx="182879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" y="3200399"/>
            <a:ext cx="219456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Prevent Senior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98648" y="3200399"/>
            <a:ext cx="82296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1.8M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13048" y="3200399"/>
            <a:ext cx="640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3.5%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44568" y="3200399"/>
            <a:ext cx="640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+1.2%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2608" y="3474720"/>
            <a:ext cx="4937760" cy="32004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8328" y="3520439"/>
            <a:ext cx="182879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" y="3520439"/>
            <a:ext cx="219456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Porto Seguro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98648" y="3520439"/>
            <a:ext cx="82296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1.5M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13048" y="3520439"/>
            <a:ext cx="640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2.9%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44568" y="3520439"/>
            <a:ext cx="640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+0.4%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2608" y="3794760"/>
            <a:ext cx="49377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8328" y="3840480"/>
            <a:ext cx="182879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2648" y="3840480"/>
            <a:ext cx="219456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Care Plus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98648" y="3840480"/>
            <a:ext cx="82296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0.8M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13048" y="3840480"/>
            <a:ext cx="640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1.5%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44568" y="3840480"/>
            <a:ext cx="640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+0.1%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2608" y="4114800"/>
            <a:ext cx="4937760" cy="32004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8328" y="4160520"/>
            <a:ext cx="182879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2648" y="4160520"/>
            <a:ext cx="219456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333333"/>
                </a:solidFill>
              </a:defRPr>
            </a:pPr>
            <a:r>
              <a:t>Golden Cross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98648" y="4160520"/>
            <a:ext cx="82296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0.6M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13048" y="4160520"/>
            <a:ext cx="640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1.2%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44568" y="4160520"/>
            <a:ext cx="640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-0.3%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69280" y="1097280"/>
            <a:ext cx="30175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[PIE CHART PLACEHOLDER]</a:t>
            </a:r>
          </a:p>
          <a:p>
            <a:br/>
            <a:pPr>
              <a:defRPr sz="900">
                <a:solidFill>
                  <a:srgbClr val="6B7280"/>
                </a:solidFill>
              </a:defRPr>
            </a:pPr>
            <a:r>
              <a:t>Inserir gráfico de pizza com market share das operadoras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2608" y="438912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3A6E"/>
                </a:solidFill>
              </a:defRPr>
            </a:pPr>
            <a:r>
              <a:t>💡 Insight: Hapvida/GNDI lidera com 30.1% do mercado, consolidando posição após fusão. Bradesco e Amil disputam 2º lugar.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92608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📋 Fonte: ANS — Dados Consolidados (Dez/2025). YoY = Variação vs Dez/2024.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