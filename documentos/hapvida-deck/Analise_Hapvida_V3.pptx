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Arc 1"/>
          <p:cNvSpPr/>
          <p:nvPr/>
        </p:nvSpPr>
        <p:spPr>
          <a:xfrm>
            <a:off x="9144000" y="-1828800"/>
            <a:ext cx="7315200" cy="10972800"/>
          </a:xfrm>
          <a:prstGeom prst="arc">
            <a:avLst/>
          </a:prstGeom>
          <a:noFill/>
          <a:ln w="2540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rc 2"/>
          <p:cNvSpPr/>
          <p:nvPr/>
        </p:nvSpPr>
        <p:spPr>
          <a:xfrm>
            <a:off x="9418320" y="-1828800"/>
            <a:ext cx="7315200" cy="10972800"/>
          </a:xfrm>
          <a:prstGeom prst="arc">
            <a:avLst/>
          </a:prstGeom>
          <a:noFill/>
          <a:ln w="2540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rc 3"/>
          <p:cNvSpPr/>
          <p:nvPr/>
        </p:nvSpPr>
        <p:spPr>
          <a:xfrm>
            <a:off x="9692640" y="-1828800"/>
            <a:ext cx="7315200" cy="10972800"/>
          </a:xfrm>
          <a:prstGeom prst="arc">
            <a:avLst/>
          </a:prstGeom>
          <a:noFill/>
          <a:ln w="2540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rc 4"/>
          <p:cNvSpPr/>
          <p:nvPr/>
        </p:nvSpPr>
        <p:spPr>
          <a:xfrm>
            <a:off x="9966960" y="-1828800"/>
            <a:ext cx="7315200" cy="10972800"/>
          </a:xfrm>
          <a:prstGeom prst="arc">
            <a:avLst/>
          </a:prstGeom>
          <a:noFill/>
          <a:ln w="2540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560320"/>
            <a:ext cx="73152" cy="13716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560320"/>
            <a:ext cx="8229600" cy="640080"/>
          </a:xfrm>
          <a:prstGeom prst="rect">
            <a:avLst/>
          </a:prstGeom>
          <a:noFill/>
        </p:spPr>
        <p:txBody>
          <a:bodyPr wrap="square">
            <a:spAutoFit/>
          </a:bodyPr>
          <a:lstStyle/>
          <a:p>
            <a:pPr>
              <a:defRPr sz="3600" b="1">
                <a:solidFill>
                  <a:srgbClr val="1A3A6E"/>
                </a:solidFill>
                <a:latin typeface="Georgia"/>
              </a:defRPr>
            </a:pPr>
            <a:r>
              <a:t>ANÁLISE DE PRESENÇA DIGITAL</a:t>
            </a:r>
          </a:p>
        </p:txBody>
      </p:sp>
      <p:sp>
        <p:nvSpPr>
          <p:cNvPr id="8" name="TextBox 7"/>
          <p:cNvSpPr txBox="1"/>
          <p:nvPr/>
        </p:nvSpPr>
        <p:spPr>
          <a:xfrm>
            <a:off x="640080" y="3200400"/>
            <a:ext cx="5486400" cy="822960"/>
          </a:xfrm>
          <a:prstGeom prst="rect">
            <a:avLst/>
          </a:prstGeom>
          <a:noFill/>
        </p:spPr>
        <p:txBody>
          <a:bodyPr wrap="square">
            <a:spAutoFit/>
          </a:bodyPr>
          <a:lstStyle/>
          <a:p>
            <a:pPr>
              <a:defRPr sz="4800" b="1">
                <a:solidFill>
                  <a:srgbClr val="1A3A6E"/>
                </a:solidFill>
                <a:latin typeface="Georgia"/>
              </a:defRPr>
            </a:pPr>
            <a:r>
              <a:t>HAPVIDA</a:t>
            </a:r>
          </a:p>
        </p:txBody>
      </p:sp>
      <p:sp>
        <p:nvSpPr>
          <p:cNvPr id="9" name="TextBox 8"/>
          <p:cNvSpPr txBox="1"/>
          <p:nvPr/>
        </p:nvSpPr>
        <p:spPr>
          <a:xfrm>
            <a:off x="640080" y="4114800"/>
            <a:ext cx="5486400" cy="365760"/>
          </a:xfrm>
          <a:prstGeom prst="rect">
            <a:avLst/>
          </a:prstGeom>
          <a:noFill/>
        </p:spPr>
        <p:txBody>
          <a:bodyPr wrap="square">
            <a:spAutoFit/>
          </a:bodyPr>
          <a:lstStyle/>
          <a:p>
            <a:pPr>
              <a:defRPr sz="1400" b="0">
                <a:solidFill>
                  <a:srgbClr val="6B7280"/>
                </a:solidFill>
                <a:latin typeface="Arial"/>
              </a:defRPr>
            </a:pPr>
            <a:r>
              <a:t>Competitive Intelligence &amp; Digital Strategy</a:t>
            </a:r>
          </a:p>
        </p:txBody>
      </p:sp>
      <p:sp>
        <p:nvSpPr>
          <p:cNvPr id="10" name="Rounded Rectangle 9"/>
          <p:cNvSpPr/>
          <p:nvPr/>
        </p:nvSpPr>
        <p:spPr>
          <a:xfrm>
            <a:off x="640080" y="5029200"/>
            <a:ext cx="1645920" cy="36576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074920"/>
            <a:ext cx="1645920" cy="320040"/>
          </a:xfrm>
          <a:prstGeom prst="rect">
            <a:avLst/>
          </a:prstGeom>
          <a:noFill/>
        </p:spPr>
        <p:txBody>
          <a:bodyPr wrap="square">
            <a:spAutoFit/>
          </a:bodyPr>
          <a:lstStyle/>
          <a:p>
            <a:pPr algn="ctr">
              <a:defRPr sz="1100" b="0">
                <a:solidFill>
                  <a:srgbClr val="FFFFFF"/>
                </a:solidFill>
                <a:latin typeface="Arial"/>
              </a:defRPr>
            </a:pPr>
            <a:r>
              <a:t>Janeiro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METODOLOGIA DE CONSTRUÇÃO</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Abordagem Analítica &amp; Transparência de Dados</a:t>
            </a:r>
          </a:p>
        </p:txBody>
      </p:sp>
      <p:sp>
        <p:nvSpPr>
          <p:cNvPr id="5" name="Rounded Rectangle 4"/>
          <p:cNvSpPr/>
          <p:nvPr/>
        </p:nvSpPr>
        <p:spPr>
          <a:xfrm>
            <a:off x="10058400" y="320040"/>
            <a:ext cx="1828800" cy="6400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40" y="347472"/>
            <a:ext cx="1645920" cy="228600"/>
          </a:xfrm>
          <a:prstGeom prst="rect">
            <a:avLst/>
          </a:prstGeom>
          <a:noFill/>
        </p:spPr>
        <p:txBody>
          <a:bodyPr wrap="square">
            <a:spAutoFit/>
          </a:bodyPr>
          <a:lstStyle/>
          <a:p>
            <a:pPr>
              <a:defRPr sz="700" b="0">
                <a:solidFill>
                  <a:srgbClr val="6B7280"/>
                </a:solidFill>
                <a:latin typeface="Arial"/>
              </a:defRPr>
            </a:pPr>
            <a:r>
              <a:t>STATUS DO MATERIAL</a:t>
            </a:r>
          </a:p>
        </p:txBody>
      </p:sp>
      <p:sp>
        <p:nvSpPr>
          <p:cNvPr id="7" name="TextBox 6"/>
          <p:cNvSpPr txBox="1"/>
          <p:nvPr/>
        </p:nvSpPr>
        <p:spPr>
          <a:xfrm>
            <a:off x="10149840" y="530352"/>
            <a:ext cx="1645920" cy="320040"/>
          </a:xfrm>
          <a:prstGeom prst="rect">
            <a:avLst/>
          </a:prstGeom>
          <a:noFill/>
        </p:spPr>
        <p:txBody>
          <a:bodyPr wrap="square">
            <a:spAutoFit/>
          </a:bodyPr>
          <a:lstStyle/>
          <a:p>
            <a:pPr>
              <a:defRPr sz="1000" b="1">
                <a:solidFill>
                  <a:srgbClr val="1A3A6E"/>
                </a:solidFill>
                <a:latin typeface="Arial"/>
              </a:defRPr>
            </a:pPr>
            <a:r>
              <a:t>Market Intelligence</a:t>
            </a:r>
          </a:p>
        </p:txBody>
      </p:sp>
      <p:sp>
        <p:nvSpPr>
          <p:cNvPr id="8" name="TextBox 7"/>
          <p:cNvSpPr txBox="1"/>
          <p:nvPr/>
        </p:nvSpPr>
        <p:spPr>
          <a:xfrm>
            <a:off x="457200" y="1280160"/>
            <a:ext cx="5029200" cy="320040"/>
          </a:xfrm>
          <a:prstGeom prst="rect">
            <a:avLst/>
          </a:prstGeom>
          <a:noFill/>
        </p:spPr>
        <p:txBody>
          <a:bodyPr wrap="square">
            <a:spAutoFit/>
          </a:bodyPr>
          <a:lstStyle/>
          <a:p>
            <a:pPr>
              <a:defRPr sz="1300" b="1">
                <a:solidFill>
                  <a:srgbClr val="1A3A6E"/>
                </a:solidFill>
                <a:latin typeface="Arial"/>
              </a:defRPr>
            </a:pPr>
            <a:r>
              <a:t>Abordagem Analítica</a:t>
            </a:r>
          </a:p>
        </p:txBody>
      </p:sp>
      <p:sp>
        <p:nvSpPr>
          <p:cNvPr id="9" name="Oval 8"/>
          <p:cNvSpPr/>
          <p:nvPr/>
        </p:nvSpPr>
        <p:spPr>
          <a:xfrm>
            <a:off x="457200" y="1691640"/>
            <a:ext cx="91440" cy="9144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45920"/>
            <a:ext cx="5303520" cy="548640"/>
          </a:xfrm>
          <a:prstGeom prst="rect">
            <a:avLst/>
          </a:prstGeom>
          <a:noFill/>
        </p:spPr>
        <p:txBody>
          <a:bodyPr wrap="square">
            <a:spAutoFit/>
          </a:bodyPr>
          <a:lstStyle/>
          <a:p>
            <a:pPr>
              <a:defRPr sz="1000" b="0">
                <a:solidFill>
                  <a:srgbClr val="1A1A1A"/>
                </a:solidFill>
                <a:latin typeface="Arial"/>
              </a:defRPr>
            </a:pPr>
            <a:r>
              <a:t>Triangulação Multi-Fonte: Cruzamento de dados de tráfego (SEMrush, SimilarWeb), tecnologia (BuiltWith, Wappalyzer) e regulatórios (ANS).</a:t>
            </a:r>
          </a:p>
        </p:txBody>
      </p:sp>
      <p:sp>
        <p:nvSpPr>
          <p:cNvPr id="11" name="Oval 10"/>
          <p:cNvSpPr/>
          <p:nvPr/>
        </p:nvSpPr>
        <p:spPr>
          <a:xfrm>
            <a:off x="457200" y="2377439"/>
            <a:ext cx="91440" cy="9144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331720"/>
            <a:ext cx="5303520" cy="548640"/>
          </a:xfrm>
          <a:prstGeom prst="rect">
            <a:avLst/>
          </a:prstGeom>
          <a:noFill/>
        </p:spPr>
        <p:txBody>
          <a:bodyPr wrap="square">
            <a:spAutoFit/>
          </a:bodyPr>
          <a:lstStyle/>
          <a:p>
            <a:pPr>
              <a:defRPr sz="1000" b="0">
                <a:solidFill>
                  <a:srgbClr val="1A1A1A"/>
                </a:solidFill>
                <a:latin typeface="Arial"/>
              </a:defRPr>
            </a:pPr>
            <a:r>
              <a:t>Normalização Temporal: Dados referentes ao fechamento de Dezembro/2025 e snapshots de Janeiro/2026 para consistência comparativa.</a:t>
            </a:r>
          </a:p>
        </p:txBody>
      </p:sp>
      <p:sp>
        <p:nvSpPr>
          <p:cNvPr id="13" name="Oval 12"/>
          <p:cNvSpPr/>
          <p:nvPr/>
        </p:nvSpPr>
        <p:spPr>
          <a:xfrm>
            <a:off x="457200" y="3063239"/>
            <a:ext cx="91440" cy="9144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017520"/>
            <a:ext cx="5303520" cy="548640"/>
          </a:xfrm>
          <a:prstGeom prst="rect">
            <a:avLst/>
          </a:prstGeom>
          <a:noFill/>
        </p:spPr>
        <p:txBody>
          <a:bodyPr wrap="square">
            <a:spAutoFit/>
          </a:bodyPr>
          <a:lstStyle/>
          <a:p>
            <a:pPr>
              <a:defRPr sz="1000" b="0">
                <a:solidFill>
                  <a:srgbClr val="1A1A1A"/>
                </a:solidFill>
                <a:latin typeface="Arial"/>
              </a:defRPr>
            </a:pPr>
            <a:r>
              <a:t>Validação Manual: Crawling de URLs de saída, inspeção de código-fonte (DOM) e testes de jornada do usuário.</a:t>
            </a:r>
          </a:p>
        </p:txBody>
      </p:sp>
      <p:sp>
        <p:nvSpPr>
          <p:cNvPr id="15" name="TextBox 14"/>
          <p:cNvSpPr txBox="1"/>
          <p:nvPr/>
        </p:nvSpPr>
        <p:spPr>
          <a:xfrm>
            <a:off x="6217920" y="1280160"/>
            <a:ext cx="5029200" cy="320040"/>
          </a:xfrm>
          <a:prstGeom prst="rect">
            <a:avLst/>
          </a:prstGeom>
          <a:noFill/>
        </p:spPr>
        <p:txBody>
          <a:bodyPr wrap="square">
            <a:spAutoFit/>
          </a:bodyPr>
          <a:lstStyle/>
          <a:p>
            <a:pPr>
              <a:defRPr sz="1300" b="1">
                <a:solidFill>
                  <a:srgbClr val="1A3A6E"/>
                </a:solidFill>
                <a:latin typeface="Arial"/>
              </a:defRPr>
            </a:pPr>
            <a:r>
              <a:t>Classificação de Evidências</a:t>
            </a:r>
          </a:p>
        </p:txBody>
      </p:sp>
      <p:sp>
        <p:nvSpPr>
          <p:cNvPr id="16" name="Rounded Rectangle 15"/>
          <p:cNvSpPr/>
          <p:nvPr/>
        </p:nvSpPr>
        <p:spPr>
          <a:xfrm>
            <a:off x="6217920" y="1645920"/>
            <a:ext cx="5212080" cy="822960"/>
          </a:xfrm>
          <a:prstGeom prst="round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645920"/>
            <a:ext cx="54864" cy="8229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719072"/>
            <a:ext cx="4937760" cy="228600"/>
          </a:xfrm>
          <a:prstGeom prst="rect">
            <a:avLst/>
          </a:prstGeom>
          <a:noFill/>
        </p:spPr>
        <p:txBody>
          <a:bodyPr wrap="square">
            <a:spAutoFit/>
          </a:bodyPr>
          <a:lstStyle/>
          <a:p>
            <a:pPr>
              <a:defRPr sz="900" b="1">
                <a:solidFill>
                  <a:srgbClr val="059669"/>
                </a:solidFill>
                <a:latin typeface="Arial"/>
              </a:defRPr>
            </a:pPr>
            <a:r>
              <a:t>DADOS DETERMINÍSTICOS (Alta Certeza)</a:t>
            </a:r>
          </a:p>
        </p:txBody>
      </p:sp>
      <p:sp>
        <p:nvSpPr>
          <p:cNvPr id="19" name="TextBox 18"/>
          <p:cNvSpPr txBox="1"/>
          <p:nvPr/>
        </p:nvSpPr>
        <p:spPr>
          <a:xfrm>
            <a:off x="6355080" y="1965960"/>
            <a:ext cx="4937760" cy="457200"/>
          </a:xfrm>
          <a:prstGeom prst="rect">
            <a:avLst/>
          </a:prstGeom>
          <a:noFill/>
        </p:spPr>
        <p:txBody>
          <a:bodyPr wrap="square">
            <a:spAutoFit/>
          </a:bodyPr>
          <a:lstStyle/>
          <a:p>
            <a:pPr>
              <a:defRPr sz="800" b="0">
                <a:solidFill>
                  <a:srgbClr val="6B7280"/>
                </a:solidFill>
                <a:latin typeface="Arial"/>
              </a:defRPr>
            </a:pPr>
            <a:r>
              <a:t>Métricas internas (quando disponíveis: GA4, CRM), observações diretas (tecnologias detectadas no código, existência de links, dados ANS).</a:t>
            </a:r>
          </a:p>
        </p:txBody>
      </p:sp>
      <p:sp>
        <p:nvSpPr>
          <p:cNvPr id="20" name="Rounded Rectangle 19"/>
          <p:cNvSpPr/>
          <p:nvPr/>
        </p:nvSpPr>
        <p:spPr>
          <a:xfrm>
            <a:off x="6217920" y="2560320"/>
            <a:ext cx="5212080" cy="82296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54864" cy="8229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633472"/>
            <a:ext cx="4937760" cy="228600"/>
          </a:xfrm>
          <a:prstGeom prst="rect">
            <a:avLst/>
          </a:prstGeom>
          <a:noFill/>
        </p:spPr>
        <p:txBody>
          <a:bodyPr wrap="square">
            <a:spAutoFit/>
          </a:bodyPr>
          <a:lstStyle/>
          <a:p>
            <a:pPr>
              <a:defRPr sz="900" b="1">
                <a:solidFill>
                  <a:srgbClr val="F59E0B"/>
                </a:solidFill>
                <a:latin typeface="Arial"/>
              </a:defRPr>
            </a:pPr>
            <a:r>
              <a:t>DADOS PROBABILÍSTICOS (Estimados)</a:t>
            </a:r>
          </a:p>
        </p:txBody>
      </p:sp>
      <p:sp>
        <p:nvSpPr>
          <p:cNvPr id="23" name="TextBox 22"/>
          <p:cNvSpPr txBox="1"/>
          <p:nvPr/>
        </p:nvSpPr>
        <p:spPr>
          <a:xfrm>
            <a:off x="6355080" y="2880360"/>
            <a:ext cx="4937760" cy="457200"/>
          </a:xfrm>
          <a:prstGeom prst="rect">
            <a:avLst/>
          </a:prstGeom>
          <a:noFill/>
        </p:spPr>
        <p:txBody>
          <a:bodyPr wrap="square">
            <a:spAutoFit/>
          </a:bodyPr>
          <a:lstStyle/>
          <a:p>
            <a:pPr>
              <a:defRPr sz="800" b="0">
                <a:solidFill>
                  <a:srgbClr val="6B7280"/>
                </a:solidFill>
                <a:latin typeface="Arial"/>
              </a:defRPr>
            </a:pPr>
            <a:r>
              <a:t>Estimativas de tráfego, volumes de keywords e share de canais baseados em painéis amostrais de terceiros (SEMrush, SimilarWeb).</a:t>
            </a:r>
          </a:p>
        </p:txBody>
      </p:sp>
      <p:sp>
        <p:nvSpPr>
          <p:cNvPr id="24" name="Rounded Rectangle 23"/>
          <p:cNvSpPr/>
          <p:nvPr/>
        </p:nvSpPr>
        <p:spPr>
          <a:xfrm>
            <a:off x="6217920" y="3474720"/>
            <a:ext cx="5212080" cy="82296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3474720"/>
            <a:ext cx="54864" cy="8229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3547872"/>
            <a:ext cx="4937760" cy="228600"/>
          </a:xfrm>
          <a:prstGeom prst="rect">
            <a:avLst/>
          </a:prstGeom>
          <a:noFill/>
        </p:spPr>
        <p:txBody>
          <a:bodyPr wrap="square">
            <a:spAutoFit/>
          </a:bodyPr>
          <a:lstStyle/>
          <a:p>
            <a:pPr>
              <a:defRPr sz="900" b="1">
                <a:solidFill>
                  <a:srgbClr val="DC2626"/>
                </a:solidFill>
                <a:latin typeface="Arial"/>
              </a:defRPr>
            </a:pPr>
            <a:r>
              <a:t>MODELAGENS (Projeções)</a:t>
            </a:r>
          </a:p>
        </p:txBody>
      </p:sp>
      <p:sp>
        <p:nvSpPr>
          <p:cNvPr id="27" name="TextBox 26"/>
          <p:cNvSpPr txBox="1"/>
          <p:nvPr/>
        </p:nvSpPr>
        <p:spPr>
          <a:xfrm>
            <a:off x="6355080" y="3794759"/>
            <a:ext cx="4937760" cy="457200"/>
          </a:xfrm>
          <a:prstGeom prst="rect">
            <a:avLst/>
          </a:prstGeom>
          <a:noFill/>
        </p:spPr>
        <p:txBody>
          <a:bodyPr wrap="square">
            <a:spAutoFit/>
          </a:bodyPr>
          <a:lstStyle/>
          <a:p>
            <a:pPr>
              <a:defRPr sz="800" b="0">
                <a:solidFill>
                  <a:srgbClr val="6B7280"/>
                </a:solidFill>
                <a:latin typeface="Arial"/>
              </a:defRPr>
            </a:pPr>
            <a:r>
              <a:t>Cálculos derivados sem dado direto (ex: distribuição regional de demanda, % da receita em mídia paga). Sempre sinalizados com disclaimer.</a:t>
            </a:r>
          </a:p>
        </p:txBody>
      </p:sp>
      <p:sp>
        <p:nvSpPr>
          <p:cNvPr id="28" name="Rounded Rectangle 27"/>
          <p:cNvSpPr/>
          <p:nvPr/>
        </p:nvSpPr>
        <p:spPr>
          <a:xfrm>
            <a:off x="457200" y="5303520"/>
            <a:ext cx="11247120" cy="82296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349240"/>
            <a:ext cx="10972800" cy="228600"/>
          </a:xfrm>
          <a:prstGeom prst="rect">
            <a:avLst/>
          </a:prstGeom>
          <a:noFill/>
        </p:spPr>
        <p:txBody>
          <a:bodyPr wrap="square">
            <a:spAutoFit/>
          </a:bodyPr>
          <a:lstStyle/>
          <a:p>
            <a:pPr>
              <a:defRPr sz="900" b="1">
                <a:solidFill>
                  <a:srgbClr val="F59E0B"/>
                </a:solidFill>
                <a:latin typeface="Arial"/>
              </a:defRPr>
            </a:pPr>
            <a:r>
              <a:t>⚠ NOTA DE RECALIBRAÇÃO:</a:t>
            </a:r>
          </a:p>
        </p:txBody>
      </p:sp>
      <p:sp>
        <p:nvSpPr>
          <p:cNvPr id="30" name="TextBox 29"/>
          <p:cNvSpPr txBox="1"/>
          <p:nvPr/>
        </p:nvSpPr>
        <p:spPr>
          <a:xfrm>
            <a:off x="548640" y="5623560"/>
            <a:ext cx="10972800" cy="457200"/>
          </a:xfrm>
          <a:prstGeom prst="rect">
            <a:avLst/>
          </a:prstGeom>
          <a:noFill/>
        </p:spPr>
        <p:txBody>
          <a:bodyPr wrap="square">
            <a:spAutoFit/>
          </a:bodyPr>
          <a:lstStyle/>
          <a:p>
            <a:pPr>
              <a:defRPr sz="800" b="0">
                <a:solidFill>
                  <a:srgbClr val="1A1A1A"/>
                </a:solidFill>
                <a:latin typeface="Arial"/>
              </a:defRPr>
            </a:pPr>
            <a:r>
              <a:t>Este material foi construído com dados de "Market Intelligence". Caso dados internos determinísticos sejam disponibilizados (acesso ao GA4, CRM, integrações de WhatsApp API ou dados de faturamento real), recalibramos todos os números invertendo a prioridade das fontes: Interno &gt; Terceiros &gt; Modelagem.</a:t>
            </a:r>
          </a:p>
        </p:txBody>
      </p:sp>
      <p:sp>
        <p:nvSpPr>
          <p:cNvPr id="31" name="TextBox 30"/>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Framework baseado em melhores práticas de Competitive Intelligence (CI)</a:t>
            </a:r>
          </a:p>
        </p:txBody>
      </p:sp>
      <p:sp>
        <p:nvSpPr>
          <p:cNvPr id="32" name="TextBox 31"/>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FERRAMENTAS &amp; FONTES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Stack de Análise &amp; Market Intelligence</a:t>
            </a:r>
          </a:p>
        </p:txBody>
      </p:sp>
      <p:sp>
        <p:nvSpPr>
          <p:cNvPr id="5" name="Rounded Rectangle 4"/>
          <p:cNvSpPr/>
          <p:nvPr/>
        </p:nvSpPr>
        <p:spPr>
          <a:xfrm>
            <a:off x="457200" y="128016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17319"/>
            <a:ext cx="3383280" cy="274320"/>
          </a:xfrm>
          <a:prstGeom prst="rect">
            <a:avLst/>
          </a:prstGeom>
          <a:noFill/>
        </p:spPr>
        <p:txBody>
          <a:bodyPr wrap="square">
            <a:spAutoFit/>
          </a:bodyPr>
          <a:lstStyle/>
          <a:p>
            <a:pPr>
              <a:defRPr sz="1100" b="1">
                <a:solidFill>
                  <a:srgbClr val="1A3A6E"/>
                </a:solidFill>
                <a:latin typeface="Arial"/>
              </a:defRPr>
            </a:pPr>
            <a:r>
              <a:t>SEMrush Traffic Analytics</a:t>
            </a:r>
          </a:p>
        </p:txBody>
      </p:sp>
      <p:sp>
        <p:nvSpPr>
          <p:cNvPr id="7" name="TextBox 6"/>
          <p:cNvSpPr txBox="1"/>
          <p:nvPr/>
        </p:nvSpPr>
        <p:spPr>
          <a:xfrm>
            <a:off x="594360" y="1737360"/>
            <a:ext cx="3383280" cy="731520"/>
          </a:xfrm>
          <a:prstGeom prst="rect">
            <a:avLst/>
          </a:prstGeom>
          <a:noFill/>
        </p:spPr>
        <p:txBody>
          <a:bodyPr wrap="square">
            <a:spAutoFit/>
          </a:bodyPr>
          <a:lstStyle/>
          <a:p>
            <a:pPr>
              <a:defRPr sz="900" b="0">
                <a:solidFill>
                  <a:srgbClr val="6B7280"/>
                </a:solidFill>
                <a:latin typeface="Arial"/>
              </a:defRPr>
            </a:pPr>
            <a:r>
              <a:t>Tráfego estimado, canais, Traffic Journey, volumes de keywords e análise de concorrência.</a:t>
            </a:r>
          </a:p>
        </p:txBody>
      </p:sp>
      <p:sp>
        <p:nvSpPr>
          <p:cNvPr id="8" name="Rounded Rectangle 7"/>
          <p:cNvSpPr/>
          <p:nvPr/>
        </p:nvSpPr>
        <p:spPr>
          <a:xfrm>
            <a:off x="4297680" y="128016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417319"/>
            <a:ext cx="3383280" cy="274320"/>
          </a:xfrm>
          <a:prstGeom prst="rect">
            <a:avLst/>
          </a:prstGeom>
          <a:noFill/>
        </p:spPr>
        <p:txBody>
          <a:bodyPr wrap="square">
            <a:spAutoFit/>
          </a:bodyPr>
          <a:lstStyle/>
          <a:p>
            <a:pPr>
              <a:defRPr sz="1100" b="1">
                <a:solidFill>
                  <a:srgbClr val="1A3A6E"/>
                </a:solidFill>
                <a:latin typeface="Arial"/>
              </a:defRPr>
            </a:pPr>
            <a:r>
              <a:t>SimilarWeb</a:t>
            </a:r>
          </a:p>
        </p:txBody>
      </p:sp>
      <p:sp>
        <p:nvSpPr>
          <p:cNvPr id="10" name="TextBox 9"/>
          <p:cNvSpPr txBox="1"/>
          <p:nvPr/>
        </p:nvSpPr>
        <p:spPr>
          <a:xfrm>
            <a:off x="4434840" y="1737360"/>
            <a:ext cx="3383280" cy="731520"/>
          </a:xfrm>
          <a:prstGeom prst="rect">
            <a:avLst/>
          </a:prstGeom>
          <a:noFill/>
        </p:spPr>
        <p:txBody>
          <a:bodyPr wrap="square">
            <a:spAutoFit/>
          </a:bodyPr>
          <a:lstStyle/>
          <a:p>
            <a:pPr>
              <a:defRPr sz="900" b="0">
                <a:solidFill>
                  <a:srgbClr val="6B7280"/>
                </a:solidFill>
                <a:latin typeface="Arial"/>
              </a:defRPr>
            </a:pPr>
            <a:r>
              <a:t>Corroboração de share de canais, total de visitas e benchmarks setoriais globais.</a:t>
            </a:r>
          </a:p>
        </p:txBody>
      </p:sp>
      <p:sp>
        <p:nvSpPr>
          <p:cNvPr id="11" name="Rounded Rectangle 10"/>
          <p:cNvSpPr/>
          <p:nvPr/>
        </p:nvSpPr>
        <p:spPr>
          <a:xfrm>
            <a:off x="8138160" y="128016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417319"/>
            <a:ext cx="3383280" cy="274320"/>
          </a:xfrm>
          <a:prstGeom prst="rect">
            <a:avLst/>
          </a:prstGeom>
          <a:noFill/>
        </p:spPr>
        <p:txBody>
          <a:bodyPr wrap="square">
            <a:spAutoFit/>
          </a:bodyPr>
          <a:lstStyle/>
          <a:p>
            <a:pPr>
              <a:defRPr sz="1100" b="1">
                <a:solidFill>
                  <a:srgbClr val="1A3A6E"/>
                </a:solidFill>
                <a:latin typeface="Arial"/>
              </a:defRPr>
            </a:pPr>
            <a:r>
              <a:t>Ahrefs</a:t>
            </a:r>
          </a:p>
        </p:txBody>
      </p:sp>
      <p:sp>
        <p:nvSpPr>
          <p:cNvPr id="13" name="TextBox 12"/>
          <p:cNvSpPr txBox="1"/>
          <p:nvPr/>
        </p:nvSpPr>
        <p:spPr>
          <a:xfrm>
            <a:off x="8275320" y="1737360"/>
            <a:ext cx="3383280" cy="731520"/>
          </a:xfrm>
          <a:prstGeom prst="rect">
            <a:avLst/>
          </a:prstGeom>
          <a:noFill/>
        </p:spPr>
        <p:txBody>
          <a:bodyPr wrap="square">
            <a:spAutoFit/>
          </a:bodyPr>
          <a:lstStyle/>
          <a:p>
            <a:pPr>
              <a:defRPr sz="900" b="0">
                <a:solidFill>
                  <a:srgbClr val="6B7280"/>
                </a:solidFill>
                <a:latin typeface="Arial"/>
              </a:defRPr>
            </a:pPr>
            <a:r>
              <a:t>Auditoria de backlinks, authority score, referring domains e saúde técnica de SEO.</a:t>
            </a:r>
          </a:p>
        </p:txBody>
      </p:sp>
      <p:sp>
        <p:nvSpPr>
          <p:cNvPr id="14" name="Rounded Rectangle 13"/>
          <p:cNvSpPr/>
          <p:nvPr/>
        </p:nvSpPr>
        <p:spPr>
          <a:xfrm>
            <a:off x="457200" y="274320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80360"/>
            <a:ext cx="3383280" cy="274320"/>
          </a:xfrm>
          <a:prstGeom prst="rect">
            <a:avLst/>
          </a:prstGeom>
          <a:noFill/>
        </p:spPr>
        <p:txBody>
          <a:bodyPr wrap="square">
            <a:spAutoFit/>
          </a:bodyPr>
          <a:lstStyle/>
          <a:p>
            <a:pPr>
              <a:defRPr sz="1100" b="1">
                <a:solidFill>
                  <a:srgbClr val="1A3A6E"/>
                </a:solidFill>
                <a:latin typeface="Arial"/>
              </a:defRPr>
            </a:pPr>
            <a:r>
              <a:t>Google Trends</a:t>
            </a:r>
          </a:p>
        </p:txBody>
      </p:sp>
      <p:sp>
        <p:nvSpPr>
          <p:cNvPr id="16" name="TextBox 15"/>
          <p:cNvSpPr txBox="1"/>
          <p:nvPr/>
        </p:nvSpPr>
        <p:spPr>
          <a:xfrm>
            <a:off x="594360" y="3200400"/>
            <a:ext cx="3383280" cy="731520"/>
          </a:xfrm>
          <a:prstGeom prst="rect">
            <a:avLst/>
          </a:prstGeom>
          <a:noFill/>
        </p:spPr>
        <p:txBody>
          <a:bodyPr wrap="square">
            <a:spAutoFit/>
          </a:bodyPr>
          <a:lstStyle/>
          <a:p>
            <a:pPr>
              <a:defRPr sz="900" b="0">
                <a:solidFill>
                  <a:srgbClr val="6B7280"/>
                </a:solidFill>
                <a:latin typeface="Arial"/>
              </a:defRPr>
            </a:pPr>
            <a:r>
              <a:t>Interesse relativo por marca, sazonalidade de busca e distribuição regional de demanda.</a:t>
            </a:r>
          </a:p>
        </p:txBody>
      </p:sp>
      <p:sp>
        <p:nvSpPr>
          <p:cNvPr id="17" name="Rounded Rectangle 16"/>
          <p:cNvSpPr/>
          <p:nvPr/>
        </p:nvSpPr>
        <p:spPr>
          <a:xfrm>
            <a:off x="4297680" y="274320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880360"/>
            <a:ext cx="3383280" cy="274320"/>
          </a:xfrm>
          <a:prstGeom prst="rect">
            <a:avLst/>
          </a:prstGeom>
          <a:noFill/>
        </p:spPr>
        <p:txBody>
          <a:bodyPr wrap="square">
            <a:spAutoFit/>
          </a:bodyPr>
          <a:lstStyle/>
          <a:p>
            <a:pPr>
              <a:defRPr sz="1100" b="1">
                <a:solidFill>
                  <a:srgbClr val="1A3A6E"/>
                </a:solidFill>
                <a:latin typeface="Arial"/>
              </a:defRPr>
            </a:pPr>
            <a:r>
              <a:t>ANS Dados Abertos</a:t>
            </a:r>
          </a:p>
        </p:txBody>
      </p:sp>
      <p:sp>
        <p:nvSpPr>
          <p:cNvPr id="19" name="TextBox 18"/>
          <p:cNvSpPr txBox="1"/>
          <p:nvPr/>
        </p:nvSpPr>
        <p:spPr>
          <a:xfrm>
            <a:off x="4434840" y="3200400"/>
            <a:ext cx="3383280" cy="731520"/>
          </a:xfrm>
          <a:prstGeom prst="rect">
            <a:avLst/>
          </a:prstGeom>
          <a:noFill/>
        </p:spPr>
        <p:txBody>
          <a:bodyPr wrap="square">
            <a:spAutoFit/>
          </a:bodyPr>
          <a:lstStyle/>
          <a:p>
            <a:pPr>
              <a:defRPr sz="900" b="0">
                <a:solidFill>
                  <a:srgbClr val="6B7280"/>
                </a:solidFill>
                <a:latin typeface="Arial"/>
              </a:defRPr>
            </a:pPr>
            <a:r>
              <a:t>Base oficial de beneficiários, market share regulatório e séries históricas do setor.</a:t>
            </a:r>
          </a:p>
        </p:txBody>
      </p:sp>
      <p:sp>
        <p:nvSpPr>
          <p:cNvPr id="20" name="Rounded Rectangle 19"/>
          <p:cNvSpPr/>
          <p:nvPr/>
        </p:nvSpPr>
        <p:spPr>
          <a:xfrm>
            <a:off x="8138160" y="274320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80360"/>
            <a:ext cx="3383280" cy="274320"/>
          </a:xfrm>
          <a:prstGeom prst="rect">
            <a:avLst/>
          </a:prstGeom>
          <a:noFill/>
        </p:spPr>
        <p:txBody>
          <a:bodyPr wrap="square">
            <a:spAutoFit/>
          </a:bodyPr>
          <a:lstStyle/>
          <a:p>
            <a:pPr>
              <a:defRPr sz="1100" b="1">
                <a:solidFill>
                  <a:srgbClr val="1A3A6E"/>
                </a:solidFill>
                <a:latin typeface="Arial"/>
              </a:defRPr>
            </a:pPr>
            <a:r>
              <a:t>BuiltWith</a:t>
            </a:r>
          </a:p>
        </p:txBody>
      </p:sp>
      <p:sp>
        <p:nvSpPr>
          <p:cNvPr id="22" name="TextBox 21"/>
          <p:cNvSpPr txBox="1"/>
          <p:nvPr/>
        </p:nvSpPr>
        <p:spPr>
          <a:xfrm>
            <a:off x="8275320" y="3200400"/>
            <a:ext cx="3383280" cy="731520"/>
          </a:xfrm>
          <a:prstGeom prst="rect">
            <a:avLst/>
          </a:prstGeom>
          <a:noFill/>
        </p:spPr>
        <p:txBody>
          <a:bodyPr wrap="square">
            <a:spAutoFit/>
          </a:bodyPr>
          <a:lstStyle/>
          <a:p>
            <a:pPr>
              <a:defRPr sz="900" b="0">
                <a:solidFill>
                  <a:srgbClr val="6B7280"/>
                </a:solidFill>
                <a:latin typeface="Arial"/>
              </a:defRPr>
            </a:pPr>
            <a:r>
              <a:t>Detecção de stack tecnológico, servidores, frameworks e tags de marketing/analytics.</a:t>
            </a:r>
          </a:p>
        </p:txBody>
      </p:sp>
      <p:sp>
        <p:nvSpPr>
          <p:cNvPr id="23" name="Rounded Rectangle 22"/>
          <p:cNvSpPr/>
          <p:nvPr/>
        </p:nvSpPr>
        <p:spPr>
          <a:xfrm>
            <a:off x="457200" y="420624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343400"/>
            <a:ext cx="3383280" cy="274320"/>
          </a:xfrm>
          <a:prstGeom prst="rect">
            <a:avLst/>
          </a:prstGeom>
          <a:noFill/>
        </p:spPr>
        <p:txBody>
          <a:bodyPr wrap="square">
            <a:spAutoFit/>
          </a:bodyPr>
          <a:lstStyle/>
          <a:p>
            <a:pPr>
              <a:defRPr sz="1100" b="1">
                <a:solidFill>
                  <a:srgbClr val="1A3A6E"/>
                </a:solidFill>
                <a:latin typeface="Arial"/>
              </a:defRPr>
            </a:pPr>
            <a:r>
              <a:t>Wappalyzer</a:t>
            </a:r>
          </a:p>
        </p:txBody>
      </p:sp>
      <p:sp>
        <p:nvSpPr>
          <p:cNvPr id="25" name="TextBox 24"/>
          <p:cNvSpPr txBox="1"/>
          <p:nvPr/>
        </p:nvSpPr>
        <p:spPr>
          <a:xfrm>
            <a:off x="594360" y="4663440"/>
            <a:ext cx="3383280" cy="731520"/>
          </a:xfrm>
          <a:prstGeom prst="rect">
            <a:avLst/>
          </a:prstGeom>
          <a:noFill/>
        </p:spPr>
        <p:txBody>
          <a:bodyPr wrap="square">
            <a:spAutoFit/>
          </a:bodyPr>
          <a:lstStyle/>
          <a:p>
            <a:pPr>
              <a:defRPr sz="900" b="0">
                <a:solidFill>
                  <a:srgbClr val="6B7280"/>
                </a:solidFill>
                <a:latin typeface="Arial"/>
              </a:defRPr>
            </a:pPr>
            <a:r>
              <a:t>Validação de tecnologias client-side, scripts de tracking e plataformas de CMS.</a:t>
            </a:r>
          </a:p>
        </p:txBody>
      </p:sp>
      <p:sp>
        <p:nvSpPr>
          <p:cNvPr id="26" name="Rounded Rectangle 25"/>
          <p:cNvSpPr/>
          <p:nvPr/>
        </p:nvSpPr>
        <p:spPr>
          <a:xfrm>
            <a:off x="4297680" y="420624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4840" y="4343400"/>
            <a:ext cx="3383280" cy="274320"/>
          </a:xfrm>
          <a:prstGeom prst="rect">
            <a:avLst/>
          </a:prstGeom>
          <a:noFill/>
        </p:spPr>
        <p:txBody>
          <a:bodyPr wrap="square">
            <a:spAutoFit/>
          </a:bodyPr>
          <a:lstStyle/>
          <a:p>
            <a:pPr>
              <a:defRPr sz="1100" b="1">
                <a:solidFill>
                  <a:srgbClr val="1A3A6E"/>
                </a:solidFill>
                <a:latin typeface="Arial"/>
              </a:defRPr>
            </a:pPr>
            <a:r>
              <a:t>CrUX / PageSpeed</a:t>
            </a:r>
          </a:p>
        </p:txBody>
      </p:sp>
      <p:sp>
        <p:nvSpPr>
          <p:cNvPr id="28" name="TextBox 27"/>
          <p:cNvSpPr txBox="1"/>
          <p:nvPr/>
        </p:nvSpPr>
        <p:spPr>
          <a:xfrm>
            <a:off x="4434840" y="4663440"/>
            <a:ext cx="3383280" cy="731520"/>
          </a:xfrm>
          <a:prstGeom prst="rect">
            <a:avLst/>
          </a:prstGeom>
          <a:noFill/>
        </p:spPr>
        <p:txBody>
          <a:bodyPr wrap="square">
            <a:spAutoFit/>
          </a:bodyPr>
          <a:lstStyle/>
          <a:p>
            <a:pPr>
              <a:defRPr sz="900" b="0">
                <a:solidFill>
                  <a:srgbClr val="6B7280"/>
                </a:solidFill>
                <a:latin typeface="Arial"/>
              </a:defRPr>
            </a:pPr>
            <a:r>
              <a:t>Dados de Core Web Vitals, experiência do usuário (UX) e performance mobile/desktop.</a:t>
            </a:r>
          </a:p>
        </p:txBody>
      </p:sp>
      <p:sp>
        <p:nvSpPr>
          <p:cNvPr id="29" name="Rounded Rectangle 28"/>
          <p:cNvSpPr/>
          <p:nvPr/>
        </p:nvSpPr>
        <p:spPr>
          <a:xfrm>
            <a:off x="8138160" y="4206240"/>
            <a:ext cx="365760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4343400"/>
            <a:ext cx="3383280" cy="274320"/>
          </a:xfrm>
          <a:prstGeom prst="rect">
            <a:avLst/>
          </a:prstGeom>
          <a:noFill/>
        </p:spPr>
        <p:txBody>
          <a:bodyPr wrap="square">
            <a:spAutoFit/>
          </a:bodyPr>
          <a:lstStyle/>
          <a:p>
            <a:pPr>
              <a:defRPr sz="1100" b="1">
                <a:solidFill>
                  <a:srgbClr val="1A3A6E"/>
                </a:solidFill>
                <a:latin typeface="Arial"/>
              </a:defRPr>
            </a:pPr>
            <a:r>
              <a:t>Chart.js / ECharts</a:t>
            </a:r>
          </a:p>
        </p:txBody>
      </p:sp>
      <p:sp>
        <p:nvSpPr>
          <p:cNvPr id="31" name="TextBox 30"/>
          <p:cNvSpPr txBox="1"/>
          <p:nvPr/>
        </p:nvSpPr>
        <p:spPr>
          <a:xfrm>
            <a:off x="8275320" y="4663440"/>
            <a:ext cx="3383280" cy="731520"/>
          </a:xfrm>
          <a:prstGeom prst="rect">
            <a:avLst/>
          </a:prstGeom>
          <a:noFill/>
        </p:spPr>
        <p:txBody>
          <a:bodyPr wrap="square">
            <a:spAutoFit/>
          </a:bodyPr>
          <a:lstStyle/>
          <a:p>
            <a:pPr>
              <a:defRPr sz="900" b="0">
                <a:solidFill>
                  <a:srgbClr val="6B7280"/>
                </a:solidFill>
                <a:latin typeface="Arial"/>
              </a:defRPr>
            </a:pPr>
            <a:r>
              <a:t>Modelagem visual de dados, diagramas Sankey, gráficos Radar e projeções estatísticas.</a:t>
            </a:r>
          </a:p>
        </p:txBody>
      </p:sp>
      <p:sp>
        <p:nvSpPr>
          <p:cNvPr id="32" name="TextBox 31"/>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Todas as ferramentas utilizadas sob licenças enterprise ou trial permitido</a:t>
            </a:r>
          </a:p>
        </p:txBody>
      </p:sp>
      <p:sp>
        <p:nvSpPr>
          <p:cNvPr id="33" name="TextBox 32"/>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MARKET SHARE</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Panorama Competitivo 2025</a:t>
            </a:r>
          </a:p>
        </p:txBody>
      </p:sp>
      <p:sp>
        <p:nvSpPr>
          <p:cNvPr id="5" name="Rounded Rectangle 4"/>
          <p:cNvSpPr/>
          <p:nvPr/>
        </p:nvSpPr>
        <p:spPr>
          <a:xfrm>
            <a:off x="457200" y="1280160"/>
            <a:ext cx="5029200" cy="25603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17320"/>
            <a:ext cx="4754880" cy="1097280"/>
          </a:xfrm>
          <a:prstGeom prst="rect">
            <a:avLst/>
          </a:prstGeom>
          <a:noFill/>
        </p:spPr>
        <p:txBody>
          <a:bodyPr wrap="square">
            <a:spAutoFit/>
          </a:bodyPr>
          <a:lstStyle/>
          <a:p>
            <a:pPr>
              <a:defRPr sz="1100" b="0">
                <a:solidFill>
                  <a:srgbClr val="1A1A1A"/>
                </a:solidFill>
                <a:latin typeface="Arial"/>
              </a:defRPr>
            </a:pPr>
            <a:r>
              <a:t>Com a fusão estratégica, o Grupo Hapvida NotreDame Intermédica consolida sua liderança absoluta no mercado. Detendo 16.6% do market share, a companhia se distancia significativamente dos concorrentes, reforçando sua robustez e presença nacional.</a:t>
            </a:r>
          </a:p>
        </p:txBody>
      </p:sp>
      <p:sp>
        <p:nvSpPr>
          <p:cNvPr id="7" name="TextBox 6"/>
          <p:cNvSpPr txBox="1"/>
          <p:nvPr/>
        </p:nvSpPr>
        <p:spPr>
          <a:xfrm>
            <a:off x="594360" y="2651760"/>
            <a:ext cx="3200400" cy="320040"/>
          </a:xfrm>
          <a:prstGeom prst="rect">
            <a:avLst/>
          </a:prstGeom>
          <a:noFill/>
        </p:spPr>
        <p:txBody>
          <a:bodyPr wrap="square">
            <a:spAutoFit/>
          </a:bodyPr>
          <a:lstStyle/>
          <a:p>
            <a:pPr>
              <a:defRPr sz="1100" b="0">
                <a:solidFill>
                  <a:srgbClr val="1A1A1A"/>
                </a:solidFill>
                <a:latin typeface="Arial"/>
              </a:defRPr>
            </a:pPr>
            <a:r>
              <a:t>Hapvida NDI</a:t>
            </a:r>
          </a:p>
        </p:txBody>
      </p:sp>
      <p:sp>
        <p:nvSpPr>
          <p:cNvPr id="8" name="TextBox 7"/>
          <p:cNvSpPr txBox="1"/>
          <p:nvPr/>
        </p:nvSpPr>
        <p:spPr>
          <a:xfrm>
            <a:off x="4389120" y="2651760"/>
            <a:ext cx="914400" cy="320040"/>
          </a:xfrm>
          <a:prstGeom prst="rect">
            <a:avLst/>
          </a:prstGeom>
          <a:noFill/>
        </p:spPr>
        <p:txBody>
          <a:bodyPr wrap="square">
            <a:spAutoFit/>
          </a:bodyPr>
          <a:lstStyle/>
          <a:p>
            <a:pPr algn="r">
              <a:defRPr sz="1100" b="1">
                <a:solidFill>
                  <a:srgbClr val="1A3A6E"/>
                </a:solidFill>
                <a:latin typeface="Arial"/>
              </a:defRPr>
            </a:pPr>
            <a:r>
              <a:t>16.6%</a:t>
            </a:r>
          </a:p>
        </p:txBody>
      </p:sp>
      <p:sp>
        <p:nvSpPr>
          <p:cNvPr id="9" name="TextBox 8"/>
          <p:cNvSpPr txBox="1"/>
          <p:nvPr/>
        </p:nvSpPr>
        <p:spPr>
          <a:xfrm>
            <a:off x="594360" y="3017520"/>
            <a:ext cx="3200400" cy="320040"/>
          </a:xfrm>
          <a:prstGeom prst="rect">
            <a:avLst/>
          </a:prstGeom>
          <a:noFill/>
        </p:spPr>
        <p:txBody>
          <a:bodyPr wrap="square">
            <a:spAutoFit/>
          </a:bodyPr>
          <a:lstStyle/>
          <a:p>
            <a:pPr>
              <a:defRPr sz="1100" b="0">
                <a:solidFill>
                  <a:srgbClr val="1A1A1A"/>
                </a:solidFill>
                <a:latin typeface="Arial"/>
              </a:defRPr>
            </a:pPr>
            <a:r>
              <a:t>Bradesco Saúde</a:t>
            </a:r>
          </a:p>
        </p:txBody>
      </p:sp>
      <p:sp>
        <p:nvSpPr>
          <p:cNvPr id="10" name="TextBox 9"/>
          <p:cNvSpPr txBox="1"/>
          <p:nvPr/>
        </p:nvSpPr>
        <p:spPr>
          <a:xfrm>
            <a:off x="4389120" y="3017520"/>
            <a:ext cx="914400" cy="320040"/>
          </a:xfrm>
          <a:prstGeom prst="rect">
            <a:avLst/>
          </a:prstGeom>
          <a:noFill/>
        </p:spPr>
        <p:txBody>
          <a:bodyPr wrap="square">
            <a:spAutoFit/>
          </a:bodyPr>
          <a:lstStyle/>
          <a:p>
            <a:pPr algn="r">
              <a:defRPr sz="1100" b="1">
                <a:solidFill>
                  <a:srgbClr val="1A3A6E"/>
                </a:solidFill>
                <a:latin typeface="Arial"/>
              </a:defRPr>
            </a:pPr>
            <a:r>
              <a:t>7.1%</a:t>
            </a:r>
          </a:p>
        </p:txBody>
      </p:sp>
      <p:sp>
        <p:nvSpPr>
          <p:cNvPr id="11" name="TextBox 10"/>
          <p:cNvSpPr txBox="1"/>
          <p:nvPr/>
        </p:nvSpPr>
        <p:spPr>
          <a:xfrm>
            <a:off x="594360" y="3383279"/>
            <a:ext cx="3200400" cy="320040"/>
          </a:xfrm>
          <a:prstGeom prst="rect">
            <a:avLst/>
          </a:prstGeom>
          <a:noFill/>
        </p:spPr>
        <p:txBody>
          <a:bodyPr wrap="square">
            <a:spAutoFit/>
          </a:bodyPr>
          <a:lstStyle/>
          <a:p>
            <a:pPr>
              <a:defRPr sz="1100" b="0">
                <a:solidFill>
                  <a:srgbClr val="1A1A1A"/>
                </a:solidFill>
                <a:latin typeface="Arial"/>
              </a:defRPr>
            </a:pPr>
            <a:r>
              <a:t>Amil</a:t>
            </a:r>
          </a:p>
        </p:txBody>
      </p:sp>
      <p:sp>
        <p:nvSpPr>
          <p:cNvPr id="12" name="TextBox 11"/>
          <p:cNvSpPr txBox="1"/>
          <p:nvPr/>
        </p:nvSpPr>
        <p:spPr>
          <a:xfrm>
            <a:off x="4389120" y="3383279"/>
            <a:ext cx="914400" cy="320040"/>
          </a:xfrm>
          <a:prstGeom prst="rect">
            <a:avLst/>
          </a:prstGeom>
          <a:noFill/>
        </p:spPr>
        <p:txBody>
          <a:bodyPr wrap="square">
            <a:spAutoFit/>
          </a:bodyPr>
          <a:lstStyle/>
          <a:p>
            <a:pPr algn="r">
              <a:defRPr sz="1100" b="1">
                <a:solidFill>
                  <a:srgbClr val="1A3A6E"/>
                </a:solidFill>
                <a:latin typeface="Arial"/>
              </a:defRPr>
            </a:pPr>
            <a:r>
              <a:t>6.0%</a:t>
            </a:r>
          </a:p>
        </p:txBody>
      </p:sp>
      <p:sp>
        <p:nvSpPr>
          <p:cNvPr id="13" name="TextBox 12"/>
          <p:cNvSpPr txBox="1"/>
          <p:nvPr/>
        </p:nvSpPr>
        <p:spPr>
          <a:xfrm>
            <a:off x="594360" y="3749039"/>
            <a:ext cx="3200400" cy="320040"/>
          </a:xfrm>
          <a:prstGeom prst="rect">
            <a:avLst/>
          </a:prstGeom>
          <a:noFill/>
        </p:spPr>
        <p:txBody>
          <a:bodyPr wrap="square">
            <a:spAutoFit/>
          </a:bodyPr>
          <a:lstStyle/>
          <a:p>
            <a:pPr>
              <a:defRPr sz="1100" b="0">
                <a:solidFill>
                  <a:srgbClr val="1A1A1A"/>
                </a:solidFill>
                <a:latin typeface="Arial"/>
              </a:defRPr>
            </a:pPr>
            <a:r>
              <a:t>SulAmérica</a:t>
            </a:r>
          </a:p>
        </p:txBody>
      </p:sp>
      <p:sp>
        <p:nvSpPr>
          <p:cNvPr id="14" name="TextBox 13"/>
          <p:cNvSpPr txBox="1"/>
          <p:nvPr/>
        </p:nvSpPr>
        <p:spPr>
          <a:xfrm>
            <a:off x="4389120" y="3749039"/>
            <a:ext cx="914400" cy="320040"/>
          </a:xfrm>
          <a:prstGeom prst="rect">
            <a:avLst/>
          </a:prstGeom>
          <a:noFill/>
        </p:spPr>
        <p:txBody>
          <a:bodyPr wrap="square">
            <a:spAutoFit/>
          </a:bodyPr>
          <a:lstStyle/>
          <a:p>
            <a:pPr algn="r">
              <a:defRPr sz="1100" b="1">
                <a:solidFill>
                  <a:srgbClr val="1A3A6E"/>
                </a:solidFill>
                <a:latin typeface="Arial"/>
              </a:defRPr>
            </a:pPr>
            <a:r>
              <a:t>5.5%</a:t>
            </a:r>
          </a:p>
        </p:txBody>
      </p:sp>
      <p:sp>
        <p:nvSpPr>
          <p:cNvPr id="15" name="TextBox 14"/>
          <p:cNvSpPr txBox="1"/>
          <p:nvPr/>
        </p:nvSpPr>
        <p:spPr>
          <a:xfrm>
            <a:off x="594360" y="4114800"/>
            <a:ext cx="3200400" cy="320040"/>
          </a:xfrm>
          <a:prstGeom prst="rect">
            <a:avLst/>
          </a:prstGeom>
          <a:noFill/>
        </p:spPr>
        <p:txBody>
          <a:bodyPr wrap="square">
            <a:spAutoFit/>
          </a:bodyPr>
          <a:lstStyle/>
          <a:p>
            <a:pPr>
              <a:defRPr sz="1100" b="0">
                <a:solidFill>
                  <a:srgbClr val="1A1A1A"/>
                </a:solidFill>
                <a:latin typeface="Arial"/>
              </a:defRPr>
            </a:pPr>
            <a:r>
              <a:t>Outros</a:t>
            </a:r>
          </a:p>
        </p:txBody>
      </p:sp>
      <p:sp>
        <p:nvSpPr>
          <p:cNvPr id="16" name="TextBox 15"/>
          <p:cNvSpPr txBox="1"/>
          <p:nvPr/>
        </p:nvSpPr>
        <p:spPr>
          <a:xfrm>
            <a:off x="4389120" y="4114800"/>
            <a:ext cx="914400" cy="320040"/>
          </a:xfrm>
          <a:prstGeom prst="rect">
            <a:avLst/>
          </a:prstGeom>
          <a:noFill/>
        </p:spPr>
        <p:txBody>
          <a:bodyPr wrap="square">
            <a:spAutoFit/>
          </a:bodyPr>
          <a:lstStyle/>
          <a:p>
            <a:pPr algn="r">
              <a:defRPr sz="1100" b="1">
                <a:solidFill>
                  <a:srgbClr val="1A3A6E"/>
                </a:solidFill>
                <a:latin typeface="Arial"/>
              </a:defRPr>
            </a:pPr>
            <a:r>
              <a:t>64.8%</a:t>
            </a:r>
          </a:p>
        </p:txBody>
      </p:sp>
      <p:sp>
        <p:nvSpPr>
          <p:cNvPr id="17" name="TextBox 16"/>
          <p:cNvSpPr txBox="1"/>
          <p:nvPr/>
        </p:nvSpPr>
        <p:spPr>
          <a:xfrm>
            <a:off x="5943600" y="1280160"/>
            <a:ext cx="5486400" cy="365760"/>
          </a:xfrm>
          <a:prstGeom prst="rect">
            <a:avLst/>
          </a:prstGeom>
          <a:noFill/>
        </p:spPr>
        <p:txBody>
          <a:bodyPr wrap="square">
            <a:spAutoFit/>
          </a:bodyPr>
          <a:lstStyle/>
          <a:p>
            <a:pPr algn="ctr">
              <a:defRPr sz="1400" b="1">
                <a:solidFill>
                  <a:srgbClr val="1A3A6E"/>
                </a:solidFill>
                <a:latin typeface="Arial"/>
              </a:defRPr>
            </a:pPr>
            <a:r>
              <a:t>Distribuição de Market Share</a:t>
            </a:r>
          </a:p>
        </p:txBody>
      </p:sp>
      <p:sp>
        <p:nvSpPr>
          <p:cNvPr id="18" name="TextBox 17"/>
          <p:cNvSpPr txBox="1"/>
          <p:nvPr/>
        </p:nvSpPr>
        <p:spPr>
          <a:xfrm>
            <a:off x="8046720" y="3200400"/>
            <a:ext cx="1280160" cy="457200"/>
          </a:xfrm>
          <a:prstGeom prst="rect">
            <a:avLst/>
          </a:prstGeom>
          <a:noFill/>
        </p:spPr>
        <p:txBody>
          <a:bodyPr wrap="square">
            <a:spAutoFit/>
          </a:bodyPr>
          <a:lstStyle/>
          <a:p>
            <a:pPr algn="ctr">
              <a:defRPr sz="1800" b="1">
                <a:solidFill>
                  <a:srgbClr val="1A3A6E"/>
                </a:solidFill>
                <a:latin typeface="Arial"/>
              </a:defRPr>
            </a:pPr>
            <a:r>
              <a:t>16.6%</a:t>
            </a:r>
          </a:p>
        </p:txBody>
      </p:sp>
      <p:sp>
        <p:nvSpPr>
          <p:cNvPr id="19" name="TextBox 18"/>
          <p:cNvSpPr txBox="1"/>
          <p:nvPr/>
        </p:nvSpPr>
        <p:spPr>
          <a:xfrm>
            <a:off x="8046720" y="3657600"/>
            <a:ext cx="1280160" cy="274320"/>
          </a:xfrm>
          <a:prstGeom prst="rect">
            <a:avLst/>
          </a:prstGeom>
          <a:noFill/>
        </p:spPr>
        <p:txBody>
          <a:bodyPr wrap="square">
            <a:spAutoFit/>
          </a:bodyPr>
          <a:lstStyle/>
          <a:p>
            <a:pPr algn="ctr">
              <a:defRPr sz="900" b="0">
                <a:solidFill>
                  <a:srgbClr val="6B7280"/>
                </a:solidFill>
                <a:latin typeface="Arial"/>
              </a:defRPr>
            </a:pPr>
            <a:r>
              <a:t>Hapvida NDI</a:t>
            </a:r>
          </a:p>
        </p:txBody>
      </p:sp>
      <p:sp>
        <p:nvSpPr>
          <p:cNvPr id="20" name="Oval 19"/>
          <p:cNvSpPr/>
          <p:nvPr/>
        </p:nvSpPr>
        <p:spPr>
          <a:xfrm>
            <a:off x="10515600" y="2286000"/>
            <a:ext cx="137160" cy="13716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44200" y="2267712"/>
            <a:ext cx="1371600" cy="228600"/>
          </a:xfrm>
          <a:prstGeom prst="rect">
            <a:avLst/>
          </a:prstGeom>
          <a:noFill/>
        </p:spPr>
        <p:txBody>
          <a:bodyPr wrap="square">
            <a:spAutoFit/>
          </a:bodyPr>
          <a:lstStyle/>
          <a:p>
            <a:pPr>
              <a:defRPr sz="900" b="0">
                <a:solidFill>
                  <a:srgbClr val="1A1A1A"/>
                </a:solidFill>
                <a:latin typeface="Arial"/>
              </a:defRPr>
            </a:pPr>
            <a:r>
              <a:t>Hapvida NDI</a:t>
            </a:r>
          </a:p>
        </p:txBody>
      </p:sp>
      <p:sp>
        <p:nvSpPr>
          <p:cNvPr id="22" name="Oval 21"/>
          <p:cNvSpPr/>
          <p:nvPr/>
        </p:nvSpPr>
        <p:spPr>
          <a:xfrm>
            <a:off x="10515600" y="2606040"/>
            <a:ext cx="137160" cy="1371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44200" y="2587752"/>
            <a:ext cx="1371600" cy="228600"/>
          </a:xfrm>
          <a:prstGeom prst="rect">
            <a:avLst/>
          </a:prstGeom>
          <a:noFill/>
        </p:spPr>
        <p:txBody>
          <a:bodyPr wrap="square">
            <a:spAutoFit/>
          </a:bodyPr>
          <a:lstStyle/>
          <a:p>
            <a:pPr>
              <a:defRPr sz="900" b="0">
                <a:solidFill>
                  <a:srgbClr val="1A1A1A"/>
                </a:solidFill>
                <a:latin typeface="Arial"/>
              </a:defRPr>
            </a:pPr>
            <a:r>
              <a:t>Bradesco Saúde</a:t>
            </a:r>
          </a:p>
        </p:txBody>
      </p:sp>
      <p:sp>
        <p:nvSpPr>
          <p:cNvPr id="24" name="Oval 23"/>
          <p:cNvSpPr/>
          <p:nvPr/>
        </p:nvSpPr>
        <p:spPr>
          <a:xfrm>
            <a:off x="10515600" y="2926080"/>
            <a:ext cx="137160" cy="137160"/>
          </a:xfrm>
          <a:prstGeom prst="ellipse">
            <a:avLst/>
          </a:prstGeom>
          <a:solidFill>
            <a:srgbClr val="38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44200" y="2907792"/>
            <a:ext cx="1371600" cy="228600"/>
          </a:xfrm>
          <a:prstGeom prst="rect">
            <a:avLst/>
          </a:prstGeom>
          <a:noFill/>
        </p:spPr>
        <p:txBody>
          <a:bodyPr wrap="square">
            <a:spAutoFit/>
          </a:bodyPr>
          <a:lstStyle/>
          <a:p>
            <a:pPr>
              <a:defRPr sz="900" b="0">
                <a:solidFill>
                  <a:srgbClr val="1A1A1A"/>
                </a:solidFill>
                <a:latin typeface="Arial"/>
              </a:defRPr>
            </a:pPr>
            <a:r>
              <a:t>Amil</a:t>
            </a:r>
          </a:p>
        </p:txBody>
      </p:sp>
      <p:sp>
        <p:nvSpPr>
          <p:cNvPr id="26" name="Oval 25"/>
          <p:cNvSpPr/>
          <p:nvPr/>
        </p:nvSpPr>
        <p:spPr>
          <a:xfrm>
            <a:off x="10515600" y="3246120"/>
            <a:ext cx="137160" cy="13716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44200" y="3227832"/>
            <a:ext cx="1371600" cy="228600"/>
          </a:xfrm>
          <a:prstGeom prst="rect">
            <a:avLst/>
          </a:prstGeom>
          <a:noFill/>
        </p:spPr>
        <p:txBody>
          <a:bodyPr wrap="square">
            <a:spAutoFit/>
          </a:bodyPr>
          <a:lstStyle/>
          <a:p>
            <a:pPr>
              <a:defRPr sz="900" b="0">
                <a:solidFill>
                  <a:srgbClr val="1A1A1A"/>
                </a:solidFill>
                <a:latin typeface="Arial"/>
              </a:defRPr>
            </a:pPr>
            <a:r>
              <a:t>SulAmérica</a:t>
            </a:r>
          </a:p>
        </p:txBody>
      </p:sp>
      <p:sp>
        <p:nvSpPr>
          <p:cNvPr id="28" name="Oval 27"/>
          <p:cNvSpPr/>
          <p:nvPr/>
        </p:nvSpPr>
        <p:spPr>
          <a:xfrm>
            <a:off x="10515600" y="3566160"/>
            <a:ext cx="137160" cy="137160"/>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44200" y="3547872"/>
            <a:ext cx="1371600" cy="228600"/>
          </a:xfrm>
          <a:prstGeom prst="rect">
            <a:avLst/>
          </a:prstGeom>
          <a:noFill/>
        </p:spPr>
        <p:txBody>
          <a:bodyPr wrap="square">
            <a:spAutoFit/>
          </a:bodyPr>
          <a:lstStyle/>
          <a:p>
            <a:pPr>
              <a:defRPr sz="900" b="0">
                <a:solidFill>
                  <a:srgbClr val="1A1A1A"/>
                </a:solidFill>
                <a:latin typeface="Arial"/>
              </a:defRPr>
            </a:pPr>
            <a:r>
              <a:t>Outros</a:t>
            </a:r>
          </a:p>
        </p:txBody>
      </p:sp>
      <p:sp>
        <p:nvSpPr>
          <p:cNvPr id="30" name="TextBox 29"/>
          <p:cNvSpPr txBox="1"/>
          <p:nvPr/>
        </p:nvSpPr>
        <p:spPr>
          <a:xfrm>
            <a:off x="457200" y="6035040"/>
            <a:ext cx="548640" cy="228600"/>
          </a:xfrm>
          <a:prstGeom prst="rect">
            <a:avLst/>
          </a:prstGeom>
          <a:noFill/>
        </p:spPr>
        <p:txBody>
          <a:bodyPr wrap="square">
            <a:spAutoFit/>
          </a:bodyPr>
          <a:lstStyle/>
          <a:p>
            <a:pPr>
              <a:defRPr sz="800" b="1">
                <a:solidFill>
                  <a:srgbClr val="6B7280"/>
                </a:solidFill>
                <a:latin typeface="Arial"/>
              </a:defRPr>
            </a:pPr>
            <a:r>
              <a:t>Fontes:</a:t>
            </a:r>
          </a:p>
        </p:txBody>
      </p:sp>
      <p:sp>
        <p:nvSpPr>
          <p:cNvPr id="31" name="TextBox 30"/>
          <p:cNvSpPr txBox="1"/>
          <p:nvPr/>
        </p:nvSpPr>
        <p:spPr>
          <a:xfrm>
            <a:off x="1005840" y="6035040"/>
            <a:ext cx="4572000" cy="228600"/>
          </a:xfrm>
          <a:prstGeom prst="rect">
            <a:avLst/>
          </a:prstGeom>
          <a:noFill/>
        </p:spPr>
        <p:txBody>
          <a:bodyPr wrap="square">
            <a:spAutoFit/>
          </a:bodyPr>
          <a:lstStyle/>
          <a:p>
            <a:pPr>
              <a:defRPr sz="800" b="0">
                <a:solidFill>
                  <a:srgbClr val="6B7280"/>
                </a:solidFill>
                <a:latin typeface="Arial"/>
              </a:defRPr>
            </a:pPr>
            <a:r>
              <a:t>Agência Nacional de Saúde Suplementar (ANS) - Tabnet</a:t>
            </a:r>
          </a:p>
        </p:txBody>
      </p:sp>
      <p:sp>
        <p:nvSpPr>
          <p:cNvPr id="32" name="TextBox 31"/>
          <p:cNvSpPr txBox="1"/>
          <p:nvPr/>
        </p:nvSpPr>
        <p:spPr>
          <a:xfrm>
            <a:off x="9144000" y="6035040"/>
            <a:ext cx="2743200" cy="228600"/>
          </a:xfrm>
          <a:prstGeom prst="rect">
            <a:avLst/>
          </a:prstGeom>
          <a:noFill/>
        </p:spPr>
        <p:txBody>
          <a:bodyPr wrap="square">
            <a:spAutoFit/>
          </a:bodyPr>
          <a:lstStyle/>
          <a:p>
            <a:pPr algn="r">
              <a:defRPr sz="800" b="0">
                <a:solidFill>
                  <a:srgbClr val="6B7280"/>
                </a:solidFill>
                <a:latin typeface="Arial"/>
              </a:defRPr>
            </a:pPr>
            <a:r>
              <a:t>Dados referentes a: Março 2025 | Extraído em: Maio/2025</a:t>
            </a:r>
          </a:p>
        </p:txBody>
      </p:sp>
      <p:sp>
        <p:nvSpPr>
          <p:cNvPr id="33" name="TextBox 32"/>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p>
        </p:txBody>
      </p:sp>
      <p:sp>
        <p:nvSpPr>
          <p:cNvPr id="34" name="TextBox 33"/>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MATURIDADE DIGITAL</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Análise Técnica de Tags &amp; Métricas</a:t>
            </a:r>
          </a:p>
        </p:txBody>
      </p:sp>
      <p:sp>
        <p:nvSpPr>
          <p:cNvPr id="5" name="Rounded Rectangle 4"/>
          <p:cNvSpPr/>
          <p:nvPr/>
        </p:nvSpPr>
        <p:spPr>
          <a:xfrm>
            <a:off x="10332720" y="320040"/>
            <a:ext cx="13716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78440" y="347472"/>
            <a:ext cx="1280160" cy="182880"/>
          </a:xfrm>
          <a:prstGeom prst="rect">
            <a:avLst/>
          </a:prstGeom>
          <a:noFill/>
        </p:spPr>
        <p:txBody>
          <a:bodyPr wrap="square">
            <a:spAutoFit/>
          </a:bodyPr>
          <a:lstStyle/>
          <a:p>
            <a:pPr>
              <a:defRPr sz="700" b="0">
                <a:solidFill>
                  <a:srgbClr val="6B7280"/>
                </a:solidFill>
                <a:latin typeface="Arial"/>
              </a:defRPr>
            </a:pPr>
            <a:r>
              <a:t>SCORE GLOBAL</a:t>
            </a:r>
          </a:p>
        </p:txBody>
      </p:sp>
      <p:sp>
        <p:nvSpPr>
          <p:cNvPr id="7" name="TextBox 6"/>
          <p:cNvSpPr txBox="1"/>
          <p:nvPr/>
        </p:nvSpPr>
        <p:spPr>
          <a:xfrm>
            <a:off x="10378440" y="502920"/>
            <a:ext cx="731520" cy="457200"/>
          </a:xfrm>
          <a:prstGeom prst="rect">
            <a:avLst/>
          </a:prstGeom>
          <a:noFill/>
        </p:spPr>
        <p:txBody>
          <a:bodyPr wrap="square">
            <a:spAutoFit/>
          </a:bodyPr>
          <a:lstStyle/>
          <a:p>
            <a:pPr>
              <a:defRPr sz="2800" b="1">
                <a:solidFill>
                  <a:srgbClr val="1A3A6E"/>
                </a:solidFill>
                <a:latin typeface="Arial"/>
              </a:defRPr>
            </a:pPr>
            <a:r>
              <a:t>3.8</a:t>
            </a:r>
          </a:p>
        </p:txBody>
      </p:sp>
      <p:sp>
        <p:nvSpPr>
          <p:cNvPr id="8" name="TextBox 7"/>
          <p:cNvSpPr txBox="1"/>
          <p:nvPr/>
        </p:nvSpPr>
        <p:spPr>
          <a:xfrm>
            <a:off x="10972800" y="640080"/>
            <a:ext cx="548640" cy="274320"/>
          </a:xfrm>
          <a:prstGeom prst="rect">
            <a:avLst/>
          </a:prstGeom>
          <a:noFill/>
        </p:spPr>
        <p:txBody>
          <a:bodyPr wrap="square">
            <a:spAutoFit/>
          </a:bodyPr>
          <a:lstStyle/>
          <a:p>
            <a:pPr>
              <a:defRPr sz="1200" b="0">
                <a:solidFill>
                  <a:srgbClr val="6B7280"/>
                </a:solidFill>
                <a:latin typeface="Arial"/>
              </a:defRPr>
            </a:pPr>
            <a:r>
              <a:t>/5.0</a:t>
            </a:r>
          </a:p>
        </p:txBody>
      </p:sp>
      <p:sp>
        <p:nvSpPr>
          <p:cNvPr id="9" name="TextBox 8"/>
          <p:cNvSpPr txBox="1"/>
          <p:nvPr/>
        </p:nvSpPr>
        <p:spPr>
          <a:xfrm>
            <a:off x="457200" y="1280160"/>
            <a:ext cx="3657600" cy="320040"/>
          </a:xfrm>
          <a:prstGeom prst="rect">
            <a:avLst/>
          </a:prstGeom>
          <a:noFill/>
        </p:spPr>
        <p:txBody>
          <a:bodyPr wrap="square">
            <a:spAutoFit/>
          </a:bodyPr>
          <a:lstStyle/>
          <a:p>
            <a:pPr>
              <a:defRPr sz="1300" b="1">
                <a:solidFill>
                  <a:srgbClr val="1A3A6E"/>
                </a:solidFill>
                <a:latin typeface="Arial"/>
              </a:defRPr>
            </a:pPr>
            <a:r>
              <a:t>Stack Identificado</a:t>
            </a:r>
          </a:p>
        </p:txBody>
      </p:sp>
      <p:sp>
        <p:nvSpPr>
          <p:cNvPr id="10" name="Rounded Rectangle 9"/>
          <p:cNvSpPr/>
          <p:nvPr/>
        </p:nvSpPr>
        <p:spPr>
          <a:xfrm>
            <a:off x="457200" y="1691640"/>
            <a:ext cx="5029200" cy="8686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8686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1783080"/>
            <a:ext cx="10058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801368"/>
            <a:ext cx="1005840" cy="228600"/>
          </a:xfrm>
          <a:prstGeom prst="rect">
            <a:avLst/>
          </a:prstGeom>
          <a:noFill/>
        </p:spPr>
        <p:txBody>
          <a:bodyPr wrap="square">
            <a:spAutoFit/>
          </a:bodyPr>
          <a:lstStyle/>
          <a:p>
            <a:pPr algn="ctr">
              <a:defRPr sz="700" b="1">
                <a:solidFill>
                  <a:srgbClr val="FFFFFF"/>
                </a:solidFill>
                <a:latin typeface="Arial"/>
              </a:defRPr>
            </a:pPr>
            <a:r>
              <a:t>AVANÇADO</a:t>
            </a:r>
          </a:p>
        </p:txBody>
      </p:sp>
      <p:sp>
        <p:nvSpPr>
          <p:cNvPr id="14" name="TextBox 13"/>
          <p:cNvSpPr txBox="1"/>
          <p:nvPr/>
        </p:nvSpPr>
        <p:spPr>
          <a:xfrm>
            <a:off x="594360" y="1783080"/>
            <a:ext cx="3657600" cy="256032"/>
          </a:xfrm>
          <a:prstGeom prst="rect">
            <a:avLst/>
          </a:prstGeom>
          <a:noFill/>
        </p:spPr>
        <p:txBody>
          <a:bodyPr wrap="square">
            <a:spAutoFit/>
          </a:bodyPr>
          <a:lstStyle/>
          <a:p>
            <a:pPr>
              <a:defRPr sz="1100" b="1">
                <a:solidFill>
                  <a:srgbClr val="1A3A6E"/>
                </a:solidFill>
                <a:latin typeface="Arial"/>
              </a:defRPr>
            </a:pPr>
            <a:r>
              <a:t>Analytics &amp; GTM</a:t>
            </a:r>
          </a:p>
        </p:txBody>
      </p:sp>
      <p:sp>
        <p:nvSpPr>
          <p:cNvPr id="15" name="TextBox 14"/>
          <p:cNvSpPr txBox="1"/>
          <p:nvPr/>
        </p:nvSpPr>
        <p:spPr>
          <a:xfrm>
            <a:off x="594360" y="2075688"/>
            <a:ext cx="4754880" cy="457200"/>
          </a:xfrm>
          <a:prstGeom prst="rect">
            <a:avLst/>
          </a:prstGeom>
          <a:noFill/>
        </p:spPr>
        <p:txBody>
          <a:bodyPr wrap="square">
            <a:spAutoFit/>
          </a:bodyPr>
          <a:lstStyle/>
          <a:p>
            <a:pPr>
              <a:defRPr sz="800" b="0">
                <a:solidFill>
                  <a:srgbClr val="6B7280"/>
                </a:solidFill>
                <a:latin typeface="Arial"/>
              </a:defRPr>
            </a:pPr>
            <a:r>
              <a:t>Google Analytics 4 implementado via GTM. DataLayer estruturado para eventos de conversão e e-commerce.</a:t>
            </a:r>
          </a:p>
        </p:txBody>
      </p:sp>
      <p:sp>
        <p:nvSpPr>
          <p:cNvPr id="16" name="Rounded Rectangle 15"/>
          <p:cNvSpPr/>
          <p:nvPr/>
        </p:nvSpPr>
        <p:spPr>
          <a:xfrm>
            <a:off x="457200" y="2651760"/>
            <a:ext cx="5029200" cy="8686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651760"/>
            <a:ext cx="54864" cy="8686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89120" y="2743200"/>
            <a:ext cx="1005840" cy="25603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2761488"/>
            <a:ext cx="1005840" cy="228600"/>
          </a:xfrm>
          <a:prstGeom prst="rect">
            <a:avLst/>
          </a:prstGeom>
          <a:noFill/>
        </p:spPr>
        <p:txBody>
          <a:bodyPr wrap="square">
            <a:spAutoFit/>
          </a:bodyPr>
          <a:lstStyle/>
          <a:p>
            <a:pPr algn="ctr">
              <a:defRPr sz="700" b="1">
                <a:solidFill>
                  <a:srgbClr val="FFFFFF"/>
                </a:solidFill>
                <a:latin typeface="Arial"/>
              </a:defRPr>
            </a:pPr>
            <a:r>
              <a:t>AVANÇADO</a:t>
            </a:r>
          </a:p>
        </p:txBody>
      </p:sp>
      <p:sp>
        <p:nvSpPr>
          <p:cNvPr id="20" name="TextBox 19"/>
          <p:cNvSpPr txBox="1"/>
          <p:nvPr/>
        </p:nvSpPr>
        <p:spPr>
          <a:xfrm>
            <a:off x="594360" y="2743200"/>
            <a:ext cx="3657600" cy="256032"/>
          </a:xfrm>
          <a:prstGeom prst="rect">
            <a:avLst/>
          </a:prstGeom>
          <a:noFill/>
        </p:spPr>
        <p:txBody>
          <a:bodyPr wrap="square">
            <a:spAutoFit/>
          </a:bodyPr>
          <a:lstStyle/>
          <a:p>
            <a:pPr>
              <a:defRPr sz="1100" b="1">
                <a:solidFill>
                  <a:srgbClr val="1A3A6E"/>
                </a:solidFill>
                <a:latin typeface="Arial"/>
              </a:defRPr>
            </a:pPr>
            <a:r>
              <a:t>Conversion Pixels</a:t>
            </a:r>
          </a:p>
        </p:txBody>
      </p:sp>
      <p:sp>
        <p:nvSpPr>
          <p:cNvPr id="21" name="TextBox 20"/>
          <p:cNvSpPr txBox="1"/>
          <p:nvPr/>
        </p:nvSpPr>
        <p:spPr>
          <a:xfrm>
            <a:off x="594360" y="3035808"/>
            <a:ext cx="4754880" cy="457200"/>
          </a:xfrm>
          <a:prstGeom prst="rect">
            <a:avLst/>
          </a:prstGeom>
          <a:noFill/>
        </p:spPr>
        <p:txBody>
          <a:bodyPr wrap="square">
            <a:spAutoFit/>
          </a:bodyPr>
          <a:lstStyle/>
          <a:p>
            <a:pPr>
              <a:defRPr sz="800" b="0">
                <a:solidFill>
                  <a:srgbClr val="6B7280"/>
                </a:solidFill>
                <a:latin typeface="Arial"/>
              </a:defRPr>
            </a:pPr>
            <a:r>
              <a:t>Meta Pixel (Facebook) e Google Ads Remarketing ativos com disparos dinâmicos em páginas chave.</a:t>
            </a:r>
          </a:p>
        </p:txBody>
      </p:sp>
      <p:sp>
        <p:nvSpPr>
          <p:cNvPr id="22" name="Rounded Rectangle 21"/>
          <p:cNvSpPr/>
          <p:nvPr/>
        </p:nvSpPr>
        <p:spPr>
          <a:xfrm>
            <a:off x="457200" y="3611880"/>
            <a:ext cx="5029200" cy="8686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611880"/>
            <a:ext cx="54864" cy="868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89120" y="3703320"/>
            <a:ext cx="1005840" cy="25603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3721608"/>
            <a:ext cx="1005840" cy="228600"/>
          </a:xfrm>
          <a:prstGeom prst="rect">
            <a:avLst/>
          </a:prstGeom>
          <a:noFill/>
        </p:spPr>
        <p:txBody>
          <a:bodyPr wrap="square">
            <a:spAutoFit/>
          </a:bodyPr>
          <a:lstStyle/>
          <a:p>
            <a:pPr algn="ctr">
              <a:defRPr sz="700" b="1">
                <a:solidFill>
                  <a:srgbClr val="FFFFFF"/>
                </a:solidFill>
                <a:latin typeface="Arial"/>
              </a:defRPr>
            </a:pPr>
            <a:r>
              <a:t>INTERMEDIÁRIO</a:t>
            </a:r>
          </a:p>
        </p:txBody>
      </p:sp>
      <p:sp>
        <p:nvSpPr>
          <p:cNvPr id="26" name="TextBox 25"/>
          <p:cNvSpPr txBox="1"/>
          <p:nvPr/>
        </p:nvSpPr>
        <p:spPr>
          <a:xfrm>
            <a:off x="594360" y="3703320"/>
            <a:ext cx="3657600" cy="256032"/>
          </a:xfrm>
          <a:prstGeom prst="rect">
            <a:avLst/>
          </a:prstGeom>
          <a:noFill/>
        </p:spPr>
        <p:txBody>
          <a:bodyPr wrap="square">
            <a:spAutoFit/>
          </a:bodyPr>
          <a:lstStyle/>
          <a:p>
            <a:pPr>
              <a:defRPr sz="1100" b="1">
                <a:solidFill>
                  <a:srgbClr val="1A3A6E"/>
                </a:solidFill>
                <a:latin typeface="Arial"/>
              </a:defRPr>
            </a:pPr>
            <a:r>
              <a:t>Automação &amp; CRM</a:t>
            </a:r>
          </a:p>
        </p:txBody>
      </p:sp>
      <p:sp>
        <p:nvSpPr>
          <p:cNvPr id="27" name="TextBox 26"/>
          <p:cNvSpPr txBox="1"/>
          <p:nvPr/>
        </p:nvSpPr>
        <p:spPr>
          <a:xfrm>
            <a:off x="594360" y="3995928"/>
            <a:ext cx="4754880" cy="457200"/>
          </a:xfrm>
          <a:prstGeom prst="rect">
            <a:avLst/>
          </a:prstGeom>
          <a:noFill/>
        </p:spPr>
        <p:txBody>
          <a:bodyPr wrap="square">
            <a:spAutoFit/>
          </a:bodyPr>
          <a:lstStyle/>
          <a:p>
            <a:pPr>
              <a:defRPr sz="800" b="0">
                <a:solidFill>
                  <a:srgbClr val="6B7280"/>
                </a:solidFill>
                <a:latin typeface="Arial"/>
              </a:defRPr>
            </a:pPr>
            <a:r>
              <a:t>Integração Salesforce detectada, mas disparos de eventos de funil parecem limitados no front-end.</a:t>
            </a:r>
          </a:p>
        </p:txBody>
      </p:sp>
      <p:sp>
        <p:nvSpPr>
          <p:cNvPr id="28" name="Rounded Rectangle 27"/>
          <p:cNvSpPr/>
          <p:nvPr/>
        </p:nvSpPr>
        <p:spPr>
          <a:xfrm>
            <a:off x="457200" y="4572000"/>
            <a:ext cx="5029200" cy="8686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572000"/>
            <a:ext cx="54864" cy="8686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89120" y="4663440"/>
            <a:ext cx="1005840" cy="256032"/>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89120" y="4681728"/>
            <a:ext cx="1005840" cy="228600"/>
          </a:xfrm>
          <a:prstGeom prst="rect">
            <a:avLst/>
          </a:prstGeom>
          <a:noFill/>
        </p:spPr>
        <p:txBody>
          <a:bodyPr wrap="square">
            <a:spAutoFit/>
          </a:bodyPr>
          <a:lstStyle/>
          <a:p>
            <a:pPr algn="ctr">
              <a:defRPr sz="700" b="1">
                <a:solidFill>
                  <a:srgbClr val="FFFFFF"/>
                </a:solidFill>
                <a:latin typeface="Arial"/>
              </a:defRPr>
            </a:pPr>
            <a:r>
              <a:t>BÁSICO</a:t>
            </a:r>
          </a:p>
        </p:txBody>
      </p:sp>
      <p:sp>
        <p:nvSpPr>
          <p:cNvPr id="32" name="TextBox 31"/>
          <p:cNvSpPr txBox="1"/>
          <p:nvPr/>
        </p:nvSpPr>
        <p:spPr>
          <a:xfrm>
            <a:off x="594360" y="4663440"/>
            <a:ext cx="3657600" cy="256032"/>
          </a:xfrm>
          <a:prstGeom prst="rect">
            <a:avLst/>
          </a:prstGeom>
          <a:noFill/>
        </p:spPr>
        <p:txBody>
          <a:bodyPr wrap="square">
            <a:spAutoFit/>
          </a:bodyPr>
          <a:lstStyle/>
          <a:p>
            <a:pPr>
              <a:defRPr sz="1100" b="1">
                <a:solidFill>
                  <a:srgbClr val="1A3A6E"/>
                </a:solidFill>
                <a:latin typeface="Arial"/>
              </a:defRPr>
            </a:pPr>
            <a:r>
              <a:t>Personalização</a:t>
            </a:r>
          </a:p>
        </p:txBody>
      </p:sp>
      <p:sp>
        <p:nvSpPr>
          <p:cNvPr id="33" name="TextBox 32"/>
          <p:cNvSpPr txBox="1"/>
          <p:nvPr/>
        </p:nvSpPr>
        <p:spPr>
          <a:xfrm>
            <a:off x="594360" y="4956048"/>
            <a:ext cx="4754880" cy="457200"/>
          </a:xfrm>
          <a:prstGeom prst="rect">
            <a:avLst/>
          </a:prstGeom>
          <a:noFill/>
        </p:spPr>
        <p:txBody>
          <a:bodyPr wrap="square">
            <a:spAutoFit/>
          </a:bodyPr>
          <a:lstStyle/>
          <a:p>
            <a:pPr>
              <a:defRPr sz="800" b="0">
                <a:solidFill>
                  <a:srgbClr val="6B7280"/>
                </a:solidFill>
                <a:latin typeface="Arial"/>
              </a:defRPr>
            </a:pPr>
            <a:r>
              <a:t>Pouca evidência de personalização em tempo real (CRO/A/B testing) via ferramentas como Optimize ou VWO.</a:t>
            </a:r>
          </a:p>
        </p:txBody>
      </p:sp>
      <p:sp>
        <p:nvSpPr>
          <p:cNvPr id="34" name="TextBox 33"/>
          <p:cNvSpPr txBox="1"/>
          <p:nvPr/>
        </p:nvSpPr>
        <p:spPr>
          <a:xfrm>
            <a:off x="10058400" y="1371600"/>
            <a:ext cx="1371600" cy="228600"/>
          </a:xfrm>
          <a:prstGeom prst="rect">
            <a:avLst/>
          </a:prstGeom>
          <a:noFill/>
        </p:spPr>
        <p:txBody>
          <a:bodyPr wrap="square">
            <a:spAutoFit/>
          </a:bodyPr>
          <a:lstStyle/>
          <a:p>
            <a:pPr>
              <a:defRPr sz="900" b="1">
                <a:solidFill>
                  <a:srgbClr val="1A1A1A"/>
                </a:solidFill>
                <a:latin typeface="Arial"/>
              </a:defRPr>
            </a:pPr>
            <a:r>
              <a:t>Legenda:</a:t>
            </a:r>
          </a:p>
        </p:txBody>
      </p:sp>
      <p:sp>
        <p:nvSpPr>
          <p:cNvPr id="35" name="TextBox 34"/>
          <p:cNvSpPr txBox="1"/>
          <p:nvPr/>
        </p:nvSpPr>
        <p:spPr>
          <a:xfrm>
            <a:off x="10058400" y="1600200"/>
            <a:ext cx="1371600" cy="182880"/>
          </a:xfrm>
          <a:prstGeom prst="rect">
            <a:avLst/>
          </a:prstGeom>
          <a:noFill/>
        </p:spPr>
        <p:txBody>
          <a:bodyPr wrap="square">
            <a:spAutoFit/>
          </a:bodyPr>
          <a:lstStyle/>
          <a:p>
            <a:pPr>
              <a:defRPr sz="800" b="0">
                <a:solidFill>
                  <a:srgbClr val="1A3A6E"/>
                </a:solidFill>
                <a:latin typeface="Arial"/>
              </a:defRPr>
            </a:pPr>
            <a:r>
              <a:t>— Hapvida</a:t>
            </a:r>
          </a:p>
        </p:txBody>
      </p:sp>
      <p:sp>
        <p:nvSpPr>
          <p:cNvPr id="36" name="TextBox 35"/>
          <p:cNvSpPr txBox="1"/>
          <p:nvPr/>
        </p:nvSpPr>
        <p:spPr>
          <a:xfrm>
            <a:off x="10058400" y="1783080"/>
            <a:ext cx="1371600" cy="182880"/>
          </a:xfrm>
          <a:prstGeom prst="rect">
            <a:avLst/>
          </a:prstGeom>
          <a:noFill/>
        </p:spPr>
        <p:txBody>
          <a:bodyPr wrap="square">
            <a:spAutoFit/>
          </a:bodyPr>
          <a:lstStyle/>
          <a:p>
            <a:pPr>
              <a:defRPr sz="800" b="0">
                <a:solidFill>
                  <a:srgbClr val="6B7280"/>
                </a:solidFill>
                <a:latin typeface="Arial"/>
              </a:defRPr>
            </a:pPr>
            <a:r>
              <a:t>--- Média Mercado</a:t>
            </a:r>
          </a:p>
        </p:txBody>
      </p:sp>
      <p:sp>
        <p:nvSpPr>
          <p:cNvPr id="37" name="TextBox 36"/>
          <p:cNvSpPr txBox="1"/>
          <p:nvPr/>
        </p:nvSpPr>
        <p:spPr>
          <a:xfrm>
            <a:off x="7772400" y="1371600"/>
            <a:ext cx="1828800" cy="274320"/>
          </a:xfrm>
          <a:prstGeom prst="rect">
            <a:avLst/>
          </a:prstGeom>
          <a:noFill/>
        </p:spPr>
        <p:txBody>
          <a:bodyPr wrap="square">
            <a:spAutoFit/>
          </a:bodyPr>
          <a:lstStyle/>
          <a:p>
            <a:pPr algn="ctr">
              <a:defRPr sz="800" b="0">
                <a:solidFill>
                  <a:srgbClr val="6B7280"/>
                </a:solidFill>
                <a:latin typeface="Arial"/>
              </a:defRPr>
            </a:pPr>
            <a:r>
              <a:t>Analytics &amp; Tracking</a:t>
            </a:r>
          </a:p>
        </p:txBody>
      </p:sp>
      <p:sp>
        <p:nvSpPr>
          <p:cNvPr id="38" name="TextBox 37"/>
          <p:cNvSpPr txBox="1"/>
          <p:nvPr/>
        </p:nvSpPr>
        <p:spPr>
          <a:xfrm>
            <a:off x="9601200" y="2286000"/>
            <a:ext cx="1828800" cy="274320"/>
          </a:xfrm>
          <a:prstGeom prst="rect">
            <a:avLst/>
          </a:prstGeom>
          <a:noFill/>
        </p:spPr>
        <p:txBody>
          <a:bodyPr wrap="square">
            <a:spAutoFit/>
          </a:bodyPr>
          <a:lstStyle/>
          <a:p>
            <a:pPr algn="ctr">
              <a:defRPr sz="800" b="0">
                <a:solidFill>
                  <a:srgbClr val="6B7280"/>
                </a:solidFill>
                <a:latin typeface="Arial"/>
              </a:defRPr>
            </a:pPr>
            <a:r>
              <a:t>Pixels de Conversão</a:t>
            </a:r>
          </a:p>
        </p:txBody>
      </p:sp>
      <p:sp>
        <p:nvSpPr>
          <p:cNvPr id="39" name="TextBox 38"/>
          <p:cNvSpPr txBox="1"/>
          <p:nvPr/>
        </p:nvSpPr>
        <p:spPr>
          <a:xfrm>
            <a:off x="9601200" y="4114800"/>
            <a:ext cx="1828800" cy="274320"/>
          </a:xfrm>
          <a:prstGeom prst="rect">
            <a:avLst/>
          </a:prstGeom>
          <a:noFill/>
        </p:spPr>
        <p:txBody>
          <a:bodyPr wrap="square">
            <a:spAutoFit/>
          </a:bodyPr>
          <a:lstStyle/>
          <a:p>
            <a:pPr algn="ctr">
              <a:defRPr sz="800" b="0">
                <a:solidFill>
                  <a:srgbClr val="6B7280"/>
                </a:solidFill>
                <a:latin typeface="Arial"/>
              </a:defRPr>
            </a:pPr>
            <a:r>
              <a:t>Automação Marketing</a:t>
            </a:r>
          </a:p>
        </p:txBody>
      </p:sp>
      <p:sp>
        <p:nvSpPr>
          <p:cNvPr id="40" name="TextBox 39"/>
          <p:cNvSpPr txBox="1"/>
          <p:nvPr/>
        </p:nvSpPr>
        <p:spPr>
          <a:xfrm>
            <a:off x="7772400" y="4846320"/>
            <a:ext cx="1828800" cy="274320"/>
          </a:xfrm>
          <a:prstGeom prst="rect">
            <a:avLst/>
          </a:prstGeom>
          <a:noFill/>
        </p:spPr>
        <p:txBody>
          <a:bodyPr wrap="square">
            <a:spAutoFit/>
          </a:bodyPr>
          <a:lstStyle/>
          <a:p>
            <a:pPr algn="ctr">
              <a:defRPr sz="800" b="0">
                <a:solidFill>
                  <a:srgbClr val="6B7280"/>
                </a:solidFill>
                <a:latin typeface="Arial"/>
              </a:defRPr>
            </a:pPr>
            <a:r>
              <a:t>CRM Integration</a:t>
            </a:r>
          </a:p>
        </p:txBody>
      </p:sp>
      <p:sp>
        <p:nvSpPr>
          <p:cNvPr id="41" name="TextBox 40"/>
          <p:cNvSpPr txBox="1"/>
          <p:nvPr/>
        </p:nvSpPr>
        <p:spPr>
          <a:xfrm>
            <a:off x="5943600" y="4114800"/>
            <a:ext cx="1828800" cy="274320"/>
          </a:xfrm>
          <a:prstGeom prst="rect">
            <a:avLst/>
          </a:prstGeom>
          <a:noFill/>
        </p:spPr>
        <p:txBody>
          <a:bodyPr wrap="square">
            <a:spAutoFit/>
          </a:bodyPr>
          <a:lstStyle/>
          <a:p>
            <a:pPr algn="ctr">
              <a:defRPr sz="800" b="0">
                <a:solidFill>
                  <a:srgbClr val="6B7280"/>
                </a:solidFill>
                <a:latin typeface="Arial"/>
              </a:defRPr>
            </a:pPr>
            <a:r>
              <a:t>Data Layer Structure</a:t>
            </a:r>
          </a:p>
        </p:txBody>
      </p:sp>
      <p:sp>
        <p:nvSpPr>
          <p:cNvPr id="42" name="TextBox 41"/>
          <p:cNvSpPr txBox="1"/>
          <p:nvPr/>
        </p:nvSpPr>
        <p:spPr>
          <a:xfrm>
            <a:off x="5943600" y="2286000"/>
            <a:ext cx="1828800" cy="274320"/>
          </a:xfrm>
          <a:prstGeom prst="rect">
            <a:avLst/>
          </a:prstGeom>
          <a:noFill/>
        </p:spPr>
        <p:txBody>
          <a:bodyPr wrap="square">
            <a:spAutoFit/>
          </a:bodyPr>
          <a:lstStyle/>
          <a:p>
            <a:pPr algn="ctr">
              <a:defRPr sz="800" b="0">
                <a:solidFill>
                  <a:srgbClr val="6B7280"/>
                </a:solidFill>
                <a:latin typeface="Arial"/>
              </a:defRPr>
            </a:pPr>
            <a:r>
              <a:t>Personalização &amp; CRO</a:t>
            </a:r>
          </a:p>
        </p:txBody>
      </p:sp>
      <p:sp>
        <p:nvSpPr>
          <p:cNvPr id="43" name="TextBox 42"/>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Metodologia: Análise técnica via crawling (Wappalyzer/BuiltWith) e inspeção manual de código-fonte.</a:t>
            </a:r>
          </a:p>
        </p:txBody>
      </p:sp>
      <p:sp>
        <p:nvSpPr>
          <p:cNvPr id="44" name="TextBox 43"/>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BENCHMARK DE MATURIDADE DIGITAL</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Comparativo de Stack &amp; Tags (6 Eixos)</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82880"/>
          </a:xfrm>
          <a:prstGeom prst="rect">
            <a:avLst/>
          </a:prstGeom>
          <a:noFill/>
        </p:spPr>
        <p:txBody>
          <a:bodyPr wrap="square">
            <a:spAutoFit/>
          </a:bodyPr>
          <a:lstStyle/>
          <a:p>
            <a:pPr>
              <a:defRPr sz="700" b="0">
                <a:solidFill>
                  <a:srgbClr val="6B7280"/>
                </a:solidFill>
                <a:latin typeface="Arial"/>
              </a:defRPr>
            </a:pPr>
            <a:r>
              <a:t>GAP VS LÍDER</a:t>
            </a:r>
          </a:p>
        </p:txBody>
      </p:sp>
      <p:sp>
        <p:nvSpPr>
          <p:cNvPr id="7" name="TextBox 6"/>
          <p:cNvSpPr txBox="1"/>
          <p:nvPr/>
        </p:nvSpPr>
        <p:spPr>
          <a:xfrm>
            <a:off x="9921240" y="502920"/>
            <a:ext cx="1737360" cy="457200"/>
          </a:xfrm>
          <a:prstGeom prst="rect">
            <a:avLst/>
          </a:prstGeom>
          <a:noFill/>
        </p:spPr>
        <p:txBody>
          <a:bodyPr wrap="square">
            <a:spAutoFit/>
          </a:bodyPr>
          <a:lstStyle/>
          <a:p>
            <a:pPr>
              <a:defRPr sz="1800" b="1">
                <a:solidFill>
                  <a:srgbClr val="1A3A6E"/>
                </a:solidFill>
                <a:latin typeface="Arial"/>
              </a:defRPr>
            </a:pPr>
            <a:r>
              <a:t>3.8 vs 4.5</a:t>
            </a:r>
          </a:p>
        </p:txBody>
      </p:sp>
      <p:sp>
        <p:nvSpPr>
          <p:cNvPr id="8" name="Oval 7"/>
          <p:cNvSpPr/>
          <p:nvPr/>
        </p:nvSpPr>
        <p:spPr>
          <a:xfrm>
            <a:off x="2286000" y="1234440"/>
            <a:ext cx="137160" cy="13716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68880" y="1207008"/>
            <a:ext cx="2286000" cy="228600"/>
          </a:xfrm>
          <a:prstGeom prst="rect">
            <a:avLst/>
          </a:prstGeom>
          <a:noFill/>
        </p:spPr>
        <p:txBody>
          <a:bodyPr wrap="square">
            <a:spAutoFit/>
          </a:bodyPr>
          <a:lstStyle/>
          <a:p>
            <a:pPr>
              <a:defRPr sz="900" b="0">
                <a:solidFill>
                  <a:srgbClr val="1A1A1A"/>
                </a:solidFill>
                <a:latin typeface="Arial"/>
              </a:defRPr>
            </a:pPr>
            <a:r>
              <a:t>Hapvida (3.8) - Sólido</a:t>
            </a:r>
          </a:p>
        </p:txBody>
      </p:sp>
      <p:sp>
        <p:nvSpPr>
          <p:cNvPr id="10" name="Oval 9"/>
          <p:cNvSpPr/>
          <p:nvPr/>
        </p:nvSpPr>
        <p:spPr>
          <a:xfrm>
            <a:off x="4846320" y="1234440"/>
            <a:ext cx="137160" cy="13716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207008"/>
            <a:ext cx="2286000" cy="228600"/>
          </a:xfrm>
          <a:prstGeom prst="rect">
            <a:avLst/>
          </a:prstGeom>
          <a:noFill/>
        </p:spPr>
        <p:txBody>
          <a:bodyPr wrap="square">
            <a:spAutoFit/>
          </a:bodyPr>
          <a:lstStyle/>
          <a:p>
            <a:pPr>
              <a:defRPr sz="900" b="0">
                <a:solidFill>
                  <a:srgbClr val="1A1A1A"/>
                </a:solidFill>
                <a:latin typeface="Arial"/>
              </a:defRPr>
            </a:pPr>
            <a:r>
              <a:t>SulAmérica (4.5) - Líder</a:t>
            </a:r>
          </a:p>
        </p:txBody>
      </p:sp>
      <p:sp>
        <p:nvSpPr>
          <p:cNvPr id="12" name="Oval 11"/>
          <p:cNvSpPr/>
          <p:nvPr/>
        </p:nvSpPr>
        <p:spPr>
          <a:xfrm>
            <a:off x="7406640" y="1234440"/>
            <a:ext cx="137160" cy="137160"/>
          </a:xfrm>
          <a:prstGeom prst="ellipse">
            <a:avLst/>
          </a:prstGeom>
          <a:solidFill>
            <a:srgbClr val="38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19" y="1207008"/>
            <a:ext cx="2286000" cy="228600"/>
          </a:xfrm>
          <a:prstGeom prst="rect">
            <a:avLst/>
          </a:prstGeom>
          <a:noFill/>
        </p:spPr>
        <p:txBody>
          <a:bodyPr wrap="square">
            <a:spAutoFit/>
          </a:bodyPr>
          <a:lstStyle/>
          <a:p>
            <a:pPr>
              <a:defRPr sz="900" b="0">
                <a:solidFill>
                  <a:srgbClr val="1A1A1A"/>
                </a:solidFill>
                <a:latin typeface="Arial"/>
              </a:defRPr>
            </a:pPr>
            <a:r>
              <a:t>Amil (4.2)</a:t>
            </a:r>
          </a:p>
        </p:txBody>
      </p:sp>
      <p:sp>
        <p:nvSpPr>
          <p:cNvPr id="14" name="Oval 13"/>
          <p:cNvSpPr/>
          <p:nvPr/>
        </p:nvSpPr>
        <p:spPr>
          <a:xfrm>
            <a:off x="9966959" y="1234440"/>
            <a:ext cx="137160" cy="1371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39" y="1207008"/>
            <a:ext cx="2286000" cy="228600"/>
          </a:xfrm>
          <a:prstGeom prst="rect">
            <a:avLst/>
          </a:prstGeom>
          <a:noFill/>
        </p:spPr>
        <p:txBody>
          <a:bodyPr wrap="square">
            <a:spAutoFit/>
          </a:bodyPr>
          <a:lstStyle/>
          <a:p>
            <a:pPr>
              <a:defRPr sz="900" b="0">
                <a:solidFill>
                  <a:srgbClr val="1A1A1A"/>
                </a:solidFill>
                <a:latin typeface="Arial"/>
              </a:defRPr>
            </a:pPr>
            <a:r>
              <a:t>Bradesco (3.5)</a:t>
            </a:r>
          </a:p>
        </p:txBody>
      </p:sp>
      <p:sp>
        <p:nvSpPr>
          <p:cNvPr id="16" name="Rounded Rectangle 15"/>
          <p:cNvSpPr/>
          <p:nvPr/>
        </p:nvSpPr>
        <p:spPr>
          <a:xfrm>
            <a:off x="457200" y="4389120"/>
            <a:ext cx="5029200" cy="16459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480560"/>
            <a:ext cx="4754880" cy="228600"/>
          </a:xfrm>
          <a:prstGeom prst="rect">
            <a:avLst/>
          </a:prstGeom>
          <a:noFill/>
        </p:spPr>
        <p:txBody>
          <a:bodyPr wrap="square">
            <a:spAutoFit/>
          </a:bodyPr>
          <a:lstStyle/>
          <a:p>
            <a:pPr>
              <a:defRPr sz="900" b="1">
                <a:solidFill>
                  <a:srgbClr val="6B7280"/>
                </a:solidFill>
                <a:latin typeface="Arial"/>
              </a:defRPr>
            </a:pPr>
            <a:r>
              <a:t>INSIGHT METODOLÓGICO</a:t>
            </a:r>
          </a:p>
        </p:txBody>
      </p:sp>
      <p:sp>
        <p:nvSpPr>
          <p:cNvPr id="18" name="TextBox 17"/>
          <p:cNvSpPr txBox="1"/>
          <p:nvPr/>
        </p:nvSpPr>
        <p:spPr>
          <a:xfrm>
            <a:off x="594360" y="4754880"/>
            <a:ext cx="4754880" cy="1097280"/>
          </a:xfrm>
          <a:prstGeom prst="rect">
            <a:avLst/>
          </a:prstGeom>
          <a:noFill/>
        </p:spPr>
        <p:txBody>
          <a:bodyPr wrap="square">
            <a:spAutoFit/>
          </a:bodyPr>
          <a:lstStyle/>
          <a:p>
            <a:pPr>
              <a:defRPr sz="1000" b="0">
                <a:solidFill>
                  <a:srgbClr val="1A1A1A"/>
                </a:solidFill>
                <a:latin typeface="Arial"/>
              </a:defRPr>
            </a:pPr>
            <a:r>
              <a:t>O gráfico evidencia que a Hapvida (Linha Sólida) possui fundações fortes (Analytics/Pixels), mas retrai significativamente nos eixos de Personalização &amp; CRO e CRM Integration comparado aos líderes (linhas pontilhadas).</a:t>
            </a:r>
          </a:p>
        </p:txBody>
      </p:sp>
      <p:sp>
        <p:nvSpPr>
          <p:cNvPr id="19" name="TextBox 18"/>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BuiltWith, Wappalyzer, Análise Técnica de Tags (Jan/2026). Escala 0-5 baseada na densidade do stack.</a:t>
            </a:r>
          </a:p>
        </p:txBody>
      </p:sp>
      <p:sp>
        <p:nvSpPr>
          <p:cNvPr id="20" name="TextBox 19"/>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EVOLUÇÃO DE BENEFICIÁRIOS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Análise de Vidas 2025</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82880"/>
          </a:xfrm>
          <a:prstGeom prst="rect">
            <a:avLst/>
          </a:prstGeom>
          <a:noFill/>
        </p:spPr>
        <p:txBody>
          <a:bodyPr wrap="square">
            <a:spAutoFit/>
          </a:bodyPr>
          <a:lstStyle/>
          <a:p>
            <a:pPr>
              <a:defRPr sz="700" b="0">
                <a:solidFill>
                  <a:srgbClr val="6B7280"/>
                </a:solidFill>
                <a:latin typeface="Arial"/>
              </a:defRPr>
            </a:pPr>
            <a:r>
              <a:t>TOTAL (PROJEÇÃO DEZ)</a:t>
            </a:r>
          </a:p>
        </p:txBody>
      </p:sp>
      <p:sp>
        <p:nvSpPr>
          <p:cNvPr id="7" name="TextBox 6"/>
          <p:cNvSpPr txBox="1"/>
          <p:nvPr/>
        </p:nvSpPr>
        <p:spPr>
          <a:xfrm>
            <a:off x="9921240" y="502920"/>
            <a:ext cx="1737360" cy="457200"/>
          </a:xfrm>
          <a:prstGeom prst="rect">
            <a:avLst/>
          </a:prstGeom>
          <a:noFill/>
        </p:spPr>
        <p:txBody>
          <a:bodyPr wrap="square">
            <a:spAutoFit/>
          </a:bodyPr>
          <a:lstStyle/>
          <a:p>
            <a:pPr>
              <a:defRPr sz="2200" b="1">
                <a:solidFill>
                  <a:srgbClr val="1A3A6E"/>
                </a:solidFill>
                <a:latin typeface="Arial"/>
              </a:defRPr>
            </a:pPr>
            <a:r>
              <a:t>8.88M</a:t>
            </a:r>
          </a:p>
        </p:txBody>
      </p:sp>
      <p:sp>
        <p:nvSpPr>
          <p:cNvPr id="8" name="TextBox 7"/>
          <p:cNvSpPr txBox="1"/>
          <p:nvPr/>
        </p:nvSpPr>
        <p:spPr>
          <a:xfrm>
            <a:off x="457200" y="1280160"/>
            <a:ext cx="3657600" cy="320040"/>
          </a:xfrm>
          <a:prstGeom prst="rect">
            <a:avLst/>
          </a:prstGeom>
          <a:noFill/>
        </p:spPr>
        <p:txBody>
          <a:bodyPr wrap="square">
            <a:spAutoFit/>
          </a:bodyPr>
          <a:lstStyle/>
          <a:p>
            <a:pPr>
              <a:defRPr sz="1300" b="1">
                <a:solidFill>
                  <a:srgbClr val="1A3A6E"/>
                </a:solidFill>
                <a:latin typeface="Arial"/>
              </a:defRPr>
            </a:pPr>
            <a:r>
              <a:t>Eventos Chave do Ano</a:t>
            </a:r>
          </a:p>
        </p:txBody>
      </p:sp>
      <p:sp>
        <p:nvSpPr>
          <p:cNvPr id="9" name="Rounded Rectangle 8"/>
          <p:cNvSpPr/>
          <p:nvPr/>
        </p:nvSpPr>
        <p:spPr>
          <a:xfrm>
            <a:off x="457200" y="1691640"/>
            <a:ext cx="5029200" cy="91440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91640"/>
            <a:ext cx="54864"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06240" y="1783080"/>
            <a:ext cx="1188720" cy="256032"/>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01368"/>
            <a:ext cx="1188720" cy="228600"/>
          </a:xfrm>
          <a:prstGeom prst="rect">
            <a:avLst/>
          </a:prstGeom>
          <a:noFill/>
        </p:spPr>
        <p:txBody>
          <a:bodyPr wrap="square">
            <a:spAutoFit/>
          </a:bodyPr>
          <a:lstStyle/>
          <a:p>
            <a:pPr algn="ctr">
              <a:defRPr sz="900" b="1">
                <a:solidFill>
                  <a:srgbClr val="DC2626"/>
                </a:solidFill>
                <a:latin typeface="Arial"/>
              </a:defRPr>
            </a:pPr>
            <a:r>
              <a:t>↓ -41K</a:t>
            </a:r>
          </a:p>
        </p:txBody>
      </p:sp>
      <p:sp>
        <p:nvSpPr>
          <p:cNvPr id="13" name="TextBox 12"/>
          <p:cNvSpPr txBox="1"/>
          <p:nvPr/>
        </p:nvSpPr>
        <p:spPr>
          <a:xfrm>
            <a:off x="594360" y="1783080"/>
            <a:ext cx="3474720" cy="256032"/>
          </a:xfrm>
          <a:prstGeom prst="rect">
            <a:avLst/>
          </a:prstGeom>
          <a:noFill/>
        </p:spPr>
        <p:txBody>
          <a:bodyPr wrap="square">
            <a:spAutoFit/>
          </a:bodyPr>
          <a:lstStyle/>
          <a:p>
            <a:pPr>
              <a:defRPr sz="1100" b="1">
                <a:solidFill>
                  <a:srgbClr val="1A3A6E"/>
                </a:solidFill>
                <a:latin typeface="Arial"/>
              </a:defRPr>
            </a:pPr>
            <a:r>
              <a:t>Janeiro 2025</a:t>
            </a:r>
          </a:p>
        </p:txBody>
      </p:sp>
      <p:sp>
        <p:nvSpPr>
          <p:cNvPr id="14" name="TextBox 13"/>
          <p:cNvSpPr txBox="1"/>
          <p:nvPr/>
        </p:nvSpPr>
        <p:spPr>
          <a:xfrm>
            <a:off x="594360" y="2103120"/>
            <a:ext cx="4754880" cy="457200"/>
          </a:xfrm>
          <a:prstGeom prst="rect">
            <a:avLst/>
          </a:prstGeom>
          <a:noFill/>
        </p:spPr>
        <p:txBody>
          <a:bodyPr wrap="square">
            <a:spAutoFit/>
          </a:bodyPr>
          <a:lstStyle/>
          <a:p>
            <a:pPr>
              <a:defRPr sz="900" b="0">
                <a:solidFill>
                  <a:srgbClr val="6B7280"/>
                </a:solidFill>
                <a:latin typeface="Arial"/>
              </a:defRPr>
            </a:pPr>
            <a:r>
              <a:t>Início do ano marcado por ajuste na carteira e perda de 41 mil vidas, impactando a base inicial.</a:t>
            </a:r>
          </a:p>
        </p:txBody>
      </p:sp>
      <p:sp>
        <p:nvSpPr>
          <p:cNvPr id="15" name="Rounded Rectangle 14"/>
          <p:cNvSpPr/>
          <p:nvPr/>
        </p:nvSpPr>
        <p:spPr>
          <a:xfrm>
            <a:off x="457200" y="2697480"/>
            <a:ext cx="5029200" cy="91440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697480"/>
            <a:ext cx="54864" cy="9144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06240" y="2788920"/>
            <a:ext cx="1188720" cy="256032"/>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2807208"/>
            <a:ext cx="1188720" cy="228600"/>
          </a:xfrm>
          <a:prstGeom prst="rect">
            <a:avLst/>
          </a:prstGeom>
          <a:noFill/>
        </p:spPr>
        <p:txBody>
          <a:bodyPr wrap="square">
            <a:spAutoFit/>
          </a:bodyPr>
          <a:lstStyle/>
          <a:p>
            <a:pPr algn="ctr">
              <a:defRPr sz="900" b="1">
                <a:solidFill>
                  <a:srgbClr val="F59E0B"/>
                </a:solidFill>
                <a:latin typeface="Arial"/>
              </a:defRPr>
            </a:pPr>
            <a:r>
              <a:t>— +13K</a:t>
            </a:r>
          </a:p>
        </p:txBody>
      </p:sp>
      <p:sp>
        <p:nvSpPr>
          <p:cNvPr id="19" name="TextBox 18"/>
          <p:cNvSpPr txBox="1"/>
          <p:nvPr/>
        </p:nvSpPr>
        <p:spPr>
          <a:xfrm>
            <a:off x="594360" y="2788920"/>
            <a:ext cx="3474720" cy="256032"/>
          </a:xfrm>
          <a:prstGeom prst="rect">
            <a:avLst/>
          </a:prstGeom>
          <a:noFill/>
        </p:spPr>
        <p:txBody>
          <a:bodyPr wrap="square">
            <a:spAutoFit/>
          </a:bodyPr>
          <a:lstStyle/>
          <a:p>
            <a:pPr>
              <a:defRPr sz="1100" b="1">
                <a:solidFill>
                  <a:srgbClr val="1A3A6E"/>
                </a:solidFill>
                <a:latin typeface="Arial"/>
              </a:defRPr>
            </a:pPr>
            <a:r>
              <a:t>3º Trimestre</a:t>
            </a:r>
          </a:p>
        </p:txBody>
      </p:sp>
      <p:sp>
        <p:nvSpPr>
          <p:cNvPr id="20" name="TextBox 19"/>
          <p:cNvSpPr txBox="1"/>
          <p:nvPr/>
        </p:nvSpPr>
        <p:spPr>
          <a:xfrm>
            <a:off x="594360" y="3108960"/>
            <a:ext cx="4754880" cy="457200"/>
          </a:xfrm>
          <a:prstGeom prst="rect">
            <a:avLst/>
          </a:prstGeom>
          <a:noFill/>
        </p:spPr>
        <p:txBody>
          <a:bodyPr wrap="square">
            <a:spAutoFit/>
          </a:bodyPr>
          <a:lstStyle/>
          <a:p>
            <a:pPr>
              <a:defRPr sz="900" b="0">
                <a:solidFill>
                  <a:srgbClr val="6B7280"/>
                </a:solidFill>
                <a:latin typeface="Arial"/>
              </a:defRPr>
            </a:pPr>
            <a:r>
              <a:t>Crescimento abaixo do esperado (44k projetado). Desaceleração no ritmo de novas adesões líquidas.</a:t>
            </a:r>
          </a:p>
        </p:txBody>
      </p:sp>
      <p:sp>
        <p:nvSpPr>
          <p:cNvPr id="21" name="Rounded Rectangle 20"/>
          <p:cNvSpPr/>
          <p:nvPr/>
        </p:nvSpPr>
        <p:spPr>
          <a:xfrm>
            <a:off x="457200" y="3703320"/>
            <a:ext cx="5029200" cy="91440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03320"/>
            <a:ext cx="54864"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206240" y="3794760"/>
            <a:ext cx="1188720" cy="256032"/>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3813048"/>
            <a:ext cx="1188720" cy="228600"/>
          </a:xfrm>
          <a:prstGeom prst="rect">
            <a:avLst/>
          </a:prstGeom>
          <a:noFill/>
        </p:spPr>
        <p:txBody>
          <a:bodyPr wrap="square">
            <a:spAutoFit/>
          </a:bodyPr>
          <a:lstStyle/>
          <a:p>
            <a:pPr algn="ctr">
              <a:defRPr sz="900" b="1">
                <a:solidFill>
                  <a:srgbClr val="DC2626"/>
                </a:solidFill>
                <a:latin typeface="Arial"/>
              </a:defRPr>
            </a:pPr>
            <a:r>
              <a:t>↓ -18K</a:t>
            </a:r>
          </a:p>
        </p:txBody>
      </p:sp>
      <p:sp>
        <p:nvSpPr>
          <p:cNvPr id="25" name="TextBox 24"/>
          <p:cNvSpPr txBox="1"/>
          <p:nvPr/>
        </p:nvSpPr>
        <p:spPr>
          <a:xfrm>
            <a:off x="594360" y="3794760"/>
            <a:ext cx="3474720" cy="256032"/>
          </a:xfrm>
          <a:prstGeom prst="rect">
            <a:avLst/>
          </a:prstGeom>
          <a:noFill/>
        </p:spPr>
        <p:txBody>
          <a:bodyPr wrap="square">
            <a:spAutoFit/>
          </a:bodyPr>
          <a:lstStyle/>
          <a:p>
            <a:pPr>
              <a:defRPr sz="1100" b="1">
                <a:solidFill>
                  <a:srgbClr val="1A3A6E"/>
                </a:solidFill>
                <a:latin typeface="Arial"/>
              </a:defRPr>
            </a:pPr>
            <a:r>
              <a:t>Novembro 2025</a:t>
            </a:r>
          </a:p>
        </p:txBody>
      </p:sp>
      <p:sp>
        <p:nvSpPr>
          <p:cNvPr id="26" name="TextBox 25"/>
          <p:cNvSpPr txBox="1"/>
          <p:nvPr/>
        </p:nvSpPr>
        <p:spPr>
          <a:xfrm>
            <a:off x="594360" y="4114800"/>
            <a:ext cx="4754880" cy="457200"/>
          </a:xfrm>
          <a:prstGeom prst="rect">
            <a:avLst/>
          </a:prstGeom>
          <a:noFill/>
        </p:spPr>
        <p:txBody>
          <a:bodyPr wrap="square">
            <a:spAutoFit/>
          </a:bodyPr>
          <a:lstStyle/>
          <a:p>
            <a:pPr>
              <a:defRPr sz="900" b="0">
                <a:solidFill>
                  <a:srgbClr val="6B7280"/>
                </a:solidFill>
                <a:latin typeface="Arial"/>
              </a:defRPr>
            </a:pPr>
            <a:r>
              <a:t>Volatilidade no final do ano com nova retração pontual, recuperada na projeção de dezembro.</a:t>
            </a:r>
          </a:p>
        </p:txBody>
      </p:sp>
      <p:sp>
        <p:nvSpPr>
          <p:cNvPr id="27" name="TextBox 26"/>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Nota Metodológica: Dados mensais estimados por interpolação linear e ajustes pontuais. Base: Relatórios Trimestrais ANS 2025.</a:t>
            </a:r>
          </a:p>
        </p:txBody>
      </p:sp>
      <p:sp>
        <p:nvSpPr>
          <p:cNvPr id="28" name="TextBox 27"/>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BENCHMARK COMPETITIVO</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Comparativo de Crescimento 2025</a:t>
            </a:r>
          </a:p>
        </p:txBody>
      </p:sp>
      <p:sp>
        <p:nvSpPr>
          <p:cNvPr id="5" name="Rounded Rectangle 4"/>
          <p:cNvSpPr/>
          <p:nvPr/>
        </p:nvSpPr>
        <p:spPr>
          <a:xfrm>
            <a:off x="9144000" y="320040"/>
            <a:ext cx="256032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89720" y="347472"/>
            <a:ext cx="2468880" cy="182880"/>
          </a:xfrm>
          <a:prstGeom prst="rect">
            <a:avLst/>
          </a:prstGeom>
          <a:noFill/>
        </p:spPr>
        <p:txBody>
          <a:bodyPr wrap="square">
            <a:spAutoFit/>
          </a:bodyPr>
          <a:lstStyle/>
          <a:p>
            <a:pPr>
              <a:defRPr sz="600" b="0">
                <a:solidFill>
                  <a:srgbClr val="6B7280"/>
                </a:solidFill>
                <a:latin typeface="Arial"/>
              </a:defRPr>
            </a:pPr>
            <a:r>
              <a:t>GAP DE CRESCIMENTO (HAPVIDA VS AMIL)</a:t>
            </a:r>
          </a:p>
        </p:txBody>
      </p:sp>
      <p:sp>
        <p:nvSpPr>
          <p:cNvPr id="7" name="TextBox 6"/>
          <p:cNvSpPr txBox="1"/>
          <p:nvPr/>
        </p:nvSpPr>
        <p:spPr>
          <a:xfrm>
            <a:off x="9189720" y="502920"/>
            <a:ext cx="2468880" cy="457200"/>
          </a:xfrm>
          <a:prstGeom prst="rect">
            <a:avLst/>
          </a:prstGeom>
          <a:noFill/>
        </p:spPr>
        <p:txBody>
          <a:bodyPr wrap="square">
            <a:spAutoFit/>
          </a:bodyPr>
          <a:lstStyle/>
          <a:p>
            <a:pPr>
              <a:defRPr sz="1600" b="1">
                <a:solidFill>
                  <a:srgbClr val="DC2626"/>
                </a:solidFill>
                <a:latin typeface="Arial"/>
              </a:defRPr>
            </a:pPr>
            <a:r>
              <a:t>+30k vs +874k</a:t>
            </a:r>
          </a:p>
        </p:txBody>
      </p:sp>
      <p:sp>
        <p:nvSpPr>
          <p:cNvPr id="8" name="TextBox 7"/>
          <p:cNvSpPr txBox="1"/>
          <p:nvPr/>
        </p:nvSpPr>
        <p:spPr>
          <a:xfrm>
            <a:off x="457200" y="1280160"/>
            <a:ext cx="3657600" cy="320040"/>
          </a:xfrm>
          <a:prstGeom prst="rect">
            <a:avLst/>
          </a:prstGeom>
          <a:noFill/>
        </p:spPr>
        <p:txBody>
          <a:bodyPr wrap="square">
            <a:spAutoFit/>
          </a:bodyPr>
          <a:lstStyle/>
          <a:p>
            <a:pPr>
              <a:defRPr sz="1300" b="1">
                <a:solidFill>
                  <a:srgbClr val="1A3A6E"/>
                </a:solidFill>
                <a:latin typeface="Arial"/>
              </a:defRPr>
            </a:pPr>
            <a:r>
              <a:t>Análise de Performance</a:t>
            </a:r>
          </a:p>
        </p:txBody>
      </p:sp>
      <p:sp>
        <p:nvSpPr>
          <p:cNvPr id="9" name="Rounded Rectangle 8"/>
          <p:cNvSpPr/>
          <p:nvPr/>
        </p:nvSpPr>
        <p:spPr>
          <a:xfrm>
            <a:off x="457200" y="1691640"/>
            <a:ext cx="5303520" cy="100584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91640"/>
            <a:ext cx="54864" cy="100584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783080"/>
            <a:ext cx="1554480" cy="228600"/>
          </a:xfrm>
          <a:prstGeom prst="rect">
            <a:avLst/>
          </a:prstGeom>
          <a:noFill/>
        </p:spPr>
        <p:txBody>
          <a:bodyPr wrap="square">
            <a:spAutoFit/>
          </a:bodyPr>
          <a:lstStyle/>
          <a:p>
            <a:pPr algn="r">
              <a:defRPr sz="800" b="1">
                <a:solidFill>
                  <a:srgbClr val="1A3A6E"/>
                </a:solidFill>
                <a:latin typeface="Arial"/>
              </a:defRPr>
            </a:pPr>
            <a:r>
              <a:t>— +30K (ESTAGNADO)</a:t>
            </a:r>
          </a:p>
        </p:txBody>
      </p:sp>
      <p:sp>
        <p:nvSpPr>
          <p:cNvPr id="12" name="TextBox 11"/>
          <p:cNvSpPr txBox="1"/>
          <p:nvPr/>
        </p:nvSpPr>
        <p:spPr>
          <a:xfrm>
            <a:off x="594360" y="1783080"/>
            <a:ext cx="3200400" cy="228600"/>
          </a:xfrm>
          <a:prstGeom prst="rect">
            <a:avLst/>
          </a:prstGeom>
          <a:noFill/>
        </p:spPr>
        <p:txBody>
          <a:bodyPr wrap="square">
            <a:spAutoFit/>
          </a:bodyPr>
          <a:lstStyle/>
          <a:p>
            <a:pPr>
              <a:defRPr sz="1100" b="1">
                <a:solidFill>
                  <a:srgbClr val="1A3A6E"/>
                </a:solidFill>
                <a:latin typeface="Arial"/>
              </a:defRPr>
            </a:pPr>
            <a:r>
              <a:t>Hapvida NDI</a:t>
            </a:r>
          </a:p>
        </p:txBody>
      </p:sp>
      <p:sp>
        <p:nvSpPr>
          <p:cNvPr id="13" name="TextBox 12"/>
          <p:cNvSpPr txBox="1"/>
          <p:nvPr/>
        </p:nvSpPr>
        <p:spPr>
          <a:xfrm>
            <a:off x="594360" y="2011680"/>
            <a:ext cx="4937760" cy="228600"/>
          </a:xfrm>
          <a:prstGeom prst="rect">
            <a:avLst/>
          </a:prstGeom>
          <a:noFill/>
        </p:spPr>
        <p:txBody>
          <a:bodyPr wrap="square">
            <a:spAutoFit/>
          </a:bodyPr>
          <a:lstStyle/>
          <a:p>
            <a:pPr>
              <a:defRPr sz="900" b="1">
                <a:solidFill>
                  <a:srgbClr val="1A3A6E"/>
                </a:solidFill>
                <a:latin typeface="Arial"/>
              </a:defRPr>
            </a:pPr>
            <a:r>
              <a:t>Volatilidade e Crescimento Anêmico</a:t>
            </a:r>
          </a:p>
        </p:txBody>
      </p:sp>
      <p:sp>
        <p:nvSpPr>
          <p:cNvPr id="14" name="TextBox 13"/>
          <p:cNvSpPr txBox="1"/>
          <p:nvPr/>
        </p:nvSpPr>
        <p:spPr>
          <a:xfrm>
            <a:off x="594360" y="2240280"/>
            <a:ext cx="4937760" cy="411480"/>
          </a:xfrm>
          <a:prstGeom prst="rect">
            <a:avLst/>
          </a:prstGeom>
          <a:noFill/>
        </p:spPr>
        <p:txBody>
          <a:bodyPr wrap="square">
            <a:spAutoFit/>
          </a:bodyPr>
          <a:lstStyle/>
          <a:p>
            <a:pPr>
              <a:defRPr sz="800" b="0">
                <a:solidFill>
                  <a:srgbClr val="6B7280"/>
                </a:solidFill>
                <a:latin typeface="Arial"/>
              </a:defRPr>
            </a:pPr>
            <a:r>
              <a:t>Líder de mercado com crescimento travado. Altas oscilações mensais (Jan -41k) vs. explosão da concorrência.</a:t>
            </a:r>
          </a:p>
        </p:txBody>
      </p:sp>
      <p:sp>
        <p:nvSpPr>
          <p:cNvPr id="15" name="Rounded Rectangle 14"/>
          <p:cNvSpPr/>
          <p:nvPr/>
        </p:nvSpPr>
        <p:spPr>
          <a:xfrm>
            <a:off x="457200" y="2788920"/>
            <a:ext cx="5303520" cy="100584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788920"/>
            <a:ext cx="54864" cy="1005840"/>
          </a:xfrm>
          <a:prstGeom prst="rect">
            <a:avLst/>
          </a:prstGeom>
          <a:solidFill>
            <a:srgbClr val="38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2880360"/>
            <a:ext cx="1554480" cy="228600"/>
          </a:xfrm>
          <a:prstGeom prst="rect">
            <a:avLst/>
          </a:prstGeom>
          <a:noFill/>
        </p:spPr>
        <p:txBody>
          <a:bodyPr wrap="square">
            <a:spAutoFit/>
          </a:bodyPr>
          <a:lstStyle/>
          <a:p>
            <a:pPr algn="r">
              <a:defRPr sz="800" b="1">
                <a:solidFill>
                  <a:srgbClr val="3882F6"/>
                </a:solidFill>
                <a:latin typeface="Arial"/>
              </a:defRPr>
            </a:pPr>
            <a:r>
              <a:t>🚀 +13%</a:t>
            </a:r>
          </a:p>
        </p:txBody>
      </p:sp>
      <p:sp>
        <p:nvSpPr>
          <p:cNvPr id="18" name="TextBox 17"/>
          <p:cNvSpPr txBox="1"/>
          <p:nvPr/>
        </p:nvSpPr>
        <p:spPr>
          <a:xfrm>
            <a:off x="594360" y="2880360"/>
            <a:ext cx="3200400" cy="228600"/>
          </a:xfrm>
          <a:prstGeom prst="rect">
            <a:avLst/>
          </a:prstGeom>
          <a:noFill/>
        </p:spPr>
        <p:txBody>
          <a:bodyPr wrap="square">
            <a:spAutoFit/>
          </a:bodyPr>
          <a:lstStyle/>
          <a:p>
            <a:pPr>
              <a:defRPr sz="1100" b="1">
                <a:solidFill>
                  <a:srgbClr val="1A3A6E"/>
                </a:solidFill>
                <a:latin typeface="Arial"/>
              </a:defRPr>
            </a:pPr>
            <a:r>
              <a:t>Amil Assistência</a:t>
            </a:r>
          </a:p>
        </p:txBody>
      </p:sp>
      <p:sp>
        <p:nvSpPr>
          <p:cNvPr id="19" name="TextBox 18"/>
          <p:cNvSpPr txBox="1"/>
          <p:nvPr/>
        </p:nvSpPr>
        <p:spPr>
          <a:xfrm>
            <a:off x="594360" y="3108960"/>
            <a:ext cx="4937760" cy="228600"/>
          </a:xfrm>
          <a:prstGeom prst="rect">
            <a:avLst/>
          </a:prstGeom>
          <a:noFill/>
        </p:spPr>
        <p:txBody>
          <a:bodyPr wrap="square">
            <a:spAutoFit/>
          </a:bodyPr>
          <a:lstStyle/>
          <a:p>
            <a:pPr>
              <a:defRPr sz="900" b="1">
                <a:solidFill>
                  <a:srgbClr val="3882F6"/>
                </a:solidFill>
                <a:latin typeface="Arial"/>
              </a:defRPr>
            </a:pPr>
            <a:r>
              <a:t>Líder Absoluto de Crescimento</a:t>
            </a:r>
          </a:p>
        </p:txBody>
      </p:sp>
      <p:sp>
        <p:nvSpPr>
          <p:cNvPr id="20" name="TextBox 19"/>
          <p:cNvSpPr txBox="1"/>
          <p:nvPr/>
        </p:nvSpPr>
        <p:spPr>
          <a:xfrm>
            <a:off x="594360" y="3337560"/>
            <a:ext cx="4937760" cy="411480"/>
          </a:xfrm>
          <a:prstGeom prst="rect">
            <a:avLst/>
          </a:prstGeom>
          <a:noFill/>
        </p:spPr>
        <p:txBody>
          <a:bodyPr wrap="square">
            <a:spAutoFit/>
          </a:bodyPr>
          <a:lstStyle/>
          <a:p>
            <a:pPr>
              <a:defRPr sz="800" b="0">
                <a:solidFill>
                  <a:srgbClr val="6B7280"/>
                </a:solidFill>
                <a:latin typeface="Arial"/>
              </a:defRPr>
            </a:pPr>
            <a:r>
              <a:t>Adição recorde de 874 mil vidas. Momentum agressivo com captação corporativa massiva.</a:t>
            </a:r>
          </a:p>
        </p:txBody>
      </p:sp>
      <p:sp>
        <p:nvSpPr>
          <p:cNvPr id="21" name="Rounded Rectangle 20"/>
          <p:cNvSpPr/>
          <p:nvPr/>
        </p:nvSpPr>
        <p:spPr>
          <a:xfrm>
            <a:off x="457200" y="3886200"/>
            <a:ext cx="5303520" cy="100584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886200"/>
            <a:ext cx="54864"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0" y="3977639"/>
            <a:ext cx="1554480" cy="228600"/>
          </a:xfrm>
          <a:prstGeom prst="rect">
            <a:avLst/>
          </a:prstGeom>
          <a:noFill/>
        </p:spPr>
        <p:txBody>
          <a:bodyPr wrap="square">
            <a:spAutoFit/>
          </a:bodyPr>
          <a:lstStyle/>
          <a:p>
            <a:pPr algn="r">
              <a:defRPr sz="800" b="1">
                <a:solidFill>
                  <a:srgbClr val="DC2626"/>
                </a:solidFill>
                <a:latin typeface="Arial"/>
              </a:defRPr>
            </a:pPr>
            <a:r>
              <a:t>📈 +216K</a:t>
            </a:r>
          </a:p>
        </p:txBody>
      </p:sp>
      <p:sp>
        <p:nvSpPr>
          <p:cNvPr id="24" name="TextBox 23"/>
          <p:cNvSpPr txBox="1"/>
          <p:nvPr/>
        </p:nvSpPr>
        <p:spPr>
          <a:xfrm>
            <a:off x="594360" y="3977639"/>
            <a:ext cx="3200400" cy="228600"/>
          </a:xfrm>
          <a:prstGeom prst="rect">
            <a:avLst/>
          </a:prstGeom>
          <a:noFill/>
        </p:spPr>
        <p:txBody>
          <a:bodyPr wrap="square">
            <a:spAutoFit/>
          </a:bodyPr>
          <a:lstStyle/>
          <a:p>
            <a:pPr>
              <a:defRPr sz="1100" b="1">
                <a:solidFill>
                  <a:srgbClr val="1A3A6E"/>
                </a:solidFill>
                <a:latin typeface="Arial"/>
              </a:defRPr>
            </a:pPr>
            <a:r>
              <a:t>Bradesco Saúde</a:t>
            </a:r>
          </a:p>
        </p:txBody>
      </p:sp>
      <p:sp>
        <p:nvSpPr>
          <p:cNvPr id="25" name="TextBox 24"/>
          <p:cNvSpPr txBox="1"/>
          <p:nvPr/>
        </p:nvSpPr>
        <p:spPr>
          <a:xfrm>
            <a:off x="594360" y="4206240"/>
            <a:ext cx="4937760" cy="228600"/>
          </a:xfrm>
          <a:prstGeom prst="rect">
            <a:avLst/>
          </a:prstGeom>
          <a:noFill/>
        </p:spPr>
        <p:txBody>
          <a:bodyPr wrap="square">
            <a:spAutoFit/>
          </a:bodyPr>
          <a:lstStyle/>
          <a:p>
            <a:pPr>
              <a:defRPr sz="900" b="1">
                <a:solidFill>
                  <a:srgbClr val="DC2626"/>
                </a:solidFill>
                <a:latin typeface="Arial"/>
              </a:defRPr>
            </a:pPr>
            <a:r>
              <a:t>Consistência e Pico em Agosto</a:t>
            </a:r>
          </a:p>
        </p:txBody>
      </p:sp>
      <p:sp>
        <p:nvSpPr>
          <p:cNvPr id="26" name="TextBox 25"/>
          <p:cNvSpPr txBox="1"/>
          <p:nvPr/>
        </p:nvSpPr>
        <p:spPr>
          <a:xfrm>
            <a:off x="594360" y="4434840"/>
            <a:ext cx="4937760" cy="411480"/>
          </a:xfrm>
          <a:prstGeom prst="rect">
            <a:avLst/>
          </a:prstGeom>
          <a:noFill/>
        </p:spPr>
        <p:txBody>
          <a:bodyPr wrap="square">
            <a:spAutoFit/>
          </a:bodyPr>
          <a:lstStyle/>
          <a:p>
            <a:pPr>
              <a:defRPr sz="800" b="0">
                <a:solidFill>
                  <a:srgbClr val="6B7280"/>
                </a:solidFill>
                <a:latin typeface="Arial"/>
              </a:defRPr>
            </a:pPr>
            <a:r>
              <a:t>Crescimento sólido de +216k no acumulado. Recuperou fôlego forte no 2º semestre.</a:t>
            </a:r>
          </a:p>
        </p:txBody>
      </p:sp>
      <p:sp>
        <p:nvSpPr>
          <p:cNvPr id="27" name="Rounded Rectangle 26"/>
          <p:cNvSpPr/>
          <p:nvPr/>
        </p:nvSpPr>
        <p:spPr>
          <a:xfrm>
            <a:off x="457200" y="4983480"/>
            <a:ext cx="5303520" cy="100584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983480"/>
            <a:ext cx="54864" cy="100584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0" y="5074920"/>
            <a:ext cx="1554480" cy="228600"/>
          </a:xfrm>
          <a:prstGeom prst="rect">
            <a:avLst/>
          </a:prstGeom>
          <a:noFill/>
        </p:spPr>
        <p:txBody>
          <a:bodyPr wrap="square">
            <a:spAutoFit/>
          </a:bodyPr>
          <a:lstStyle/>
          <a:p>
            <a:pPr algn="r">
              <a:defRPr sz="800" b="1">
                <a:solidFill>
                  <a:srgbClr val="E87722"/>
                </a:solidFill>
                <a:latin typeface="Arial"/>
              </a:defRPr>
            </a:pPr>
            <a:r>
              <a:t>⚡ OUT +84.5K</a:t>
            </a:r>
          </a:p>
        </p:txBody>
      </p:sp>
      <p:sp>
        <p:nvSpPr>
          <p:cNvPr id="30" name="TextBox 29"/>
          <p:cNvSpPr txBox="1"/>
          <p:nvPr/>
        </p:nvSpPr>
        <p:spPr>
          <a:xfrm>
            <a:off x="594360" y="5074920"/>
            <a:ext cx="3200400" cy="228600"/>
          </a:xfrm>
          <a:prstGeom prst="rect">
            <a:avLst/>
          </a:prstGeom>
          <a:noFill/>
        </p:spPr>
        <p:txBody>
          <a:bodyPr wrap="square">
            <a:spAutoFit/>
          </a:bodyPr>
          <a:lstStyle/>
          <a:p>
            <a:pPr>
              <a:defRPr sz="1100" b="1">
                <a:solidFill>
                  <a:srgbClr val="1A3A6E"/>
                </a:solidFill>
                <a:latin typeface="Arial"/>
              </a:defRPr>
            </a:pPr>
            <a:r>
              <a:t>SulAmérica</a:t>
            </a:r>
          </a:p>
        </p:txBody>
      </p:sp>
      <p:sp>
        <p:nvSpPr>
          <p:cNvPr id="31" name="TextBox 30"/>
          <p:cNvSpPr txBox="1"/>
          <p:nvPr/>
        </p:nvSpPr>
        <p:spPr>
          <a:xfrm>
            <a:off x="594360" y="5303520"/>
            <a:ext cx="4937760" cy="228600"/>
          </a:xfrm>
          <a:prstGeom prst="rect">
            <a:avLst/>
          </a:prstGeom>
          <a:noFill/>
        </p:spPr>
        <p:txBody>
          <a:bodyPr wrap="square">
            <a:spAutoFit/>
          </a:bodyPr>
          <a:lstStyle/>
          <a:p>
            <a:pPr>
              <a:defRPr sz="900" b="1">
                <a:solidFill>
                  <a:srgbClr val="E87722"/>
                </a:solidFill>
                <a:latin typeface="Arial"/>
              </a:defRPr>
            </a:pPr>
            <a:r>
              <a:t>Crescimento Pontual</a:t>
            </a:r>
          </a:p>
        </p:txBody>
      </p:sp>
      <p:sp>
        <p:nvSpPr>
          <p:cNvPr id="32" name="TextBox 31"/>
          <p:cNvSpPr txBox="1"/>
          <p:nvPr/>
        </p:nvSpPr>
        <p:spPr>
          <a:xfrm>
            <a:off x="594360" y="5532120"/>
            <a:ext cx="4937760" cy="411480"/>
          </a:xfrm>
          <a:prstGeom prst="rect">
            <a:avLst/>
          </a:prstGeom>
          <a:noFill/>
        </p:spPr>
        <p:txBody>
          <a:bodyPr wrap="square">
            <a:spAutoFit/>
          </a:bodyPr>
          <a:lstStyle/>
          <a:p>
            <a:pPr>
              <a:defRPr sz="800" b="0">
                <a:solidFill>
                  <a:srgbClr val="6B7280"/>
                </a:solidFill>
                <a:latin typeface="Arial"/>
              </a:defRPr>
            </a:pPr>
            <a:r>
              <a:t>Performance irregular (+70k total), mas com spike relevante em Outubro.</a:t>
            </a:r>
          </a:p>
        </p:txBody>
      </p:sp>
      <p:sp>
        <p:nvSpPr>
          <p:cNvPr id="33" name="TextBox 32"/>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Nota Metodológica: Dados mensais interpolados linearmente a partir de marcos trimestrais oficiais da ANS 2025.</a:t>
            </a:r>
          </a:p>
        </p:txBody>
      </p:sp>
      <p:sp>
        <p:nvSpPr>
          <p:cNvPr id="34" name="TextBox 33"/>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CANAIS DE TRÁFEGO</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Consolidação multi-fonte • Dez/2025</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82880"/>
          </a:xfrm>
          <a:prstGeom prst="rect">
            <a:avLst/>
          </a:prstGeom>
          <a:noFill/>
        </p:spPr>
        <p:txBody>
          <a:bodyPr wrap="square">
            <a:spAutoFit/>
          </a:bodyPr>
          <a:lstStyle/>
          <a:p>
            <a:pPr>
              <a:defRPr sz="600" b="0">
                <a:solidFill>
                  <a:srgbClr val="6B7280"/>
                </a:solidFill>
                <a:latin typeface="Arial"/>
              </a:defRPr>
            </a:pPr>
            <a:r>
              <a:t>TOTAL DE VISITAS (DEZ/2025)</a:t>
            </a:r>
          </a:p>
        </p:txBody>
      </p:sp>
      <p:sp>
        <p:nvSpPr>
          <p:cNvPr id="7" name="TextBox 6"/>
          <p:cNvSpPr txBox="1"/>
          <p:nvPr/>
        </p:nvSpPr>
        <p:spPr>
          <a:xfrm>
            <a:off x="9921240" y="502920"/>
            <a:ext cx="1737360" cy="457200"/>
          </a:xfrm>
          <a:prstGeom prst="rect">
            <a:avLst/>
          </a:prstGeom>
          <a:noFill/>
        </p:spPr>
        <p:txBody>
          <a:bodyPr wrap="square">
            <a:spAutoFit/>
          </a:bodyPr>
          <a:lstStyle/>
          <a:p>
            <a:pPr>
              <a:defRPr sz="2200" b="1">
                <a:solidFill>
                  <a:srgbClr val="1A3A6E"/>
                </a:solidFill>
                <a:latin typeface="Arial"/>
              </a:defRPr>
            </a:pPr>
            <a:r>
              <a:t>2,26M</a:t>
            </a:r>
          </a:p>
        </p:txBody>
      </p:sp>
      <p:sp>
        <p:nvSpPr>
          <p:cNvPr id="8" name="TextBox 7"/>
          <p:cNvSpPr txBox="1"/>
          <p:nvPr/>
        </p:nvSpPr>
        <p:spPr>
          <a:xfrm>
            <a:off x="6400800" y="1280160"/>
            <a:ext cx="4572000" cy="320040"/>
          </a:xfrm>
          <a:prstGeom prst="rect">
            <a:avLst/>
          </a:prstGeom>
          <a:noFill/>
        </p:spPr>
        <p:txBody>
          <a:bodyPr wrap="square">
            <a:spAutoFit/>
          </a:bodyPr>
          <a:lstStyle/>
          <a:p>
            <a:pPr>
              <a:defRPr sz="1200" b="1">
                <a:solidFill>
                  <a:srgbClr val="1A3A6E"/>
                </a:solidFill>
                <a:latin typeface="Arial"/>
              </a:defRPr>
            </a:pPr>
            <a:r>
              <a:t>Tabelas de Volumes (Dez/2025)</a:t>
            </a:r>
          </a:p>
        </p:txBody>
      </p:sp>
      <p:sp>
        <p:nvSpPr>
          <p:cNvPr id="9" name="TextBox 8"/>
          <p:cNvSpPr txBox="1"/>
          <p:nvPr/>
        </p:nvSpPr>
        <p:spPr>
          <a:xfrm>
            <a:off x="6400800" y="1645920"/>
            <a:ext cx="2286000" cy="274320"/>
          </a:xfrm>
          <a:prstGeom prst="rect">
            <a:avLst/>
          </a:prstGeom>
          <a:noFill/>
        </p:spPr>
        <p:txBody>
          <a:bodyPr wrap="square">
            <a:spAutoFit/>
          </a:bodyPr>
          <a:lstStyle/>
          <a:p>
            <a:pPr>
              <a:defRPr sz="900" b="1">
                <a:solidFill>
                  <a:srgbClr val="6B7280"/>
                </a:solidFill>
                <a:latin typeface="Arial"/>
              </a:defRPr>
            </a:pPr>
            <a:r>
              <a:t>Canal</a:t>
            </a:r>
          </a:p>
        </p:txBody>
      </p:sp>
      <p:sp>
        <p:nvSpPr>
          <p:cNvPr id="10" name="TextBox 9"/>
          <p:cNvSpPr txBox="1"/>
          <p:nvPr/>
        </p:nvSpPr>
        <p:spPr>
          <a:xfrm>
            <a:off x="8686800" y="1645920"/>
            <a:ext cx="731520" cy="274320"/>
          </a:xfrm>
          <a:prstGeom prst="rect">
            <a:avLst/>
          </a:prstGeom>
          <a:noFill/>
        </p:spPr>
        <p:txBody>
          <a:bodyPr wrap="square">
            <a:spAutoFit/>
          </a:bodyPr>
          <a:lstStyle/>
          <a:p>
            <a:pPr>
              <a:defRPr sz="900" b="1">
                <a:solidFill>
                  <a:srgbClr val="6B7280"/>
                </a:solidFill>
                <a:latin typeface="Arial"/>
              </a:defRPr>
            </a:pPr>
            <a:r>
              <a:t>% Traf.</a:t>
            </a:r>
          </a:p>
        </p:txBody>
      </p:sp>
      <p:sp>
        <p:nvSpPr>
          <p:cNvPr id="11" name="TextBox 10"/>
          <p:cNvSpPr txBox="1"/>
          <p:nvPr/>
        </p:nvSpPr>
        <p:spPr>
          <a:xfrm>
            <a:off x="9601200" y="1645920"/>
            <a:ext cx="1371600" cy="274320"/>
          </a:xfrm>
          <a:prstGeom prst="rect">
            <a:avLst/>
          </a:prstGeom>
          <a:noFill/>
        </p:spPr>
        <p:txBody>
          <a:bodyPr wrap="square">
            <a:spAutoFit/>
          </a:bodyPr>
          <a:lstStyle/>
          <a:p>
            <a:pPr>
              <a:defRPr sz="900" b="1">
                <a:solidFill>
                  <a:srgbClr val="6B7280"/>
                </a:solidFill>
                <a:latin typeface="Arial"/>
              </a:defRPr>
            </a:pPr>
            <a:r>
              <a:t>Visitas</a:t>
            </a:r>
          </a:p>
        </p:txBody>
      </p:sp>
      <p:sp>
        <p:nvSpPr>
          <p:cNvPr id="12" name="Oval 11"/>
          <p:cNvSpPr/>
          <p:nvPr/>
        </p:nvSpPr>
        <p:spPr>
          <a:xfrm>
            <a:off x="6400800" y="1965960"/>
            <a:ext cx="109728" cy="109728"/>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920240"/>
            <a:ext cx="2011680" cy="274320"/>
          </a:xfrm>
          <a:prstGeom prst="rect">
            <a:avLst/>
          </a:prstGeom>
          <a:noFill/>
        </p:spPr>
        <p:txBody>
          <a:bodyPr wrap="square">
            <a:spAutoFit/>
          </a:bodyPr>
          <a:lstStyle/>
          <a:p>
            <a:pPr>
              <a:defRPr sz="900" b="0">
                <a:solidFill>
                  <a:srgbClr val="1A1A1A"/>
                </a:solidFill>
                <a:latin typeface="Arial"/>
              </a:defRPr>
            </a:pPr>
            <a:r>
              <a:t>Direto</a:t>
            </a:r>
          </a:p>
        </p:txBody>
      </p:sp>
      <p:sp>
        <p:nvSpPr>
          <p:cNvPr id="14" name="TextBox 13"/>
          <p:cNvSpPr txBox="1"/>
          <p:nvPr/>
        </p:nvSpPr>
        <p:spPr>
          <a:xfrm>
            <a:off x="8686800" y="1920240"/>
            <a:ext cx="731520" cy="274320"/>
          </a:xfrm>
          <a:prstGeom prst="rect">
            <a:avLst/>
          </a:prstGeom>
          <a:noFill/>
        </p:spPr>
        <p:txBody>
          <a:bodyPr wrap="square">
            <a:spAutoFit/>
          </a:bodyPr>
          <a:lstStyle/>
          <a:p>
            <a:pPr>
              <a:defRPr sz="900" b="0">
                <a:solidFill>
                  <a:srgbClr val="1A1A1A"/>
                </a:solidFill>
                <a:latin typeface="Arial"/>
              </a:defRPr>
            </a:pPr>
            <a:r>
              <a:t>64%</a:t>
            </a:r>
          </a:p>
        </p:txBody>
      </p:sp>
      <p:sp>
        <p:nvSpPr>
          <p:cNvPr id="15" name="TextBox 14"/>
          <p:cNvSpPr txBox="1"/>
          <p:nvPr/>
        </p:nvSpPr>
        <p:spPr>
          <a:xfrm>
            <a:off x="9601200" y="1920240"/>
            <a:ext cx="1371600" cy="274320"/>
          </a:xfrm>
          <a:prstGeom prst="rect">
            <a:avLst/>
          </a:prstGeom>
          <a:noFill/>
        </p:spPr>
        <p:txBody>
          <a:bodyPr wrap="square">
            <a:spAutoFit/>
          </a:bodyPr>
          <a:lstStyle/>
          <a:p>
            <a:pPr>
              <a:defRPr sz="900" b="0">
                <a:solidFill>
                  <a:srgbClr val="1A1A1A"/>
                </a:solidFill>
                <a:latin typeface="Arial"/>
              </a:defRPr>
            </a:pPr>
            <a:r>
              <a:t>1,45M</a:t>
            </a:r>
          </a:p>
        </p:txBody>
      </p:sp>
      <p:sp>
        <p:nvSpPr>
          <p:cNvPr id="16" name="Oval 15"/>
          <p:cNvSpPr/>
          <p:nvPr/>
        </p:nvSpPr>
        <p:spPr>
          <a:xfrm>
            <a:off x="6400800" y="228600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240280"/>
            <a:ext cx="2011680" cy="274320"/>
          </a:xfrm>
          <a:prstGeom prst="rect">
            <a:avLst/>
          </a:prstGeom>
          <a:noFill/>
        </p:spPr>
        <p:txBody>
          <a:bodyPr wrap="square">
            <a:spAutoFit/>
          </a:bodyPr>
          <a:lstStyle/>
          <a:p>
            <a:pPr>
              <a:defRPr sz="900" b="0">
                <a:solidFill>
                  <a:srgbClr val="1A1A1A"/>
                </a:solidFill>
                <a:latin typeface="Arial"/>
              </a:defRPr>
            </a:pPr>
            <a:r>
              <a:t>SEO (Orgânico)</a:t>
            </a:r>
          </a:p>
        </p:txBody>
      </p:sp>
      <p:sp>
        <p:nvSpPr>
          <p:cNvPr id="18" name="TextBox 17"/>
          <p:cNvSpPr txBox="1"/>
          <p:nvPr/>
        </p:nvSpPr>
        <p:spPr>
          <a:xfrm>
            <a:off x="8686800" y="2240280"/>
            <a:ext cx="731520" cy="274320"/>
          </a:xfrm>
          <a:prstGeom prst="rect">
            <a:avLst/>
          </a:prstGeom>
          <a:noFill/>
        </p:spPr>
        <p:txBody>
          <a:bodyPr wrap="square">
            <a:spAutoFit/>
          </a:bodyPr>
          <a:lstStyle/>
          <a:p>
            <a:pPr>
              <a:defRPr sz="900" b="0">
                <a:solidFill>
                  <a:srgbClr val="1A1A1A"/>
                </a:solidFill>
                <a:latin typeface="Arial"/>
              </a:defRPr>
            </a:pPr>
            <a:r>
              <a:t>20%</a:t>
            </a:r>
          </a:p>
        </p:txBody>
      </p:sp>
      <p:sp>
        <p:nvSpPr>
          <p:cNvPr id="19" name="TextBox 18"/>
          <p:cNvSpPr txBox="1"/>
          <p:nvPr/>
        </p:nvSpPr>
        <p:spPr>
          <a:xfrm>
            <a:off x="9601200" y="2240280"/>
            <a:ext cx="1371600" cy="274320"/>
          </a:xfrm>
          <a:prstGeom prst="rect">
            <a:avLst/>
          </a:prstGeom>
          <a:noFill/>
        </p:spPr>
        <p:txBody>
          <a:bodyPr wrap="square">
            <a:spAutoFit/>
          </a:bodyPr>
          <a:lstStyle/>
          <a:p>
            <a:pPr>
              <a:defRPr sz="900" b="0">
                <a:solidFill>
                  <a:srgbClr val="1A1A1A"/>
                </a:solidFill>
                <a:latin typeface="Arial"/>
              </a:defRPr>
            </a:pPr>
            <a:r>
              <a:t>452 mil</a:t>
            </a:r>
          </a:p>
        </p:txBody>
      </p:sp>
      <p:sp>
        <p:nvSpPr>
          <p:cNvPr id="20" name="Oval 19"/>
          <p:cNvSpPr/>
          <p:nvPr/>
        </p:nvSpPr>
        <p:spPr>
          <a:xfrm>
            <a:off x="6400800" y="2606040"/>
            <a:ext cx="109728" cy="10972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2560320"/>
            <a:ext cx="2011680" cy="274320"/>
          </a:xfrm>
          <a:prstGeom prst="rect">
            <a:avLst/>
          </a:prstGeom>
          <a:noFill/>
        </p:spPr>
        <p:txBody>
          <a:bodyPr wrap="square">
            <a:spAutoFit/>
          </a:bodyPr>
          <a:lstStyle/>
          <a:p>
            <a:pPr>
              <a:defRPr sz="900" b="0">
                <a:solidFill>
                  <a:srgbClr val="1A1A1A"/>
                </a:solidFill>
                <a:latin typeface="Arial"/>
              </a:defRPr>
            </a:pPr>
            <a:r>
              <a:t>Paid Search</a:t>
            </a:r>
          </a:p>
        </p:txBody>
      </p:sp>
      <p:sp>
        <p:nvSpPr>
          <p:cNvPr id="22" name="TextBox 21"/>
          <p:cNvSpPr txBox="1"/>
          <p:nvPr/>
        </p:nvSpPr>
        <p:spPr>
          <a:xfrm>
            <a:off x="8686800" y="2560320"/>
            <a:ext cx="731520" cy="274320"/>
          </a:xfrm>
          <a:prstGeom prst="rect">
            <a:avLst/>
          </a:prstGeom>
          <a:noFill/>
        </p:spPr>
        <p:txBody>
          <a:bodyPr wrap="square">
            <a:spAutoFit/>
          </a:bodyPr>
          <a:lstStyle/>
          <a:p>
            <a:pPr>
              <a:defRPr sz="900" b="0">
                <a:solidFill>
                  <a:srgbClr val="1A1A1A"/>
                </a:solidFill>
                <a:latin typeface="Arial"/>
              </a:defRPr>
            </a:pPr>
            <a:r>
              <a:t>5%</a:t>
            </a:r>
          </a:p>
        </p:txBody>
      </p:sp>
      <p:sp>
        <p:nvSpPr>
          <p:cNvPr id="23" name="TextBox 22"/>
          <p:cNvSpPr txBox="1"/>
          <p:nvPr/>
        </p:nvSpPr>
        <p:spPr>
          <a:xfrm>
            <a:off x="9601200" y="2560320"/>
            <a:ext cx="1371600" cy="274320"/>
          </a:xfrm>
          <a:prstGeom prst="rect">
            <a:avLst/>
          </a:prstGeom>
          <a:noFill/>
        </p:spPr>
        <p:txBody>
          <a:bodyPr wrap="square">
            <a:spAutoFit/>
          </a:bodyPr>
          <a:lstStyle/>
          <a:p>
            <a:pPr>
              <a:defRPr sz="900" b="0">
                <a:solidFill>
                  <a:srgbClr val="1A1A1A"/>
                </a:solidFill>
                <a:latin typeface="Arial"/>
              </a:defRPr>
            </a:pPr>
            <a:r>
              <a:t>113 mil</a:t>
            </a:r>
          </a:p>
        </p:txBody>
      </p:sp>
      <p:sp>
        <p:nvSpPr>
          <p:cNvPr id="24" name="Oval 23"/>
          <p:cNvSpPr/>
          <p:nvPr/>
        </p:nvSpPr>
        <p:spPr>
          <a:xfrm>
            <a:off x="6400800" y="2926080"/>
            <a:ext cx="109728" cy="109728"/>
          </a:xfrm>
          <a:prstGeom prst="ellipse">
            <a:avLst/>
          </a:prstGeom>
          <a:solidFill>
            <a:srgbClr val="38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2880360"/>
            <a:ext cx="2011680" cy="274320"/>
          </a:xfrm>
          <a:prstGeom prst="rect">
            <a:avLst/>
          </a:prstGeom>
          <a:noFill/>
        </p:spPr>
        <p:txBody>
          <a:bodyPr wrap="square">
            <a:spAutoFit/>
          </a:bodyPr>
          <a:lstStyle/>
          <a:p>
            <a:pPr>
              <a:defRPr sz="900" b="0">
                <a:solidFill>
                  <a:srgbClr val="1A1A1A"/>
                </a:solidFill>
                <a:latin typeface="Arial"/>
              </a:defRPr>
            </a:pPr>
            <a:r>
              <a:t>Social (Facebook)</a:t>
            </a:r>
          </a:p>
        </p:txBody>
      </p:sp>
      <p:sp>
        <p:nvSpPr>
          <p:cNvPr id="26" name="TextBox 25"/>
          <p:cNvSpPr txBox="1"/>
          <p:nvPr/>
        </p:nvSpPr>
        <p:spPr>
          <a:xfrm>
            <a:off x="8686800" y="2880360"/>
            <a:ext cx="731520" cy="274320"/>
          </a:xfrm>
          <a:prstGeom prst="rect">
            <a:avLst/>
          </a:prstGeom>
          <a:noFill/>
        </p:spPr>
        <p:txBody>
          <a:bodyPr wrap="square">
            <a:spAutoFit/>
          </a:bodyPr>
          <a:lstStyle/>
          <a:p>
            <a:pPr>
              <a:defRPr sz="900" b="0">
                <a:solidFill>
                  <a:srgbClr val="1A1A1A"/>
                </a:solidFill>
                <a:latin typeface="Arial"/>
              </a:defRPr>
            </a:pPr>
            <a:r>
              <a:t>3%</a:t>
            </a:r>
          </a:p>
        </p:txBody>
      </p:sp>
      <p:sp>
        <p:nvSpPr>
          <p:cNvPr id="27" name="TextBox 26"/>
          <p:cNvSpPr txBox="1"/>
          <p:nvPr/>
        </p:nvSpPr>
        <p:spPr>
          <a:xfrm>
            <a:off x="9601200" y="2880360"/>
            <a:ext cx="1371600" cy="274320"/>
          </a:xfrm>
          <a:prstGeom prst="rect">
            <a:avLst/>
          </a:prstGeom>
          <a:noFill/>
        </p:spPr>
        <p:txBody>
          <a:bodyPr wrap="square">
            <a:spAutoFit/>
          </a:bodyPr>
          <a:lstStyle/>
          <a:p>
            <a:pPr>
              <a:defRPr sz="900" b="0">
                <a:solidFill>
                  <a:srgbClr val="1A1A1A"/>
                </a:solidFill>
                <a:latin typeface="Arial"/>
              </a:defRPr>
            </a:pPr>
            <a:r>
              <a:t>68 mil</a:t>
            </a:r>
          </a:p>
        </p:txBody>
      </p:sp>
      <p:sp>
        <p:nvSpPr>
          <p:cNvPr id="28" name="Oval 27"/>
          <p:cNvSpPr/>
          <p:nvPr/>
        </p:nvSpPr>
        <p:spPr>
          <a:xfrm>
            <a:off x="6400800" y="3246120"/>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3200400"/>
            <a:ext cx="2011680" cy="274320"/>
          </a:xfrm>
          <a:prstGeom prst="rect">
            <a:avLst/>
          </a:prstGeom>
          <a:noFill/>
        </p:spPr>
        <p:txBody>
          <a:bodyPr wrap="square">
            <a:spAutoFit/>
          </a:bodyPr>
          <a:lstStyle/>
          <a:p>
            <a:pPr>
              <a:defRPr sz="900" b="0">
                <a:solidFill>
                  <a:srgbClr val="1A1A1A"/>
                </a:solidFill>
                <a:latin typeface="Arial"/>
              </a:defRPr>
            </a:pPr>
            <a:r>
              <a:t>Referral</a:t>
            </a:r>
          </a:p>
        </p:txBody>
      </p:sp>
      <p:sp>
        <p:nvSpPr>
          <p:cNvPr id="30" name="TextBox 29"/>
          <p:cNvSpPr txBox="1"/>
          <p:nvPr/>
        </p:nvSpPr>
        <p:spPr>
          <a:xfrm>
            <a:off x="8686800" y="3200400"/>
            <a:ext cx="731520" cy="274320"/>
          </a:xfrm>
          <a:prstGeom prst="rect">
            <a:avLst/>
          </a:prstGeom>
          <a:noFill/>
        </p:spPr>
        <p:txBody>
          <a:bodyPr wrap="square">
            <a:spAutoFit/>
          </a:bodyPr>
          <a:lstStyle/>
          <a:p>
            <a:pPr>
              <a:defRPr sz="900" b="0">
                <a:solidFill>
                  <a:srgbClr val="1A1A1A"/>
                </a:solidFill>
                <a:latin typeface="Arial"/>
              </a:defRPr>
            </a:pPr>
            <a:r>
              <a:t>5%</a:t>
            </a:r>
          </a:p>
        </p:txBody>
      </p:sp>
      <p:sp>
        <p:nvSpPr>
          <p:cNvPr id="31" name="TextBox 30"/>
          <p:cNvSpPr txBox="1"/>
          <p:nvPr/>
        </p:nvSpPr>
        <p:spPr>
          <a:xfrm>
            <a:off x="9601200" y="3200400"/>
            <a:ext cx="1371600" cy="274320"/>
          </a:xfrm>
          <a:prstGeom prst="rect">
            <a:avLst/>
          </a:prstGeom>
          <a:noFill/>
        </p:spPr>
        <p:txBody>
          <a:bodyPr wrap="square">
            <a:spAutoFit/>
          </a:bodyPr>
          <a:lstStyle/>
          <a:p>
            <a:pPr>
              <a:defRPr sz="900" b="0">
                <a:solidFill>
                  <a:srgbClr val="1A1A1A"/>
                </a:solidFill>
                <a:latin typeface="Arial"/>
              </a:defRPr>
            </a:pPr>
            <a:r>
              <a:t>113 mil</a:t>
            </a:r>
          </a:p>
        </p:txBody>
      </p:sp>
      <p:sp>
        <p:nvSpPr>
          <p:cNvPr id="32" name="Oval 31"/>
          <p:cNvSpPr/>
          <p:nvPr/>
        </p:nvSpPr>
        <p:spPr>
          <a:xfrm>
            <a:off x="6400800" y="3566160"/>
            <a:ext cx="109728" cy="109728"/>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3520440"/>
            <a:ext cx="2011680" cy="274320"/>
          </a:xfrm>
          <a:prstGeom prst="rect">
            <a:avLst/>
          </a:prstGeom>
          <a:noFill/>
        </p:spPr>
        <p:txBody>
          <a:bodyPr wrap="square">
            <a:spAutoFit/>
          </a:bodyPr>
          <a:lstStyle/>
          <a:p>
            <a:pPr>
              <a:defRPr sz="900" b="0">
                <a:solidFill>
                  <a:srgbClr val="1A1A1A"/>
                </a:solidFill>
                <a:latin typeface="Arial"/>
              </a:defRPr>
            </a:pPr>
            <a:r>
              <a:t>E-mail</a:t>
            </a:r>
          </a:p>
        </p:txBody>
      </p:sp>
      <p:sp>
        <p:nvSpPr>
          <p:cNvPr id="34" name="TextBox 33"/>
          <p:cNvSpPr txBox="1"/>
          <p:nvPr/>
        </p:nvSpPr>
        <p:spPr>
          <a:xfrm>
            <a:off x="8686800" y="3520440"/>
            <a:ext cx="731520" cy="274320"/>
          </a:xfrm>
          <a:prstGeom prst="rect">
            <a:avLst/>
          </a:prstGeom>
          <a:noFill/>
        </p:spPr>
        <p:txBody>
          <a:bodyPr wrap="square">
            <a:spAutoFit/>
          </a:bodyPr>
          <a:lstStyle/>
          <a:p>
            <a:pPr>
              <a:defRPr sz="900" b="0">
                <a:solidFill>
                  <a:srgbClr val="1A1A1A"/>
                </a:solidFill>
                <a:latin typeface="Arial"/>
              </a:defRPr>
            </a:pPr>
            <a:r>
              <a:t>1%</a:t>
            </a:r>
          </a:p>
        </p:txBody>
      </p:sp>
      <p:sp>
        <p:nvSpPr>
          <p:cNvPr id="35" name="TextBox 34"/>
          <p:cNvSpPr txBox="1"/>
          <p:nvPr/>
        </p:nvSpPr>
        <p:spPr>
          <a:xfrm>
            <a:off x="9601200" y="3520440"/>
            <a:ext cx="1371600" cy="274320"/>
          </a:xfrm>
          <a:prstGeom prst="rect">
            <a:avLst/>
          </a:prstGeom>
          <a:noFill/>
        </p:spPr>
        <p:txBody>
          <a:bodyPr wrap="square">
            <a:spAutoFit/>
          </a:bodyPr>
          <a:lstStyle/>
          <a:p>
            <a:pPr>
              <a:defRPr sz="900" b="0">
                <a:solidFill>
                  <a:srgbClr val="1A1A1A"/>
                </a:solidFill>
                <a:latin typeface="Arial"/>
              </a:defRPr>
            </a:pPr>
            <a:r>
              <a:t>23 mil</a:t>
            </a:r>
          </a:p>
        </p:txBody>
      </p:sp>
      <p:sp>
        <p:nvSpPr>
          <p:cNvPr id="36" name="Oval 35"/>
          <p:cNvSpPr/>
          <p:nvPr/>
        </p:nvSpPr>
        <p:spPr>
          <a:xfrm>
            <a:off x="6400800" y="3886200"/>
            <a:ext cx="109728" cy="10972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3840480"/>
            <a:ext cx="2011680" cy="274320"/>
          </a:xfrm>
          <a:prstGeom prst="rect">
            <a:avLst/>
          </a:prstGeom>
          <a:noFill/>
        </p:spPr>
        <p:txBody>
          <a:bodyPr wrap="square">
            <a:spAutoFit/>
          </a:bodyPr>
          <a:lstStyle/>
          <a:p>
            <a:pPr>
              <a:defRPr sz="900" b="0">
                <a:solidFill>
                  <a:srgbClr val="1A1A1A"/>
                </a:solidFill>
                <a:latin typeface="Arial"/>
              </a:defRPr>
            </a:pPr>
            <a:r>
              <a:t>Display</a:t>
            </a:r>
          </a:p>
        </p:txBody>
      </p:sp>
      <p:sp>
        <p:nvSpPr>
          <p:cNvPr id="38" name="TextBox 37"/>
          <p:cNvSpPr txBox="1"/>
          <p:nvPr/>
        </p:nvSpPr>
        <p:spPr>
          <a:xfrm>
            <a:off x="8686800" y="3840480"/>
            <a:ext cx="731520" cy="274320"/>
          </a:xfrm>
          <a:prstGeom prst="rect">
            <a:avLst/>
          </a:prstGeom>
          <a:noFill/>
        </p:spPr>
        <p:txBody>
          <a:bodyPr wrap="square">
            <a:spAutoFit/>
          </a:bodyPr>
          <a:lstStyle/>
          <a:p>
            <a:pPr>
              <a:defRPr sz="900" b="0">
                <a:solidFill>
                  <a:srgbClr val="1A1A1A"/>
                </a:solidFill>
                <a:latin typeface="Arial"/>
              </a:defRPr>
            </a:pPr>
            <a:r>
              <a:t>1%</a:t>
            </a:r>
          </a:p>
        </p:txBody>
      </p:sp>
      <p:sp>
        <p:nvSpPr>
          <p:cNvPr id="39" name="TextBox 38"/>
          <p:cNvSpPr txBox="1"/>
          <p:nvPr/>
        </p:nvSpPr>
        <p:spPr>
          <a:xfrm>
            <a:off x="9601200" y="3840480"/>
            <a:ext cx="1371600" cy="274320"/>
          </a:xfrm>
          <a:prstGeom prst="rect">
            <a:avLst/>
          </a:prstGeom>
          <a:noFill/>
        </p:spPr>
        <p:txBody>
          <a:bodyPr wrap="square">
            <a:spAutoFit/>
          </a:bodyPr>
          <a:lstStyle/>
          <a:p>
            <a:pPr>
              <a:defRPr sz="900" b="0">
                <a:solidFill>
                  <a:srgbClr val="1A1A1A"/>
                </a:solidFill>
                <a:latin typeface="Arial"/>
              </a:defRPr>
            </a:pPr>
            <a:r>
              <a:t>23 mil</a:t>
            </a:r>
          </a:p>
        </p:txBody>
      </p:sp>
      <p:sp>
        <p:nvSpPr>
          <p:cNvPr id="40" name="Oval 39"/>
          <p:cNvSpPr/>
          <p:nvPr/>
        </p:nvSpPr>
        <p:spPr>
          <a:xfrm>
            <a:off x="6400800" y="4206240"/>
            <a:ext cx="109728" cy="109728"/>
          </a:xfrm>
          <a:prstGeom prst="ellipse">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4160520"/>
            <a:ext cx="2011680" cy="274320"/>
          </a:xfrm>
          <a:prstGeom prst="rect">
            <a:avLst/>
          </a:prstGeom>
          <a:noFill/>
        </p:spPr>
        <p:txBody>
          <a:bodyPr wrap="square">
            <a:spAutoFit/>
          </a:bodyPr>
          <a:lstStyle/>
          <a:p>
            <a:pPr>
              <a:defRPr sz="900" b="0">
                <a:solidFill>
                  <a:srgbClr val="1A1A1A"/>
                </a:solidFill>
                <a:latin typeface="Arial"/>
              </a:defRPr>
            </a:pPr>
            <a:r>
              <a:t>Outros</a:t>
            </a:r>
          </a:p>
        </p:txBody>
      </p:sp>
      <p:sp>
        <p:nvSpPr>
          <p:cNvPr id="42" name="TextBox 41"/>
          <p:cNvSpPr txBox="1"/>
          <p:nvPr/>
        </p:nvSpPr>
        <p:spPr>
          <a:xfrm>
            <a:off x="8686800" y="4160520"/>
            <a:ext cx="731520" cy="274320"/>
          </a:xfrm>
          <a:prstGeom prst="rect">
            <a:avLst/>
          </a:prstGeom>
          <a:noFill/>
        </p:spPr>
        <p:txBody>
          <a:bodyPr wrap="square">
            <a:spAutoFit/>
          </a:bodyPr>
          <a:lstStyle/>
          <a:p>
            <a:pPr>
              <a:defRPr sz="900" b="0">
                <a:solidFill>
                  <a:srgbClr val="1A1A1A"/>
                </a:solidFill>
                <a:latin typeface="Arial"/>
              </a:defRPr>
            </a:pPr>
            <a:r>
              <a:t>1%</a:t>
            </a:r>
          </a:p>
        </p:txBody>
      </p:sp>
      <p:sp>
        <p:nvSpPr>
          <p:cNvPr id="43" name="TextBox 42"/>
          <p:cNvSpPr txBox="1"/>
          <p:nvPr/>
        </p:nvSpPr>
        <p:spPr>
          <a:xfrm>
            <a:off x="9601200" y="4160520"/>
            <a:ext cx="1371600" cy="274320"/>
          </a:xfrm>
          <a:prstGeom prst="rect">
            <a:avLst/>
          </a:prstGeom>
          <a:noFill/>
        </p:spPr>
        <p:txBody>
          <a:bodyPr wrap="square">
            <a:spAutoFit/>
          </a:bodyPr>
          <a:lstStyle/>
          <a:p>
            <a:pPr>
              <a:defRPr sz="900" b="0">
                <a:solidFill>
                  <a:srgbClr val="1A1A1A"/>
                </a:solidFill>
                <a:latin typeface="Arial"/>
              </a:defRPr>
            </a:pPr>
            <a:r>
              <a:t>23 mil</a:t>
            </a:r>
          </a:p>
        </p:txBody>
      </p:sp>
      <p:sp>
        <p:nvSpPr>
          <p:cNvPr id="44" name="TextBox 43"/>
          <p:cNvSpPr txBox="1"/>
          <p:nvPr/>
        </p:nvSpPr>
        <p:spPr>
          <a:xfrm>
            <a:off x="6400800" y="4572000"/>
            <a:ext cx="4572000" cy="274320"/>
          </a:xfrm>
          <a:prstGeom prst="rect">
            <a:avLst/>
          </a:prstGeom>
          <a:noFill/>
        </p:spPr>
        <p:txBody>
          <a:bodyPr wrap="square">
            <a:spAutoFit/>
          </a:bodyPr>
          <a:lstStyle/>
          <a:p>
            <a:pPr>
              <a:defRPr sz="1100" b="1">
                <a:solidFill>
                  <a:srgbClr val="1A3A6E"/>
                </a:solidFill>
                <a:latin typeface="Arial"/>
              </a:defRPr>
            </a:pPr>
            <a:r>
              <a:t>Insights críticos</a:t>
            </a:r>
          </a:p>
        </p:txBody>
      </p:sp>
      <p:sp>
        <p:nvSpPr>
          <p:cNvPr id="45" name="TextBox 44"/>
          <p:cNvSpPr txBox="1"/>
          <p:nvPr/>
        </p:nvSpPr>
        <p:spPr>
          <a:xfrm>
            <a:off x="6400800" y="4892040"/>
            <a:ext cx="5303520" cy="365760"/>
          </a:xfrm>
          <a:prstGeom prst="rect">
            <a:avLst/>
          </a:prstGeom>
          <a:noFill/>
        </p:spPr>
        <p:txBody>
          <a:bodyPr wrap="square">
            <a:spAutoFit/>
          </a:bodyPr>
          <a:lstStyle/>
          <a:p>
            <a:pPr>
              <a:defRPr sz="800" b="0">
                <a:solidFill>
                  <a:srgbClr val="1A1A1A"/>
                </a:solidFill>
                <a:latin typeface="Arial"/>
              </a:defRPr>
            </a:pPr>
            <a:r>
              <a:t>• Social (3%) muito abaixo da média de mercado (8-12%) → oportunidade de crescimento em Facebook e social pago.</a:t>
            </a:r>
          </a:p>
        </p:txBody>
      </p:sp>
      <p:sp>
        <p:nvSpPr>
          <p:cNvPr id="46" name="TextBox 45"/>
          <p:cNvSpPr txBox="1"/>
          <p:nvPr/>
        </p:nvSpPr>
        <p:spPr>
          <a:xfrm>
            <a:off x="6400800" y="5303520"/>
            <a:ext cx="5303520" cy="365760"/>
          </a:xfrm>
          <a:prstGeom prst="rect">
            <a:avLst/>
          </a:prstGeom>
          <a:noFill/>
        </p:spPr>
        <p:txBody>
          <a:bodyPr wrap="square">
            <a:spAutoFit/>
          </a:bodyPr>
          <a:lstStyle/>
          <a:p>
            <a:pPr>
              <a:defRPr sz="800" b="0">
                <a:solidFill>
                  <a:srgbClr val="1A1A1A"/>
                </a:solidFill>
                <a:latin typeface="Arial"/>
              </a:defRPr>
            </a:pPr>
            <a:r>
              <a:t>• Paid Search (5%) com alta recente (+995%) indica espaço para escalar campanhas performance (SQRs, RSA e cobertura de marca).</a:t>
            </a:r>
          </a:p>
        </p:txBody>
      </p:sp>
      <p:sp>
        <p:nvSpPr>
          <p:cNvPr id="47" name="TextBox 46"/>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(Dez/2025). Consolidação: SimilarWeb, Ahrefs, Google Analytics, SpyFu, BuiltWith.</a:t>
            </a:r>
          </a:p>
        </p:txBody>
      </p:sp>
      <p:sp>
        <p:nvSpPr>
          <p:cNvPr id="48" name="TextBox 47"/>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BENCHMARK DE CANAIS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Hapvida vs Amil vs Bradesco vs SulAmérica</a:t>
            </a:r>
          </a:p>
        </p:txBody>
      </p:sp>
      <p:sp>
        <p:nvSpPr>
          <p:cNvPr id="5" name="Rounded Rectangle 4"/>
          <p:cNvSpPr/>
          <p:nvPr/>
        </p:nvSpPr>
        <p:spPr>
          <a:xfrm>
            <a:off x="9144000" y="320040"/>
            <a:ext cx="256032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89720" y="347472"/>
            <a:ext cx="2468880" cy="182880"/>
          </a:xfrm>
          <a:prstGeom prst="rect">
            <a:avLst/>
          </a:prstGeom>
          <a:noFill/>
        </p:spPr>
        <p:txBody>
          <a:bodyPr wrap="square">
            <a:spAutoFit/>
          </a:bodyPr>
          <a:lstStyle/>
          <a:p>
            <a:pPr>
              <a:defRPr sz="600" b="0">
                <a:solidFill>
                  <a:srgbClr val="6B7280"/>
                </a:solidFill>
                <a:latin typeface="Arial"/>
              </a:defRPr>
            </a:pPr>
            <a:r>
              <a:t>IMPACTO FINANCEIRO (OPORTUNIDADE)</a:t>
            </a:r>
          </a:p>
        </p:txBody>
      </p:sp>
      <p:sp>
        <p:nvSpPr>
          <p:cNvPr id="7" name="TextBox 6"/>
          <p:cNvSpPr txBox="1"/>
          <p:nvPr/>
        </p:nvSpPr>
        <p:spPr>
          <a:xfrm>
            <a:off x="9189720" y="502920"/>
            <a:ext cx="2468880" cy="457200"/>
          </a:xfrm>
          <a:prstGeom prst="rect">
            <a:avLst/>
          </a:prstGeom>
          <a:noFill/>
        </p:spPr>
        <p:txBody>
          <a:bodyPr wrap="square">
            <a:spAutoFit/>
          </a:bodyPr>
          <a:lstStyle/>
          <a:p>
            <a:pPr>
              <a:defRPr sz="1400" b="1">
                <a:solidFill>
                  <a:srgbClr val="E87722"/>
                </a:solidFill>
                <a:latin typeface="Arial"/>
              </a:defRPr>
            </a:pPr>
            <a:r>
              <a:t>~450k visitas/mês</a:t>
            </a:r>
          </a:p>
        </p:txBody>
      </p:sp>
      <p:sp>
        <p:nvSpPr>
          <p:cNvPr id="8" name="Rounded Rectangle 7"/>
          <p:cNvSpPr/>
          <p:nvPr/>
        </p:nvSpPr>
        <p:spPr>
          <a:xfrm>
            <a:off x="8686800" y="1371600"/>
            <a:ext cx="3017520" cy="137160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417320"/>
            <a:ext cx="2834640" cy="274320"/>
          </a:xfrm>
          <a:prstGeom prst="rect">
            <a:avLst/>
          </a:prstGeom>
          <a:noFill/>
        </p:spPr>
        <p:txBody>
          <a:bodyPr wrap="square">
            <a:spAutoFit/>
          </a:bodyPr>
          <a:lstStyle/>
          <a:p>
            <a:pPr>
              <a:defRPr sz="1100" b="1">
                <a:solidFill>
                  <a:srgbClr val="DC2626"/>
                </a:solidFill>
                <a:latin typeface="Arial"/>
              </a:defRPr>
            </a:pPr>
            <a:r>
              <a:t>⚠ Gaps Críticos</a:t>
            </a:r>
          </a:p>
        </p:txBody>
      </p:sp>
      <p:sp>
        <p:nvSpPr>
          <p:cNvPr id="10" name="TextBox 9"/>
          <p:cNvSpPr txBox="1"/>
          <p:nvPr/>
        </p:nvSpPr>
        <p:spPr>
          <a:xfrm>
            <a:off x="8778240" y="1737360"/>
            <a:ext cx="1097280" cy="228600"/>
          </a:xfrm>
          <a:prstGeom prst="rect">
            <a:avLst/>
          </a:prstGeom>
          <a:noFill/>
        </p:spPr>
        <p:txBody>
          <a:bodyPr wrap="square">
            <a:spAutoFit/>
          </a:bodyPr>
          <a:lstStyle/>
          <a:p>
            <a:pPr>
              <a:defRPr sz="800" b="1">
                <a:solidFill>
                  <a:srgbClr val="6B7280"/>
                </a:solidFill>
                <a:latin typeface="Arial"/>
              </a:defRPr>
            </a:pPr>
            <a:r>
              <a:t>Canal</a:t>
            </a:r>
          </a:p>
        </p:txBody>
      </p:sp>
      <p:sp>
        <p:nvSpPr>
          <p:cNvPr id="11" name="TextBox 10"/>
          <p:cNvSpPr txBox="1"/>
          <p:nvPr/>
        </p:nvSpPr>
        <p:spPr>
          <a:xfrm>
            <a:off x="9875520" y="1737360"/>
            <a:ext cx="548640" cy="228600"/>
          </a:xfrm>
          <a:prstGeom prst="rect">
            <a:avLst/>
          </a:prstGeom>
          <a:noFill/>
        </p:spPr>
        <p:txBody>
          <a:bodyPr wrap="square">
            <a:spAutoFit/>
          </a:bodyPr>
          <a:lstStyle/>
          <a:p>
            <a:pPr>
              <a:defRPr sz="800" b="1">
                <a:solidFill>
                  <a:srgbClr val="6B7280"/>
                </a:solidFill>
                <a:latin typeface="Arial"/>
              </a:defRPr>
            </a:pPr>
            <a:r>
              <a:t>Gap</a:t>
            </a:r>
          </a:p>
        </p:txBody>
      </p:sp>
      <p:sp>
        <p:nvSpPr>
          <p:cNvPr id="12" name="TextBox 11"/>
          <p:cNvSpPr txBox="1"/>
          <p:nvPr/>
        </p:nvSpPr>
        <p:spPr>
          <a:xfrm>
            <a:off x="10515600" y="1737360"/>
            <a:ext cx="1097280" cy="228600"/>
          </a:xfrm>
          <a:prstGeom prst="rect">
            <a:avLst/>
          </a:prstGeom>
          <a:noFill/>
        </p:spPr>
        <p:txBody>
          <a:bodyPr wrap="square">
            <a:spAutoFit/>
          </a:bodyPr>
          <a:lstStyle/>
          <a:p>
            <a:pPr>
              <a:defRPr sz="800" b="1">
                <a:solidFill>
                  <a:srgbClr val="6B7280"/>
                </a:solidFill>
                <a:latin typeface="Arial"/>
              </a:defRPr>
            </a:pPr>
            <a:r>
              <a:t>Perda/Mês</a:t>
            </a:r>
          </a:p>
        </p:txBody>
      </p:sp>
      <p:sp>
        <p:nvSpPr>
          <p:cNvPr id="13" name="TextBox 12"/>
          <p:cNvSpPr txBox="1"/>
          <p:nvPr/>
        </p:nvSpPr>
        <p:spPr>
          <a:xfrm>
            <a:off x="8778240" y="2011680"/>
            <a:ext cx="1097280" cy="228600"/>
          </a:xfrm>
          <a:prstGeom prst="rect">
            <a:avLst/>
          </a:prstGeom>
          <a:noFill/>
        </p:spPr>
        <p:txBody>
          <a:bodyPr wrap="square">
            <a:spAutoFit/>
          </a:bodyPr>
          <a:lstStyle/>
          <a:p>
            <a:pPr>
              <a:defRPr sz="900" b="0">
                <a:solidFill>
                  <a:srgbClr val="1A1A1A"/>
                </a:solidFill>
                <a:latin typeface="Arial"/>
              </a:defRPr>
            </a:pPr>
            <a:r>
              <a:t>Paid Search</a:t>
            </a:r>
          </a:p>
        </p:txBody>
      </p:sp>
      <p:sp>
        <p:nvSpPr>
          <p:cNvPr id="14" name="TextBox 13"/>
          <p:cNvSpPr txBox="1"/>
          <p:nvPr/>
        </p:nvSpPr>
        <p:spPr>
          <a:xfrm>
            <a:off x="9875520" y="2011680"/>
            <a:ext cx="548640" cy="228600"/>
          </a:xfrm>
          <a:prstGeom prst="rect">
            <a:avLst/>
          </a:prstGeom>
          <a:noFill/>
        </p:spPr>
        <p:txBody>
          <a:bodyPr wrap="square">
            <a:spAutoFit/>
          </a:bodyPr>
          <a:lstStyle/>
          <a:p>
            <a:pPr>
              <a:defRPr sz="900" b="1">
                <a:solidFill>
                  <a:srgbClr val="DC2626"/>
                </a:solidFill>
                <a:latin typeface="Arial"/>
              </a:defRPr>
            </a:pPr>
            <a:r>
              <a:t>-13 pp</a:t>
            </a:r>
          </a:p>
        </p:txBody>
      </p:sp>
      <p:sp>
        <p:nvSpPr>
          <p:cNvPr id="15" name="TextBox 14"/>
          <p:cNvSpPr txBox="1"/>
          <p:nvPr/>
        </p:nvSpPr>
        <p:spPr>
          <a:xfrm>
            <a:off x="10515600" y="2011680"/>
            <a:ext cx="1097280" cy="228600"/>
          </a:xfrm>
          <a:prstGeom prst="rect">
            <a:avLst/>
          </a:prstGeom>
          <a:noFill/>
        </p:spPr>
        <p:txBody>
          <a:bodyPr wrap="square">
            <a:spAutoFit/>
          </a:bodyPr>
          <a:lstStyle/>
          <a:p>
            <a:pPr>
              <a:defRPr sz="900" b="0">
                <a:solidFill>
                  <a:srgbClr val="DC2626"/>
                </a:solidFill>
                <a:latin typeface="Arial"/>
              </a:defRPr>
            </a:pPr>
            <a:r>
              <a:t>-294k</a:t>
            </a:r>
          </a:p>
        </p:txBody>
      </p:sp>
      <p:sp>
        <p:nvSpPr>
          <p:cNvPr id="16" name="TextBox 15"/>
          <p:cNvSpPr txBox="1"/>
          <p:nvPr/>
        </p:nvSpPr>
        <p:spPr>
          <a:xfrm>
            <a:off x="8778240" y="2286000"/>
            <a:ext cx="1097280" cy="228600"/>
          </a:xfrm>
          <a:prstGeom prst="rect">
            <a:avLst/>
          </a:prstGeom>
          <a:noFill/>
        </p:spPr>
        <p:txBody>
          <a:bodyPr wrap="square">
            <a:spAutoFit/>
          </a:bodyPr>
          <a:lstStyle/>
          <a:p>
            <a:pPr>
              <a:defRPr sz="900" b="0">
                <a:solidFill>
                  <a:srgbClr val="1A1A1A"/>
                </a:solidFill>
                <a:latin typeface="Arial"/>
              </a:defRPr>
            </a:pPr>
            <a:r>
              <a:t>Social</a:t>
            </a:r>
          </a:p>
        </p:txBody>
      </p:sp>
      <p:sp>
        <p:nvSpPr>
          <p:cNvPr id="17" name="TextBox 16"/>
          <p:cNvSpPr txBox="1"/>
          <p:nvPr/>
        </p:nvSpPr>
        <p:spPr>
          <a:xfrm>
            <a:off x="9875520" y="2286000"/>
            <a:ext cx="548640" cy="228600"/>
          </a:xfrm>
          <a:prstGeom prst="rect">
            <a:avLst/>
          </a:prstGeom>
          <a:noFill/>
        </p:spPr>
        <p:txBody>
          <a:bodyPr wrap="square">
            <a:spAutoFit/>
          </a:bodyPr>
          <a:lstStyle/>
          <a:p>
            <a:pPr>
              <a:defRPr sz="900" b="1">
                <a:solidFill>
                  <a:srgbClr val="DC2626"/>
                </a:solidFill>
                <a:latin typeface="Arial"/>
              </a:defRPr>
            </a:pPr>
            <a:r>
              <a:t>-7 pp</a:t>
            </a:r>
          </a:p>
        </p:txBody>
      </p:sp>
      <p:sp>
        <p:nvSpPr>
          <p:cNvPr id="18" name="TextBox 17"/>
          <p:cNvSpPr txBox="1"/>
          <p:nvPr/>
        </p:nvSpPr>
        <p:spPr>
          <a:xfrm>
            <a:off x="10515600" y="2286000"/>
            <a:ext cx="1097280" cy="228600"/>
          </a:xfrm>
          <a:prstGeom prst="rect">
            <a:avLst/>
          </a:prstGeom>
          <a:noFill/>
        </p:spPr>
        <p:txBody>
          <a:bodyPr wrap="square">
            <a:spAutoFit/>
          </a:bodyPr>
          <a:lstStyle/>
          <a:p>
            <a:pPr>
              <a:defRPr sz="900" b="0">
                <a:solidFill>
                  <a:srgbClr val="DC2626"/>
                </a:solidFill>
                <a:latin typeface="Arial"/>
              </a:defRPr>
            </a:pPr>
            <a:r>
              <a:t>-158k</a:t>
            </a:r>
          </a:p>
        </p:txBody>
      </p:sp>
      <p:sp>
        <p:nvSpPr>
          <p:cNvPr id="19" name="TextBox 18"/>
          <p:cNvSpPr txBox="1"/>
          <p:nvPr/>
        </p:nvSpPr>
        <p:spPr>
          <a:xfrm>
            <a:off x="8778240" y="2606040"/>
            <a:ext cx="2834640" cy="228600"/>
          </a:xfrm>
          <a:prstGeom prst="rect">
            <a:avLst/>
          </a:prstGeom>
          <a:noFill/>
        </p:spPr>
        <p:txBody>
          <a:bodyPr wrap="square">
            <a:spAutoFit/>
          </a:bodyPr>
          <a:lstStyle/>
          <a:p>
            <a:pPr>
              <a:defRPr sz="900" b="1">
                <a:solidFill>
                  <a:srgbClr val="1A3A6E"/>
                </a:solidFill>
                <a:latin typeface="Arial"/>
              </a:defRPr>
            </a:pPr>
            <a:r>
              <a:t>Total Anual: ~5,4 Milhões de Visitas</a:t>
            </a:r>
          </a:p>
        </p:txBody>
      </p:sp>
      <p:sp>
        <p:nvSpPr>
          <p:cNvPr id="20" name="TextBox 19"/>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Hapvida (SEMrush Dez/2025); Amil/Bradesco/SulAmérica (Benchmarks de mercado).</a:t>
            </a:r>
          </a:p>
        </p:txBody>
      </p:sp>
      <p:sp>
        <p:nvSpPr>
          <p:cNvPr id="21" name="TextBox 20"/>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KEYWORDS TRANSACIONAIS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Oportunidades de Alto Valor (Fundo de Funil)</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82880"/>
          </a:xfrm>
          <a:prstGeom prst="rect">
            <a:avLst/>
          </a:prstGeom>
          <a:noFill/>
        </p:spPr>
        <p:txBody>
          <a:bodyPr wrap="square">
            <a:spAutoFit/>
          </a:bodyPr>
          <a:lstStyle/>
          <a:p>
            <a:pPr>
              <a:defRPr sz="600" b="0">
                <a:solidFill>
                  <a:srgbClr val="6B7280"/>
                </a:solidFill>
                <a:latin typeface="Arial"/>
              </a:defRPr>
            </a:pPr>
            <a:r>
              <a:t>VOLUME TOTAL (TOP 10)</a:t>
            </a:r>
          </a:p>
        </p:txBody>
      </p:sp>
      <p:sp>
        <p:nvSpPr>
          <p:cNvPr id="7" name="TextBox 6"/>
          <p:cNvSpPr txBox="1"/>
          <p:nvPr/>
        </p:nvSpPr>
        <p:spPr>
          <a:xfrm>
            <a:off x="9921240" y="502920"/>
            <a:ext cx="1737360" cy="457200"/>
          </a:xfrm>
          <a:prstGeom prst="rect">
            <a:avLst/>
          </a:prstGeom>
          <a:noFill/>
        </p:spPr>
        <p:txBody>
          <a:bodyPr wrap="square">
            <a:spAutoFit/>
          </a:bodyPr>
          <a:lstStyle/>
          <a:p>
            <a:pPr>
              <a:defRPr sz="1600" b="1">
                <a:solidFill>
                  <a:srgbClr val="E87722"/>
                </a:solidFill>
                <a:latin typeface="Arial"/>
              </a:defRPr>
            </a:pPr>
            <a:r>
              <a:t>192.5k/mês</a:t>
            </a:r>
          </a:p>
        </p:txBody>
      </p:sp>
      <p:sp>
        <p:nvSpPr>
          <p:cNvPr id="8" name="TextBox 7"/>
          <p:cNvSpPr txBox="1"/>
          <p:nvPr/>
        </p:nvSpPr>
        <p:spPr>
          <a:xfrm>
            <a:off x="457200" y="1371600"/>
            <a:ext cx="1371600" cy="228600"/>
          </a:xfrm>
          <a:prstGeom prst="rect">
            <a:avLst/>
          </a:prstGeom>
          <a:noFill/>
        </p:spPr>
        <p:txBody>
          <a:bodyPr wrap="square">
            <a:spAutoFit/>
          </a:bodyPr>
          <a:lstStyle/>
          <a:p>
            <a:pPr>
              <a:defRPr sz="800" b="1">
                <a:solidFill>
                  <a:srgbClr val="6B7280"/>
                </a:solidFill>
                <a:latin typeface="Arial"/>
              </a:defRPr>
            </a:pPr>
            <a:r>
              <a:t>#</a:t>
            </a:r>
          </a:p>
        </p:txBody>
      </p:sp>
      <p:sp>
        <p:nvSpPr>
          <p:cNvPr id="9" name="TextBox 8"/>
          <p:cNvSpPr txBox="1"/>
          <p:nvPr/>
        </p:nvSpPr>
        <p:spPr>
          <a:xfrm>
            <a:off x="914400" y="1371600"/>
            <a:ext cx="1371600" cy="228600"/>
          </a:xfrm>
          <a:prstGeom prst="rect">
            <a:avLst/>
          </a:prstGeom>
          <a:noFill/>
        </p:spPr>
        <p:txBody>
          <a:bodyPr wrap="square">
            <a:spAutoFit/>
          </a:bodyPr>
          <a:lstStyle/>
          <a:p>
            <a:pPr>
              <a:defRPr sz="800" b="1">
                <a:solidFill>
                  <a:srgbClr val="6B7280"/>
                </a:solidFill>
                <a:latin typeface="Arial"/>
              </a:defRPr>
            </a:pPr>
            <a:r>
              <a:t>KEYWORD</a:t>
            </a:r>
          </a:p>
        </p:txBody>
      </p:sp>
      <p:sp>
        <p:nvSpPr>
          <p:cNvPr id="10" name="TextBox 9"/>
          <p:cNvSpPr txBox="1"/>
          <p:nvPr/>
        </p:nvSpPr>
        <p:spPr>
          <a:xfrm>
            <a:off x="3840480" y="1371600"/>
            <a:ext cx="1371600" cy="228600"/>
          </a:xfrm>
          <a:prstGeom prst="rect">
            <a:avLst/>
          </a:prstGeom>
          <a:noFill/>
        </p:spPr>
        <p:txBody>
          <a:bodyPr wrap="square">
            <a:spAutoFit/>
          </a:bodyPr>
          <a:lstStyle/>
          <a:p>
            <a:pPr>
              <a:defRPr sz="800" b="1">
                <a:solidFill>
                  <a:srgbClr val="6B7280"/>
                </a:solidFill>
                <a:latin typeface="Arial"/>
              </a:defRPr>
            </a:pPr>
            <a:r>
              <a:t>VOLUME</a:t>
            </a:r>
          </a:p>
        </p:txBody>
      </p:sp>
      <p:sp>
        <p:nvSpPr>
          <p:cNvPr id="11" name="TextBox 10"/>
          <p:cNvSpPr txBox="1"/>
          <p:nvPr/>
        </p:nvSpPr>
        <p:spPr>
          <a:xfrm>
            <a:off x="4754880" y="1371600"/>
            <a:ext cx="1371600" cy="228600"/>
          </a:xfrm>
          <a:prstGeom prst="rect">
            <a:avLst/>
          </a:prstGeom>
          <a:noFill/>
        </p:spPr>
        <p:txBody>
          <a:bodyPr wrap="square">
            <a:spAutoFit/>
          </a:bodyPr>
          <a:lstStyle/>
          <a:p>
            <a:pPr>
              <a:defRPr sz="800" b="1">
                <a:solidFill>
                  <a:srgbClr val="6B7280"/>
                </a:solidFill>
                <a:latin typeface="Arial"/>
              </a:defRPr>
            </a:pPr>
            <a:r>
              <a:t>1ª POSIÇÃO</a:t>
            </a:r>
          </a:p>
        </p:txBody>
      </p:sp>
      <p:sp>
        <p:nvSpPr>
          <p:cNvPr id="12" name="TextBox 11"/>
          <p:cNvSpPr txBox="1"/>
          <p:nvPr/>
        </p:nvSpPr>
        <p:spPr>
          <a:xfrm>
            <a:off x="6217920" y="1371600"/>
            <a:ext cx="1371600" cy="228600"/>
          </a:xfrm>
          <a:prstGeom prst="rect">
            <a:avLst/>
          </a:prstGeom>
          <a:noFill/>
        </p:spPr>
        <p:txBody>
          <a:bodyPr wrap="square">
            <a:spAutoFit/>
          </a:bodyPr>
          <a:lstStyle/>
          <a:p>
            <a:pPr>
              <a:defRPr sz="800" b="1">
                <a:solidFill>
                  <a:srgbClr val="6B7280"/>
                </a:solidFill>
                <a:latin typeface="Arial"/>
              </a:defRPr>
            </a:pPr>
            <a:r>
              <a:t>2ª POSIÇÃO</a:t>
            </a:r>
          </a:p>
        </p:txBody>
      </p:sp>
      <p:sp>
        <p:nvSpPr>
          <p:cNvPr id="13" name="TextBox 12"/>
          <p:cNvSpPr txBox="1"/>
          <p:nvPr/>
        </p:nvSpPr>
        <p:spPr>
          <a:xfrm>
            <a:off x="7680960" y="1371600"/>
            <a:ext cx="1371600" cy="228600"/>
          </a:xfrm>
          <a:prstGeom prst="rect">
            <a:avLst/>
          </a:prstGeom>
          <a:noFill/>
        </p:spPr>
        <p:txBody>
          <a:bodyPr wrap="square">
            <a:spAutoFit/>
          </a:bodyPr>
          <a:lstStyle/>
          <a:p>
            <a:pPr>
              <a:defRPr sz="800" b="1">
                <a:solidFill>
                  <a:srgbClr val="6B7280"/>
                </a:solidFill>
                <a:latin typeface="Arial"/>
              </a:defRPr>
            </a:pPr>
            <a:r>
              <a:t>3ª POSIÇÃO</a:t>
            </a:r>
          </a:p>
        </p:txBody>
      </p:sp>
      <p:sp>
        <p:nvSpPr>
          <p:cNvPr id="14" name="TextBox 13"/>
          <p:cNvSpPr txBox="1"/>
          <p:nvPr/>
        </p:nvSpPr>
        <p:spPr>
          <a:xfrm>
            <a:off x="457200" y="1691640"/>
            <a:ext cx="365760" cy="274320"/>
          </a:xfrm>
          <a:prstGeom prst="rect">
            <a:avLst/>
          </a:prstGeom>
          <a:noFill/>
        </p:spPr>
        <p:txBody>
          <a:bodyPr wrap="square">
            <a:spAutoFit/>
          </a:bodyPr>
          <a:lstStyle/>
          <a:p>
            <a:pPr>
              <a:defRPr sz="900" b="0">
                <a:solidFill>
                  <a:srgbClr val="6B7280"/>
                </a:solidFill>
                <a:latin typeface="Arial"/>
              </a:defRPr>
            </a:pPr>
            <a:r>
              <a:t>01</a:t>
            </a:r>
          </a:p>
        </p:txBody>
      </p:sp>
      <p:sp>
        <p:nvSpPr>
          <p:cNvPr id="15" name="TextBox 14"/>
          <p:cNvSpPr txBox="1"/>
          <p:nvPr/>
        </p:nvSpPr>
        <p:spPr>
          <a:xfrm>
            <a:off x="914400" y="1691640"/>
            <a:ext cx="2743200" cy="274320"/>
          </a:xfrm>
          <a:prstGeom prst="rect">
            <a:avLst/>
          </a:prstGeom>
          <a:noFill/>
        </p:spPr>
        <p:txBody>
          <a:bodyPr wrap="square">
            <a:spAutoFit/>
          </a:bodyPr>
          <a:lstStyle/>
          <a:p>
            <a:pPr>
              <a:defRPr sz="900" b="0">
                <a:solidFill>
                  <a:srgbClr val="1A1A1A"/>
                </a:solidFill>
                <a:latin typeface="Arial"/>
              </a:defRPr>
            </a:pPr>
            <a:r>
              <a:t>plano de saúde empresarial</a:t>
            </a:r>
          </a:p>
        </p:txBody>
      </p:sp>
      <p:sp>
        <p:nvSpPr>
          <p:cNvPr id="16" name="Rounded Rectangle 15"/>
          <p:cNvSpPr/>
          <p:nvPr/>
        </p:nvSpPr>
        <p:spPr>
          <a:xfrm>
            <a:off x="2926080" y="1709928"/>
            <a:ext cx="731520" cy="2286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0" y="1709928"/>
            <a:ext cx="731520" cy="228600"/>
          </a:xfrm>
          <a:prstGeom prst="rect">
            <a:avLst/>
          </a:prstGeom>
          <a:noFill/>
        </p:spPr>
        <p:txBody>
          <a:bodyPr wrap="square">
            <a:spAutoFit/>
          </a:bodyPr>
          <a:lstStyle/>
          <a:p>
            <a:pPr algn="ctr">
              <a:defRPr sz="700" b="1">
                <a:solidFill>
                  <a:srgbClr val="FFFFFF"/>
                </a:solidFill>
                <a:latin typeface="Arial"/>
              </a:defRPr>
            </a:pPr>
            <a:r>
              <a:t>AUSENTE</a:t>
            </a:r>
          </a:p>
        </p:txBody>
      </p:sp>
      <p:sp>
        <p:nvSpPr>
          <p:cNvPr id="18" name="TextBox 17"/>
          <p:cNvSpPr txBox="1"/>
          <p:nvPr/>
        </p:nvSpPr>
        <p:spPr>
          <a:xfrm>
            <a:off x="3840480" y="1691640"/>
            <a:ext cx="731520" cy="274320"/>
          </a:xfrm>
          <a:prstGeom prst="rect">
            <a:avLst/>
          </a:prstGeom>
          <a:noFill/>
        </p:spPr>
        <p:txBody>
          <a:bodyPr wrap="square">
            <a:spAutoFit/>
          </a:bodyPr>
          <a:lstStyle/>
          <a:p>
            <a:pPr>
              <a:defRPr sz="900" b="0">
                <a:solidFill>
                  <a:srgbClr val="1A1A1A"/>
                </a:solidFill>
                <a:latin typeface="Arial"/>
              </a:defRPr>
            </a:pPr>
            <a:r>
              <a:t>40.5k</a:t>
            </a:r>
          </a:p>
        </p:txBody>
      </p:sp>
      <p:sp>
        <p:nvSpPr>
          <p:cNvPr id="19" name="TextBox 18"/>
          <p:cNvSpPr txBox="1"/>
          <p:nvPr/>
        </p:nvSpPr>
        <p:spPr>
          <a:xfrm>
            <a:off x="4754880" y="1691640"/>
            <a:ext cx="1280160" cy="274320"/>
          </a:xfrm>
          <a:prstGeom prst="rect">
            <a:avLst/>
          </a:prstGeom>
          <a:noFill/>
        </p:spPr>
        <p:txBody>
          <a:bodyPr wrap="square">
            <a:spAutoFit/>
          </a:bodyPr>
          <a:lstStyle/>
          <a:p>
            <a:pPr>
              <a:defRPr sz="800" b="0">
                <a:solidFill>
                  <a:srgbClr val="1A3A6E"/>
                </a:solidFill>
                <a:latin typeface="Arial"/>
              </a:defRPr>
            </a:pPr>
            <a:r>
              <a:t>Bradesco</a:t>
            </a:r>
          </a:p>
        </p:txBody>
      </p:sp>
      <p:sp>
        <p:nvSpPr>
          <p:cNvPr id="20" name="TextBox 19"/>
          <p:cNvSpPr txBox="1"/>
          <p:nvPr/>
        </p:nvSpPr>
        <p:spPr>
          <a:xfrm>
            <a:off x="6217920" y="1691640"/>
            <a:ext cx="1280160" cy="274320"/>
          </a:xfrm>
          <a:prstGeom prst="rect">
            <a:avLst/>
          </a:prstGeom>
          <a:noFill/>
        </p:spPr>
        <p:txBody>
          <a:bodyPr wrap="square">
            <a:spAutoFit/>
          </a:bodyPr>
          <a:lstStyle/>
          <a:p>
            <a:pPr>
              <a:defRPr sz="800" b="0">
                <a:solidFill>
                  <a:srgbClr val="6B7280"/>
                </a:solidFill>
                <a:latin typeface="Arial"/>
              </a:defRPr>
            </a:pPr>
            <a:r>
              <a:t>Amil</a:t>
            </a:r>
          </a:p>
        </p:txBody>
      </p:sp>
      <p:sp>
        <p:nvSpPr>
          <p:cNvPr id="21" name="TextBox 20"/>
          <p:cNvSpPr txBox="1"/>
          <p:nvPr/>
        </p:nvSpPr>
        <p:spPr>
          <a:xfrm>
            <a:off x="7680960" y="1691640"/>
            <a:ext cx="1280160" cy="274320"/>
          </a:xfrm>
          <a:prstGeom prst="rect">
            <a:avLst/>
          </a:prstGeom>
          <a:noFill/>
        </p:spPr>
        <p:txBody>
          <a:bodyPr wrap="square">
            <a:spAutoFit/>
          </a:bodyPr>
          <a:lstStyle/>
          <a:p>
            <a:pPr>
              <a:defRPr sz="800" b="0">
                <a:solidFill>
                  <a:srgbClr val="6B7280"/>
                </a:solidFill>
                <a:latin typeface="Arial"/>
              </a:defRPr>
            </a:pPr>
            <a:r>
              <a:t>SulAmérica</a:t>
            </a:r>
          </a:p>
        </p:txBody>
      </p:sp>
      <p:sp>
        <p:nvSpPr>
          <p:cNvPr id="22" name="TextBox 21"/>
          <p:cNvSpPr txBox="1"/>
          <p:nvPr/>
        </p:nvSpPr>
        <p:spPr>
          <a:xfrm>
            <a:off x="457200" y="2103120"/>
            <a:ext cx="365760" cy="274320"/>
          </a:xfrm>
          <a:prstGeom prst="rect">
            <a:avLst/>
          </a:prstGeom>
          <a:noFill/>
        </p:spPr>
        <p:txBody>
          <a:bodyPr wrap="square">
            <a:spAutoFit/>
          </a:bodyPr>
          <a:lstStyle/>
          <a:p>
            <a:pPr>
              <a:defRPr sz="900" b="0">
                <a:solidFill>
                  <a:srgbClr val="6B7280"/>
                </a:solidFill>
                <a:latin typeface="Arial"/>
              </a:defRPr>
            </a:pPr>
            <a:r>
              <a:t>02</a:t>
            </a:r>
          </a:p>
        </p:txBody>
      </p:sp>
      <p:sp>
        <p:nvSpPr>
          <p:cNvPr id="23" name="TextBox 22"/>
          <p:cNvSpPr txBox="1"/>
          <p:nvPr/>
        </p:nvSpPr>
        <p:spPr>
          <a:xfrm>
            <a:off x="914400" y="2103120"/>
            <a:ext cx="2743200" cy="274320"/>
          </a:xfrm>
          <a:prstGeom prst="rect">
            <a:avLst/>
          </a:prstGeom>
          <a:noFill/>
        </p:spPr>
        <p:txBody>
          <a:bodyPr wrap="square">
            <a:spAutoFit/>
          </a:bodyPr>
          <a:lstStyle/>
          <a:p>
            <a:pPr>
              <a:defRPr sz="900" b="0">
                <a:solidFill>
                  <a:srgbClr val="1A1A1A"/>
                </a:solidFill>
                <a:latin typeface="Arial"/>
              </a:defRPr>
            </a:pPr>
            <a:r>
              <a:t>contratar plano de saúde</a:t>
            </a:r>
          </a:p>
        </p:txBody>
      </p:sp>
      <p:sp>
        <p:nvSpPr>
          <p:cNvPr id="24" name="Rounded Rectangle 23"/>
          <p:cNvSpPr/>
          <p:nvPr/>
        </p:nvSpPr>
        <p:spPr>
          <a:xfrm>
            <a:off x="2926080" y="2121408"/>
            <a:ext cx="731520" cy="2286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121408"/>
            <a:ext cx="731520" cy="228600"/>
          </a:xfrm>
          <a:prstGeom prst="rect">
            <a:avLst/>
          </a:prstGeom>
          <a:noFill/>
        </p:spPr>
        <p:txBody>
          <a:bodyPr wrap="square">
            <a:spAutoFit/>
          </a:bodyPr>
          <a:lstStyle/>
          <a:p>
            <a:pPr algn="ctr">
              <a:defRPr sz="700" b="1">
                <a:solidFill>
                  <a:srgbClr val="FFFFFF"/>
                </a:solidFill>
                <a:latin typeface="Arial"/>
              </a:defRPr>
            </a:pPr>
            <a:r>
              <a:t>AUSENTE</a:t>
            </a:r>
          </a:p>
        </p:txBody>
      </p:sp>
      <p:sp>
        <p:nvSpPr>
          <p:cNvPr id="26" name="TextBox 25"/>
          <p:cNvSpPr txBox="1"/>
          <p:nvPr/>
        </p:nvSpPr>
        <p:spPr>
          <a:xfrm>
            <a:off x="3840480" y="2103120"/>
            <a:ext cx="731520" cy="274320"/>
          </a:xfrm>
          <a:prstGeom prst="rect">
            <a:avLst/>
          </a:prstGeom>
          <a:noFill/>
        </p:spPr>
        <p:txBody>
          <a:bodyPr wrap="square">
            <a:spAutoFit/>
          </a:bodyPr>
          <a:lstStyle/>
          <a:p>
            <a:pPr>
              <a:defRPr sz="900" b="0">
                <a:solidFill>
                  <a:srgbClr val="1A1A1A"/>
                </a:solidFill>
                <a:latin typeface="Arial"/>
              </a:defRPr>
            </a:pPr>
            <a:r>
              <a:t>33.1k</a:t>
            </a:r>
          </a:p>
        </p:txBody>
      </p:sp>
      <p:sp>
        <p:nvSpPr>
          <p:cNvPr id="27" name="TextBox 26"/>
          <p:cNvSpPr txBox="1"/>
          <p:nvPr/>
        </p:nvSpPr>
        <p:spPr>
          <a:xfrm>
            <a:off x="4754880" y="2103120"/>
            <a:ext cx="1280160" cy="274320"/>
          </a:xfrm>
          <a:prstGeom prst="rect">
            <a:avLst/>
          </a:prstGeom>
          <a:noFill/>
        </p:spPr>
        <p:txBody>
          <a:bodyPr wrap="square">
            <a:spAutoFit/>
          </a:bodyPr>
          <a:lstStyle/>
          <a:p>
            <a:pPr>
              <a:defRPr sz="800" b="0">
                <a:solidFill>
                  <a:srgbClr val="1A3A6E"/>
                </a:solidFill>
                <a:latin typeface="Arial"/>
              </a:defRPr>
            </a:pPr>
            <a:r>
              <a:t>Amil</a:t>
            </a:r>
          </a:p>
        </p:txBody>
      </p:sp>
      <p:sp>
        <p:nvSpPr>
          <p:cNvPr id="28" name="TextBox 27"/>
          <p:cNvSpPr txBox="1"/>
          <p:nvPr/>
        </p:nvSpPr>
        <p:spPr>
          <a:xfrm>
            <a:off x="6217920" y="2103120"/>
            <a:ext cx="1280160" cy="274320"/>
          </a:xfrm>
          <a:prstGeom prst="rect">
            <a:avLst/>
          </a:prstGeom>
          <a:noFill/>
        </p:spPr>
        <p:txBody>
          <a:bodyPr wrap="square">
            <a:spAutoFit/>
          </a:bodyPr>
          <a:lstStyle/>
          <a:p>
            <a:pPr>
              <a:defRPr sz="800" b="0">
                <a:solidFill>
                  <a:srgbClr val="6B7280"/>
                </a:solidFill>
                <a:latin typeface="Arial"/>
              </a:defRPr>
            </a:pPr>
            <a:r>
              <a:t>Bradesco</a:t>
            </a:r>
          </a:p>
        </p:txBody>
      </p:sp>
      <p:sp>
        <p:nvSpPr>
          <p:cNvPr id="29" name="TextBox 28"/>
          <p:cNvSpPr txBox="1"/>
          <p:nvPr/>
        </p:nvSpPr>
        <p:spPr>
          <a:xfrm>
            <a:off x="7680960" y="2103120"/>
            <a:ext cx="1280160" cy="274320"/>
          </a:xfrm>
          <a:prstGeom prst="rect">
            <a:avLst/>
          </a:prstGeom>
          <a:noFill/>
        </p:spPr>
        <p:txBody>
          <a:bodyPr wrap="square">
            <a:spAutoFit/>
          </a:bodyPr>
          <a:lstStyle/>
          <a:p>
            <a:pPr>
              <a:defRPr sz="800" b="0">
                <a:solidFill>
                  <a:srgbClr val="6B7280"/>
                </a:solidFill>
                <a:latin typeface="Arial"/>
              </a:defRPr>
            </a:pPr>
            <a:r>
              <a:t>SulAmérica</a:t>
            </a:r>
          </a:p>
        </p:txBody>
      </p:sp>
      <p:sp>
        <p:nvSpPr>
          <p:cNvPr id="30" name="TextBox 29"/>
          <p:cNvSpPr txBox="1"/>
          <p:nvPr/>
        </p:nvSpPr>
        <p:spPr>
          <a:xfrm>
            <a:off x="457200" y="2514600"/>
            <a:ext cx="365760" cy="274320"/>
          </a:xfrm>
          <a:prstGeom prst="rect">
            <a:avLst/>
          </a:prstGeom>
          <a:noFill/>
        </p:spPr>
        <p:txBody>
          <a:bodyPr wrap="square">
            <a:spAutoFit/>
          </a:bodyPr>
          <a:lstStyle/>
          <a:p>
            <a:pPr>
              <a:defRPr sz="900" b="0">
                <a:solidFill>
                  <a:srgbClr val="6B7280"/>
                </a:solidFill>
                <a:latin typeface="Arial"/>
              </a:defRPr>
            </a:pPr>
            <a:r>
              <a:t>03</a:t>
            </a:r>
          </a:p>
        </p:txBody>
      </p:sp>
      <p:sp>
        <p:nvSpPr>
          <p:cNvPr id="31" name="TextBox 30"/>
          <p:cNvSpPr txBox="1"/>
          <p:nvPr/>
        </p:nvSpPr>
        <p:spPr>
          <a:xfrm>
            <a:off x="914400" y="2514600"/>
            <a:ext cx="2743200" cy="274320"/>
          </a:xfrm>
          <a:prstGeom prst="rect">
            <a:avLst/>
          </a:prstGeom>
          <a:noFill/>
        </p:spPr>
        <p:txBody>
          <a:bodyPr wrap="square">
            <a:spAutoFit/>
          </a:bodyPr>
          <a:lstStyle/>
          <a:p>
            <a:pPr>
              <a:defRPr sz="900" b="0">
                <a:solidFill>
                  <a:srgbClr val="1A1A1A"/>
                </a:solidFill>
                <a:latin typeface="Arial"/>
              </a:defRPr>
            </a:pPr>
            <a:r>
              <a:t>plano de saúde individual</a:t>
            </a:r>
          </a:p>
        </p:txBody>
      </p:sp>
      <p:sp>
        <p:nvSpPr>
          <p:cNvPr id="32" name="Rounded Rectangle 31"/>
          <p:cNvSpPr/>
          <p:nvPr/>
        </p:nvSpPr>
        <p:spPr>
          <a:xfrm>
            <a:off x="2926080" y="2532888"/>
            <a:ext cx="731520" cy="2286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0" y="2532888"/>
            <a:ext cx="731520" cy="228600"/>
          </a:xfrm>
          <a:prstGeom prst="rect">
            <a:avLst/>
          </a:prstGeom>
          <a:noFill/>
        </p:spPr>
        <p:txBody>
          <a:bodyPr wrap="square">
            <a:spAutoFit/>
          </a:bodyPr>
          <a:lstStyle/>
          <a:p>
            <a:pPr algn="ctr">
              <a:defRPr sz="700" b="1">
                <a:solidFill>
                  <a:srgbClr val="FFFFFF"/>
                </a:solidFill>
                <a:latin typeface="Arial"/>
              </a:defRPr>
            </a:pPr>
            <a:r>
              <a:t>AUSENTE</a:t>
            </a:r>
          </a:p>
        </p:txBody>
      </p:sp>
      <p:sp>
        <p:nvSpPr>
          <p:cNvPr id="34" name="TextBox 33"/>
          <p:cNvSpPr txBox="1"/>
          <p:nvPr/>
        </p:nvSpPr>
        <p:spPr>
          <a:xfrm>
            <a:off x="3840480" y="2514600"/>
            <a:ext cx="731520" cy="274320"/>
          </a:xfrm>
          <a:prstGeom prst="rect">
            <a:avLst/>
          </a:prstGeom>
          <a:noFill/>
        </p:spPr>
        <p:txBody>
          <a:bodyPr wrap="square">
            <a:spAutoFit/>
          </a:bodyPr>
          <a:lstStyle/>
          <a:p>
            <a:pPr>
              <a:defRPr sz="900" b="0">
                <a:solidFill>
                  <a:srgbClr val="1A1A1A"/>
                </a:solidFill>
                <a:latin typeface="Arial"/>
              </a:defRPr>
            </a:pPr>
            <a:r>
              <a:t>27.1k</a:t>
            </a:r>
          </a:p>
        </p:txBody>
      </p:sp>
      <p:sp>
        <p:nvSpPr>
          <p:cNvPr id="35" name="TextBox 34"/>
          <p:cNvSpPr txBox="1"/>
          <p:nvPr/>
        </p:nvSpPr>
        <p:spPr>
          <a:xfrm>
            <a:off x="4754880" y="2514600"/>
            <a:ext cx="1280160" cy="274320"/>
          </a:xfrm>
          <a:prstGeom prst="rect">
            <a:avLst/>
          </a:prstGeom>
          <a:noFill/>
        </p:spPr>
        <p:txBody>
          <a:bodyPr wrap="square">
            <a:spAutoFit/>
          </a:bodyPr>
          <a:lstStyle/>
          <a:p>
            <a:pPr>
              <a:defRPr sz="800" b="0">
                <a:solidFill>
                  <a:srgbClr val="1A3A6E"/>
                </a:solidFill>
                <a:latin typeface="Arial"/>
              </a:defRPr>
            </a:pPr>
            <a:r>
              <a:t>Amil</a:t>
            </a:r>
          </a:p>
        </p:txBody>
      </p:sp>
      <p:sp>
        <p:nvSpPr>
          <p:cNvPr id="36" name="TextBox 35"/>
          <p:cNvSpPr txBox="1"/>
          <p:nvPr/>
        </p:nvSpPr>
        <p:spPr>
          <a:xfrm>
            <a:off x="6217920" y="2514600"/>
            <a:ext cx="1280160" cy="274320"/>
          </a:xfrm>
          <a:prstGeom prst="rect">
            <a:avLst/>
          </a:prstGeom>
          <a:noFill/>
        </p:spPr>
        <p:txBody>
          <a:bodyPr wrap="square">
            <a:spAutoFit/>
          </a:bodyPr>
          <a:lstStyle/>
          <a:p>
            <a:pPr>
              <a:defRPr sz="800" b="0">
                <a:solidFill>
                  <a:srgbClr val="6B7280"/>
                </a:solidFill>
                <a:latin typeface="Arial"/>
              </a:defRPr>
            </a:pPr>
            <a:r>
              <a:t>SulAmérica</a:t>
            </a:r>
          </a:p>
        </p:txBody>
      </p:sp>
      <p:sp>
        <p:nvSpPr>
          <p:cNvPr id="37" name="TextBox 36"/>
          <p:cNvSpPr txBox="1"/>
          <p:nvPr/>
        </p:nvSpPr>
        <p:spPr>
          <a:xfrm>
            <a:off x="7680960" y="2514600"/>
            <a:ext cx="1280160" cy="274320"/>
          </a:xfrm>
          <a:prstGeom prst="rect">
            <a:avLst/>
          </a:prstGeom>
          <a:noFill/>
        </p:spPr>
        <p:txBody>
          <a:bodyPr wrap="square">
            <a:spAutoFit/>
          </a:bodyPr>
          <a:lstStyle/>
          <a:p>
            <a:pPr>
              <a:defRPr sz="800" b="0">
                <a:solidFill>
                  <a:srgbClr val="6B7280"/>
                </a:solidFill>
                <a:latin typeface="Arial"/>
              </a:defRPr>
            </a:pPr>
            <a:r>
              <a:t>Bradesco</a:t>
            </a:r>
          </a:p>
        </p:txBody>
      </p:sp>
      <p:sp>
        <p:nvSpPr>
          <p:cNvPr id="38" name="TextBox 37"/>
          <p:cNvSpPr txBox="1"/>
          <p:nvPr/>
        </p:nvSpPr>
        <p:spPr>
          <a:xfrm>
            <a:off x="457200" y="2926080"/>
            <a:ext cx="365760" cy="274320"/>
          </a:xfrm>
          <a:prstGeom prst="rect">
            <a:avLst/>
          </a:prstGeom>
          <a:noFill/>
        </p:spPr>
        <p:txBody>
          <a:bodyPr wrap="square">
            <a:spAutoFit/>
          </a:bodyPr>
          <a:lstStyle/>
          <a:p>
            <a:pPr>
              <a:defRPr sz="900" b="0">
                <a:solidFill>
                  <a:srgbClr val="6B7280"/>
                </a:solidFill>
                <a:latin typeface="Arial"/>
              </a:defRPr>
            </a:pPr>
            <a:r>
              <a:t>04</a:t>
            </a:r>
          </a:p>
        </p:txBody>
      </p:sp>
      <p:sp>
        <p:nvSpPr>
          <p:cNvPr id="39" name="TextBox 38"/>
          <p:cNvSpPr txBox="1"/>
          <p:nvPr/>
        </p:nvSpPr>
        <p:spPr>
          <a:xfrm>
            <a:off x="914400" y="2926080"/>
            <a:ext cx="2743200" cy="274320"/>
          </a:xfrm>
          <a:prstGeom prst="rect">
            <a:avLst/>
          </a:prstGeom>
          <a:noFill/>
        </p:spPr>
        <p:txBody>
          <a:bodyPr wrap="square">
            <a:spAutoFit/>
          </a:bodyPr>
          <a:lstStyle/>
          <a:p>
            <a:pPr>
              <a:defRPr sz="900" b="0">
                <a:solidFill>
                  <a:srgbClr val="1A1A1A"/>
                </a:solidFill>
                <a:latin typeface="Arial"/>
              </a:defRPr>
            </a:pPr>
            <a:r>
              <a:t>plano de saúde familiar</a:t>
            </a:r>
          </a:p>
        </p:txBody>
      </p:sp>
      <p:sp>
        <p:nvSpPr>
          <p:cNvPr id="40" name="TextBox 39"/>
          <p:cNvSpPr txBox="1"/>
          <p:nvPr/>
        </p:nvSpPr>
        <p:spPr>
          <a:xfrm>
            <a:off x="3840480" y="2926080"/>
            <a:ext cx="731520" cy="274320"/>
          </a:xfrm>
          <a:prstGeom prst="rect">
            <a:avLst/>
          </a:prstGeom>
          <a:noFill/>
        </p:spPr>
        <p:txBody>
          <a:bodyPr wrap="square">
            <a:spAutoFit/>
          </a:bodyPr>
          <a:lstStyle/>
          <a:p>
            <a:pPr>
              <a:defRPr sz="900" b="0">
                <a:solidFill>
                  <a:srgbClr val="1A1A1A"/>
                </a:solidFill>
                <a:latin typeface="Arial"/>
              </a:defRPr>
            </a:pPr>
            <a:r>
              <a:t>22.2k</a:t>
            </a:r>
          </a:p>
        </p:txBody>
      </p:sp>
      <p:sp>
        <p:nvSpPr>
          <p:cNvPr id="41" name="TextBox 40"/>
          <p:cNvSpPr txBox="1"/>
          <p:nvPr/>
        </p:nvSpPr>
        <p:spPr>
          <a:xfrm>
            <a:off x="4754880" y="2926080"/>
            <a:ext cx="1280160" cy="274320"/>
          </a:xfrm>
          <a:prstGeom prst="rect">
            <a:avLst/>
          </a:prstGeom>
          <a:noFill/>
        </p:spPr>
        <p:txBody>
          <a:bodyPr wrap="square">
            <a:spAutoFit/>
          </a:bodyPr>
          <a:lstStyle/>
          <a:p>
            <a:pPr>
              <a:defRPr sz="800" b="0">
                <a:solidFill>
                  <a:srgbClr val="1A3A6E"/>
                </a:solidFill>
                <a:latin typeface="Arial"/>
              </a:defRPr>
            </a:pPr>
            <a:r>
              <a:t>Bradesco</a:t>
            </a:r>
          </a:p>
        </p:txBody>
      </p:sp>
      <p:sp>
        <p:nvSpPr>
          <p:cNvPr id="42" name="TextBox 41"/>
          <p:cNvSpPr txBox="1"/>
          <p:nvPr/>
        </p:nvSpPr>
        <p:spPr>
          <a:xfrm>
            <a:off x="6217920" y="2926080"/>
            <a:ext cx="1280160" cy="274320"/>
          </a:xfrm>
          <a:prstGeom prst="rect">
            <a:avLst/>
          </a:prstGeom>
          <a:noFill/>
        </p:spPr>
        <p:txBody>
          <a:bodyPr wrap="square">
            <a:spAutoFit/>
          </a:bodyPr>
          <a:lstStyle/>
          <a:p>
            <a:pPr>
              <a:defRPr sz="800" b="0">
                <a:solidFill>
                  <a:srgbClr val="6B7280"/>
                </a:solidFill>
                <a:latin typeface="Arial"/>
              </a:defRPr>
            </a:pPr>
            <a:r>
              <a:t>Amil</a:t>
            </a:r>
          </a:p>
        </p:txBody>
      </p:sp>
      <p:sp>
        <p:nvSpPr>
          <p:cNvPr id="43" name="TextBox 42"/>
          <p:cNvSpPr txBox="1"/>
          <p:nvPr/>
        </p:nvSpPr>
        <p:spPr>
          <a:xfrm>
            <a:off x="7680960" y="2926080"/>
            <a:ext cx="1280160" cy="274320"/>
          </a:xfrm>
          <a:prstGeom prst="rect">
            <a:avLst/>
          </a:prstGeom>
          <a:noFill/>
        </p:spPr>
        <p:txBody>
          <a:bodyPr wrap="square">
            <a:spAutoFit/>
          </a:bodyPr>
          <a:lstStyle/>
          <a:p>
            <a:pPr>
              <a:defRPr sz="800" b="0">
                <a:solidFill>
                  <a:srgbClr val="6B7280"/>
                </a:solidFill>
                <a:latin typeface="Arial"/>
              </a:defRPr>
            </a:pPr>
            <a:r>
              <a:t>Hapvida</a:t>
            </a:r>
          </a:p>
        </p:txBody>
      </p:sp>
      <p:sp>
        <p:nvSpPr>
          <p:cNvPr id="44" name="TextBox 43"/>
          <p:cNvSpPr txBox="1"/>
          <p:nvPr/>
        </p:nvSpPr>
        <p:spPr>
          <a:xfrm>
            <a:off x="457200" y="3337560"/>
            <a:ext cx="365760" cy="274320"/>
          </a:xfrm>
          <a:prstGeom prst="rect">
            <a:avLst/>
          </a:prstGeom>
          <a:noFill/>
        </p:spPr>
        <p:txBody>
          <a:bodyPr wrap="square">
            <a:spAutoFit/>
          </a:bodyPr>
          <a:lstStyle/>
          <a:p>
            <a:pPr>
              <a:defRPr sz="900" b="0">
                <a:solidFill>
                  <a:srgbClr val="6B7280"/>
                </a:solidFill>
                <a:latin typeface="Arial"/>
              </a:defRPr>
            </a:pPr>
            <a:r>
              <a:t>05</a:t>
            </a:r>
          </a:p>
        </p:txBody>
      </p:sp>
      <p:sp>
        <p:nvSpPr>
          <p:cNvPr id="45" name="TextBox 44"/>
          <p:cNvSpPr txBox="1"/>
          <p:nvPr/>
        </p:nvSpPr>
        <p:spPr>
          <a:xfrm>
            <a:off x="914400" y="3337560"/>
            <a:ext cx="2743200" cy="274320"/>
          </a:xfrm>
          <a:prstGeom prst="rect">
            <a:avLst/>
          </a:prstGeom>
          <a:noFill/>
        </p:spPr>
        <p:txBody>
          <a:bodyPr wrap="square">
            <a:spAutoFit/>
          </a:bodyPr>
          <a:lstStyle/>
          <a:p>
            <a:pPr>
              <a:defRPr sz="900" b="0">
                <a:solidFill>
                  <a:srgbClr val="1A1A1A"/>
                </a:solidFill>
                <a:latin typeface="Arial"/>
              </a:defRPr>
            </a:pPr>
            <a:r>
              <a:t>cotação plano de saúde</a:t>
            </a:r>
          </a:p>
        </p:txBody>
      </p:sp>
      <p:sp>
        <p:nvSpPr>
          <p:cNvPr id="46" name="Rounded Rectangle 45"/>
          <p:cNvSpPr/>
          <p:nvPr/>
        </p:nvSpPr>
        <p:spPr>
          <a:xfrm>
            <a:off x="2926080" y="3355848"/>
            <a:ext cx="731520" cy="22860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26080" y="3355848"/>
            <a:ext cx="731520" cy="228600"/>
          </a:xfrm>
          <a:prstGeom prst="rect">
            <a:avLst/>
          </a:prstGeom>
          <a:noFill/>
        </p:spPr>
        <p:txBody>
          <a:bodyPr wrap="square">
            <a:spAutoFit/>
          </a:bodyPr>
          <a:lstStyle/>
          <a:p>
            <a:pPr algn="ctr">
              <a:defRPr sz="700" b="1">
                <a:solidFill>
                  <a:srgbClr val="FFFFFF"/>
                </a:solidFill>
                <a:latin typeface="Arial"/>
              </a:defRPr>
            </a:pPr>
            <a:r>
              <a:t>AUSENTE</a:t>
            </a:r>
          </a:p>
        </p:txBody>
      </p:sp>
      <p:sp>
        <p:nvSpPr>
          <p:cNvPr id="48" name="TextBox 47"/>
          <p:cNvSpPr txBox="1"/>
          <p:nvPr/>
        </p:nvSpPr>
        <p:spPr>
          <a:xfrm>
            <a:off x="3840480" y="3337560"/>
            <a:ext cx="731520" cy="274320"/>
          </a:xfrm>
          <a:prstGeom prst="rect">
            <a:avLst/>
          </a:prstGeom>
          <a:noFill/>
        </p:spPr>
        <p:txBody>
          <a:bodyPr wrap="square">
            <a:spAutoFit/>
          </a:bodyPr>
          <a:lstStyle/>
          <a:p>
            <a:pPr>
              <a:defRPr sz="900" b="0">
                <a:solidFill>
                  <a:srgbClr val="1A1A1A"/>
                </a:solidFill>
                <a:latin typeface="Arial"/>
              </a:defRPr>
            </a:pPr>
            <a:r>
              <a:t>18.1k</a:t>
            </a:r>
          </a:p>
        </p:txBody>
      </p:sp>
      <p:sp>
        <p:nvSpPr>
          <p:cNvPr id="49" name="TextBox 48"/>
          <p:cNvSpPr txBox="1"/>
          <p:nvPr/>
        </p:nvSpPr>
        <p:spPr>
          <a:xfrm>
            <a:off x="4754880" y="3337560"/>
            <a:ext cx="1280160" cy="274320"/>
          </a:xfrm>
          <a:prstGeom prst="rect">
            <a:avLst/>
          </a:prstGeom>
          <a:noFill/>
        </p:spPr>
        <p:txBody>
          <a:bodyPr wrap="square">
            <a:spAutoFit/>
          </a:bodyPr>
          <a:lstStyle/>
          <a:p>
            <a:pPr>
              <a:defRPr sz="800" b="0">
                <a:solidFill>
                  <a:srgbClr val="1A3A6E"/>
                </a:solidFill>
                <a:latin typeface="Arial"/>
              </a:defRPr>
            </a:pPr>
            <a:r>
              <a:t>Comparador</a:t>
            </a:r>
          </a:p>
        </p:txBody>
      </p:sp>
      <p:sp>
        <p:nvSpPr>
          <p:cNvPr id="50" name="TextBox 49"/>
          <p:cNvSpPr txBox="1"/>
          <p:nvPr/>
        </p:nvSpPr>
        <p:spPr>
          <a:xfrm>
            <a:off x="6217920" y="3337560"/>
            <a:ext cx="1280160" cy="274320"/>
          </a:xfrm>
          <a:prstGeom prst="rect">
            <a:avLst/>
          </a:prstGeom>
          <a:noFill/>
        </p:spPr>
        <p:txBody>
          <a:bodyPr wrap="square">
            <a:spAutoFit/>
          </a:bodyPr>
          <a:lstStyle/>
          <a:p>
            <a:pPr>
              <a:defRPr sz="800" b="0">
                <a:solidFill>
                  <a:srgbClr val="6B7280"/>
                </a:solidFill>
                <a:latin typeface="Arial"/>
              </a:defRPr>
            </a:pPr>
            <a:r>
              <a:t>Amil</a:t>
            </a:r>
          </a:p>
        </p:txBody>
      </p:sp>
      <p:sp>
        <p:nvSpPr>
          <p:cNvPr id="51" name="TextBox 50"/>
          <p:cNvSpPr txBox="1"/>
          <p:nvPr/>
        </p:nvSpPr>
        <p:spPr>
          <a:xfrm>
            <a:off x="7680960" y="3337560"/>
            <a:ext cx="1280160" cy="274320"/>
          </a:xfrm>
          <a:prstGeom prst="rect">
            <a:avLst/>
          </a:prstGeom>
          <a:noFill/>
        </p:spPr>
        <p:txBody>
          <a:bodyPr wrap="square">
            <a:spAutoFit/>
          </a:bodyPr>
          <a:lstStyle/>
          <a:p>
            <a:pPr>
              <a:defRPr sz="800" b="0">
                <a:solidFill>
                  <a:srgbClr val="6B7280"/>
                </a:solidFill>
                <a:latin typeface="Arial"/>
              </a:defRPr>
            </a:pPr>
            <a:r>
              <a:t>Bradesco</a:t>
            </a:r>
          </a:p>
        </p:txBody>
      </p:sp>
      <p:sp>
        <p:nvSpPr>
          <p:cNvPr id="52" name="Rounded Rectangle 51"/>
          <p:cNvSpPr/>
          <p:nvPr/>
        </p:nvSpPr>
        <p:spPr>
          <a:xfrm>
            <a:off x="9144000" y="1371600"/>
            <a:ext cx="2560320" cy="10972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35440" y="1417320"/>
            <a:ext cx="2377440" cy="228600"/>
          </a:xfrm>
          <a:prstGeom prst="rect">
            <a:avLst/>
          </a:prstGeom>
          <a:noFill/>
        </p:spPr>
        <p:txBody>
          <a:bodyPr wrap="square">
            <a:spAutoFit/>
          </a:bodyPr>
          <a:lstStyle/>
          <a:p>
            <a:pPr>
              <a:defRPr sz="800" b="1">
                <a:solidFill>
                  <a:srgbClr val="6B7280"/>
                </a:solidFill>
                <a:latin typeface="Arial"/>
              </a:defRPr>
            </a:pPr>
            <a:r>
              <a:t>PRESENÇA NO TOP 3</a:t>
            </a:r>
          </a:p>
        </p:txBody>
      </p:sp>
      <p:sp>
        <p:nvSpPr>
          <p:cNvPr id="54" name="TextBox 53"/>
          <p:cNvSpPr txBox="1"/>
          <p:nvPr/>
        </p:nvSpPr>
        <p:spPr>
          <a:xfrm>
            <a:off x="9235440" y="1691640"/>
            <a:ext cx="2377440" cy="457200"/>
          </a:xfrm>
          <a:prstGeom prst="rect">
            <a:avLst/>
          </a:prstGeom>
          <a:noFill/>
        </p:spPr>
        <p:txBody>
          <a:bodyPr wrap="square">
            <a:spAutoFit/>
          </a:bodyPr>
          <a:lstStyle/>
          <a:p>
            <a:pPr>
              <a:defRPr sz="2800" b="1">
                <a:solidFill>
                  <a:srgbClr val="DC2626"/>
                </a:solidFill>
                <a:latin typeface="Arial"/>
              </a:defRPr>
            </a:pPr>
            <a:r>
              <a:t>20%</a:t>
            </a:r>
          </a:p>
        </p:txBody>
      </p:sp>
      <p:sp>
        <p:nvSpPr>
          <p:cNvPr id="55" name="TextBox 54"/>
          <p:cNvSpPr txBox="1"/>
          <p:nvPr/>
        </p:nvSpPr>
        <p:spPr>
          <a:xfrm>
            <a:off x="9235440" y="2148840"/>
            <a:ext cx="2377440" cy="320040"/>
          </a:xfrm>
          <a:prstGeom prst="rect">
            <a:avLst/>
          </a:prstGeom>
          <a:noFill/>
        </p:spPr>
        <p:txBody>
          <a:bodyPr wrap="square">
            <a:spAutoFit/>
          </a:bodyPr>
          <a:lstStyle/>
          <a:p>
            <a:pPr>
              <a:defRPr sz="800" b="0">
                <a:solidFill>
                  <a:srgbClr val="6B7280"/>
                </a:solidFill>
                <a:latin typeface="Arial"/>
              </a:defRPr>
            </a:pPr>
            <a:r>
              <a:t>Hapvida presente em apenas 2 das 10 keywords.</a:t>
            </a:r>
          </a:p>
        </p:txBody>
      </p:sp>
      <p:sp>
        <p:nvSpPr>
          <p:cNvPr id="56" name="Rounded Rectangle 55"/>
          <p:cNvSpPr/>
          <p:nvPr/>
        </p:nvSpPr>
        <p:spPr>
          <a:xfrm>
            <a:off x="9144000" y="2606040"/>
            <a:ext cx="2560320" cy="10972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235440" y="2651760"/>
            <a:ext cx="2377440" cy="228600"/>
          </a:xfrm>
          <a:prstGeom prst="rect">
            <a:avLst/>
          </a:prstGeom>
          <a:noFill/>
        </p:spPr>
        <p:txBody>
          <a:bodyPr wrap="square">
            <a:spAutoFit/>
          </a:bodyPr>
          <a:lstStyle/>
          <a:p>
            <a:pPr>
              <a:defRPr sz="800" b="1">
                <a:solidFill>
                  <a:srgbClr val="6B7280"/>
                </a:solidFill>
                <a:latin typeface="Arial"/>
              </a:defRPr>
            </a:pPr>
            <a:r>
              <a:t>GAP DE OPORTUNIDADE</a:t>
            </a:r>
          </a:p>
        </p:txBody>
      </p:sp>
      <p:sp>
        <p:nvSpPr>
          <p:cNvPr id="58" name="TextBox 57"/>
          <p:cNvSpPr txBox="1"/>
          <p:nvPr/>
        </p:nvSpPr>
        <p:spPr>
          <a:xfrm>
            <a:off x="9235440" y="2926080"/>
            <a:ext cx="2377440" cy="457200"/>
          </a:xfrm>
          <a:prstGeom prst="rect">
            <a:avLst/>
          </a:prstGeom>
          <a:noFill/>
        </p:spPr>
        <p:txBody>
          <a:bodyPr wrap="square">
            <a:spAutoFit/>
          </a:bodyPr>
          <a:lstStyle/>
          <a:p>
            <a:pPr>
              <a:defRPr sz="2800" b="1">
                <a:solidFill>
                  <a:srgbClr val="E87722"/>
                </a:solidFill>
                <a:latin typeface="Arial"/>
              </a:defRPr>
            </a:pPr>
            <a:r>
              <a:t>~160k</a:t>
            </a:r>
          </a:p>
        </p:txBody>
      </p:sp>
      <p:sp>
        <p:nvSpPr>
          <p:cNvPr id="59" name="TextBox 58"/>
          <p:cNvSpPr txBox="1"/>
          <p:nvPr/>
        </p:nvSpPr>
        <p:spPr>
          <a:xfrm>
            <a:off x="9235440" y="3383280"/>
            <a:ext cx="2377440" cy="320040"/>
          </a:xfrm>
          <a:prstGeom prst="rect">
            <a:avLst/>
          </a:prstGeom>
          <a:noFill/>
        </p:spPr>
        <p:txBody>
          <a:bodyPr wrap="square">
            <a:spAutoFit/>
          </a:bodyPr>
          <a:lstStyle/>
          <a:p>
            <a:pPr>
              <a:defRPr sz="800" b="0">
                <a:solidFill>
                  <a:srgbClr val="6B7280"/>
                </a:solidFill>
                <a:latin typeface="Arial"/>
              </a:defRPr>
            </a:pPr>
            <a:r>
              <a:t>Visitas mensais de alta intenção perdidas.</a:t>
            </a:r>
          </a:p>
        </p:txBody>
      </p:sp>
      <p:sp>
        <p:nvSpPr>
          <p:cNvPr id="60" name="TextBox 59"/>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Organic Research (Dez/2025). Nota: Keywords classificadas por intenção transacional.</a:t>
            </a:r>
          </a:p>
        </p:txBody>
      </p:sp>
      <p:sp>
        <p:nvSpPr>
          <p:cNvPr id="61" name="TextBox 60"/>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KEYWORDS INFORMACIONAIS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Topo de Funil &amp; Educação</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82880"/>
          </a:xfrm>
          <a:prstGeom prst="rect">
            <a:avLst/>
          </a:prstGeom>
          <a:noFill/>
        </p:spPr>
        <p:txBody>
          <a:bodyPr wrap="square">
            <a:spAutoFit/>
          </a:bodyPr>
          <a:lstStyle/>
          <a:p>
            <a:pPr>
              <a:defRPr sz="700" b="0">
                <a:solidFill>
                  <a:srgbClr val="6B7280"/>
                </a:solidFill>
                <a:latin typeface="Arial"/>
              </a:defRPr>
            </a:pPr>
            <a:r>
              <a:t>VOLUME TOTAL</a:t>
            </a:r>
          </a:p>
        </p:txBody>
      </p:sp>
      <p:sp>
        <p:nvSpPr>
          <p:cNvPr id="7" name="TextBox 6"/>
          <p:cNvSpPr txBox="1"/>
          <p:nvPr/>
        </p:nvSpPr>
        <p:spPr>
          <a:xfrm>
            <a:off x="9921240" y="502920"/>
            <a:ext cx="1737360" cy="457200"/>
          </a:xfrm>
          <a:prstGeom prst="rect">
            <a:avLst/>
          </a:prstGeom>
          <a:noFill/>
        </p:spPr>
        <p:txBody>
          <a:bodyPr wrap="square">
            <a:spAutoFit/>
          </a:bodyPr>
          <a:lstStyle/>
          <a:p>
            <a:pPr>
              <a:defRPr sz="1600" b="1">
                <a:solidFill>
                  <a:srgbClr val="059669"/>
                </a:solidFill>
                <a:latin typeface="Arial"/>
              </a:defRPr>
            </a:pPr>
            <a:r>
              <a:t>151.1k/mês</a:t>
            </a:r>
          </a:p>
        </p:txBody>
      </p:sp>
      <p:sp>
        <p:nvSpPr>
          <p:cNvPr id="8" name="Oval 7"/>
          <p:cNvSpPr/>
          <p:nvPr/>
        </p:nvSpPr>
        <p:spPr>
          <a:xfrm>
            <a:off x="457200" y="1764792"/>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365760" cy="274320"/>
          </a:xfrm>
          <a:prstGeom prst="rect">
            <a:avLst/>
          </a:prstGeom>
          <a:noFill/>
        </p:spPr>
        <p:txBody>
          <a:bodyPr wrap="square">
            <a:spAutoFit/>
          </a:bodyPr>
          <a:lstStyle/>
          <a:p>
            <a:pPr>
              <a:defRPr sz="900" b="0">
                <a:solidFill>
                  <a:srgbClr val="6B7280"/>
                </a:solidFill>
                <a:latin typeface="Arial"/>
              </a:defRPr>
            </a:pPr>
            <a:r>
              <a:t>01</a:t>
            </a:r>
          </a:p>
        </p:txBody>
      </p:sp>
      <p:sp>
        <p:nvSpPr>
          <p:cNvPr id="10" name="TextBox 9"/>
          <p:cNvSpPr txBox="1"/>
          <p:nvPr/>
        </p:nvSpPr>
        <p:spPr>
          <a:xfrm>
            <a:off x="1097280" y="1691640"/>
            <a:ext cx="2743200" cy="274320"/>
          </a:xfrm>
          <a:prstGeom prst="rect">
            <a:avLst/>
          </a:prstGeom>
          <a:noFill/>
        </p:spPr>
        <p:txBody>
          <a:bodyPr wrap="square">
            <a:spAutoFit/>
          </a:bodyPr>
          <a:lstStyle/>
          <a:p>
            <a:pPr>
              <a:defRPr sz="1000" b="0">
                <a:solidFill>
                  <a:srgbClr val="1A1A1A"/>
                </a:solidFill>
                <a:latin typeface="Arial"/>
              </a:defRPr>
            </a:pPr>
            <a:r>
              <a:t>melhor plano de saúde</a:t>
            </a:r>
          </a:p>
        </p:txBody>
      </p:sp>
      <p:sp>
        <p:nvSpPr>
          <p:cNvPr id="11" name="TextBox 10"/>
          <p:cNvSpPr txBox="1"/>
          <p:nvPr/>
        </p:nvSpPr>
        <p:spPr>
          <a:xfrm>
            <a:off x="4114800" y="1691640"/>
            <a:ext cx="914400" cy="274320"/>
          </a:xfrm>
          <a:prstGeom prst="rect">
            <a:avLst/>
          </a:prstGeom>
          <a:noFill/>
        </p:spPr>
        <p:txBody>
          <a:bodyPr wrap="square">
            <a:spAutoFit/>
          </a:bodyPr>
          <a:lstStyle/>
          <a:p>
            <a:pPr>
              <a:defRPr sz="1000" b="1">
                <a:solidFill>
                  <a:srgbClr val="1A3A6E"/>
                </a:solidFill>
                <a:latin typeface="Arial"/>
              </a:defRPr>
            </a:pPr>
            <a:r>
              <a:t>49.5k</a:t>
            </a:r>
          </a:p>
        </p:txBody>
      </p:sp>
      <p:sp>
        <p:nvSpPr>
          <p:cNvPr id="12" name="Oval 11"/>
          <p:cNvSpPr/>
          <p:nvPr/>
        </p:nvSpPr>
        <p:spPr>
          <a:xfrm>
            <a:off x="457200" y="2221992"/>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48840"/>
            <a:ext cx="365760" cy="274320"/>
          </a:xfrm>
          <a:prstGeom prst="rect">
            <a:avLst/>
          </a:prstGeom>
          <a:noFill/>
        </p:spPr>
        <p:txBody>
          <a:bodyPr wrap="square">
            <a:spAutoFit/>
          </a:bodyPr>
          <a:lstStyle/>
          <a:p>
            <a:pPr>
              <a:defRPr sz="900" b="0">
                <a:solidFill>
                  <a:srgbClr val="6B7280"/>
                </a:solidFill>
                <a:latin typeface="Arial"/>
              </a:defRPr>
            </a:pPr>
            <a:r>
              <a:t>02</a:t>
            </a:r>
          </a:p>
        </p:txBody>
      </p:sp>
      <p:sp>
        <p:nvSpPr>
          <p:cNvPr id="14" name="TextBox 13"/>
          <p:cNvSpPr txBox="1"/>
          <p:nvPr/>
        </p:nvSpPr>
        <p:spPr>
          <a:xfrm>
            <a:off x="1097280" y="2148840"/>
            <a:ext cx="2743200" cy="274320"/>
          </a:xfrm>
          <a:prstGeom prst="rect">
            <a:avLst/>
          </a:prstGeom>
          <a:noFill/>
        </p:spPr>
        <p:txBody>
          <a:bodyPr wrap="square">
            <a:spAutoFit/>
          </a:bodyPr>
          <a:lstStyle/>
          <a:p>
            <a:pPr>
              <a:defRPr sz="1000" b="0">
                <a:solidFill>
                  <a:srgbClr val="1A1A1A"/>
                </a:solidFill>
                <a:latin typeface="Arial"/>
              </a:defRPr>
            </a:pPr>
            <a:r>
              <a:t>como funciona plano</a:t>
            </a:r>
          </a:p>
        </p:txBody>
      </p:sp>
      <p:sp>
        <p:nvSpPr>
          <p:cNvPr id="15" name="TextBox 14"/>
          <p:cNvSpPr txBox="1"/>
          <p:nvPr/>
        </p:nvSpPr>
        <p:spPr>
          <a:xfrm>
            <a:off x="4114800" y="2148840"/>
            <a:ext cx="914400" cy="274320"/>
          </a:xfrm>
          <a:prstGeom prst="rect">
            <a:avLst/>
          </a:prstGeom>
          <a:noFill/>
        </p:spPr>
        <p:txBody>
          <a:bodyPr wrap="square">
            <a:spAutoFit/>
          </a:bodyPr>
          <a:lstStyle/>
          <a:p>
            <a:pPr>
              <a:defRPr sz="1000" b="1">
                <a:solidFill>
                  <a:srgbClr val="1A3A6E"/>
                </a:solidFill>
                <a:latin typeface="Arial"/>
              </a:defRPr>
            </a:pPr>
            <a:r>
              <a:t>22.2k</a:t>
            </a:r>
          </a:p>
        </p:txBody>
      </p:sp>
      <p:sp>
        <p:nvSpPr>
          <p:cNvPr id="16" name="Oval 15"/>
          <p:cNvSpPr/>
          <p:nvPr/>
        </p:nvSpPr>
        <p:spPr>
          <a:xfrm>
            <a:off x="457200" y="2679192"/>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606040"/>
            <a:ext cx="365760" cy="274320"/>
          </a:xfrm>
          <a:prstGeom prst="rect">
            <a:avLst/>
          </a:prstGeom>
          <a:noFill/>
        </p:spPr>
        <p:txBody>
          <a:bodyPr wrap="square">
            <a:spAutoFit/>
          </a:bodyPr>
          <a:lstStyle/>
          <a:p>
            <a:pPr>
              <a:defRPr sz="900" b="0">
                <a:solidFill>
                  <a:srgbClr val="6B7280"/>
                </a:solidFill>
                <a:latin typeface="Arial"/>
              </a:defRPr>
            </a:pPr>
            <a:r>
              <a:t>03</a:t>
            </a:r>
          </a:p>
        </p:txBody>
      </p:sp>
      <p:sp>
        <p:nvSpPr>
          <p:cNvPr id="18" name="TextBox 17"/>
          <p:cNvSpPr txBox="1"/>
          <p:nvPr/>
        </p:nvSpPr>
        <p:spPr>
          <a:xfrm>
            <a:off x="1097280" y="2606040"/>
            <a:ext cx="2743200" cy="274320"/>
          </a:xfrm>
          <a:prstGeom prst="rect">
            <a:avLst/>
          </a:prstGeom>
          <a:noFill/>
        </p:spPr>
        <p:txBody>
          <a:bodyPr wrap="square">
            <a:spAutoFit/>
          </a:bodyPr>
          <a:lstStyle/>
          <a:p>
            <a:pPr>
              <a:defRPr sz="1000" b="0">
                <a:solidFill>
                  <a:srgbClr val="1A1A1A"/>
                </a:solidFill>
                <a:latin typeface="Arial"/>
              </a:defRPr>
            </a:pPr>
            <a:r>
              <a:t>quanto custa plano</a:t>
            </a:r>
          </a:p>
        </p:txBody>
      </p:sp>
      <p:sp>
        <p:nvSpPr>
          <p:cNvPr id="19" name="TextBox 18"/>
          <p:cNvSpPr txBox="1"/>
          <p:nvPr/>
        </p:nvSpPr>
        <p:spPr>
          <a:xfrm>
            <a:off x="4114800" y="2606040"/>
            <a:ext cx="914400" cy="274320"/>
          </a:xfrm>
          <a:prstGeom prst="rect">
            <a:avLst/>
          </a:prstGeom>
          <a:noFill/>
        </p:spPr>
        <p:txBody>
          <a:bodyPr wrap="square">
            <a:spAutoFit/>
          </a:bodyPr>
          <a:lstStyle/>
          <a:p>
            <a:pPr>
              <a:defRPr sz="1000" b="1">
                <a:solidFill>
                  <a:srgbClr val="1A3A6E"/>
                </a:solidFill>
                <a:latin typeface="Arial"/>
              </a:defRPr>
            </a:pPr>
            <a:r>
              <a:t>18.1k</a:t>
            </a:r>
          </a:p>
        </p:txBody>
      </p:sp>
      <p:sp>
        <p:nvSpPr>
          <p:cNvPr id="20" name="Oval 19"/>
          <p:cNvSpPr/>
          <p:nvPr/>
        </p:nvSpPr>
        <p:spPr>
          <a:xfrm>
            <a:off x="457200" y="3136392"/>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063240"/>
            <a:ext cx="365760" cy="274320"/>
          </a:xfrm>
          <a:prstGeom prst="rect">
            <a:avLst/>
          </a:prstGeom>
          <a:noFill/>
        </p:spPr>
        <p:txBody>
          <a:bodyPr wrap="square">
            <a:spAutoFit/>
          </a:bodyPr>
          <a:lstStyle/>
          <a:p>
            <a:pPr>
              <a:defRPr sz="900" b="0">
                <a:solidFill>
                  <a:srgbClr val="6B7280"/>
                </a:solidFill>
                <a:latin typeface="Arial"/>
              </a:defRPr>
            </a:pPr>
            <a:r>
              <a:t>04</a:t>
            </a:r>
          </a:p>
        </p:txBody>
      </p:sp>
      <p:sp>
        <p:nvSpPr>
          <p:cNvPr id="22" name="TextBox 21"/>
          <p:cNvSpPr txBox="1"/>
          <p:nvPr/>
        </p:nvSpPr>
        <p:spPr>
          <a:xfrm>
            <a:off x="1097280" y="3063240"/>
            <a:ext cx="2743200" cy="274320"/>
          </a:xfrm>
          <a:prstGeom prst="rect">
            <a:avLst/>
          </a:prstGeom>
          <a:noFill/>
        </p:spPr>
        <p:txBody>
          <a:bodyPr wrap="square">
            <a:spAutoFit/>
          </a:bodyPr>
          <a:lstStyle/>
          <a:p>
            <a:pPr>
              <a:defRPr sz="1000" b="0">
                <a:solidFill>
                  <a:srgbClr val="1A1A1A"/>
                </a:solidFill>
                <a:latin typeface="Arial"/>
              </a:defRPr>
            </a:pPr>
            <a:r>
              <a:t>plano vs convênio</a:t>
            </a:r>
          </a:p>
        </p:txBody>
      </p:sp>
      <p:sp>
        <p:nvSpPr>
          <p:cNvPr id="23" name="TextBox 22"/>
          <p:cNvSpPr txBox="1"/>
          <p:nvPr/>
        </p:nvSpPr>
        <p:spPr>
          <a:xfrm>
            <a:off x="4114800" y="3063240"/>
            <a:ext cx="914400" cy="274320"/>
          </a:xfrm>
          <a:prstGeom prst="rect">
            <a:avLst/>
          </a:prstGeom>
          <a:noFill/>
        </p:spPr>
        <p:txBody>
          <a:bodyPr wrap="square">
            <a:spAutoFit/>
          </a:bodyPr>
          <a:lstStyle/>
          <a:p>
            <a:pPr>
              <a:defRPr sz="1000" b="1">
                <a:solidFill>
                  <a:srgbClr val="1A3A6E"/>
                </a:solidFill>
                <a:latin typeface="Arial"/>
              </a:defRPr>
            </a:pPr>
            <a:r>
              <a:t>14.8k</a:t>
            </a:r>
          </a:p>
        </p:txBody>
      </p:sp>
      <p:sp>
        <p:nvSpPr>
          <p:cNvPr id="24" name="Oval 23"/>
          <p:cNvSpPr/>
          <p:nvPr/>
        </p:nvSpPr>
        <p:spPr>
          <a:xfrm>
            <a:off x="457200" y="3593592"/>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520440"/>
            <a:ext cx="365760" cy="274320"/>
          </a:xfrm>
          <a:prstGeom prst="rect">
            <a:avLst/>
          </a:prstGeom>
          <a:noFill/>
        </p:spPr>
        <p:txBody>
          <a:bodyPr wrap="square">
            <a:spAutoFit/>
          </a:bodyPr>
          <a:lstStyle/>
          <a:p>
            <a:pPr>
              <a:defRPr sz="900" b="0">
                <a:solidFill>
                  <a:srgbClr val="6B7280"/>
                </a:solidFill>
                <a:latin typeface="Arial"/>
              </a:defRPr>
            </a:pPr>
            <a:r>
              <a:t>05</a:t>
            </a:r>
          </a:p>
        </p:txBody>
      </p:sp>
      <p:sp>
        <p:nvSpPr>
          <p:cNvPr id="26" name="TextBox 25"/>
          <p:cNvSpPr txBox="1"/>
          <p:nvPr/>
        </p:nvSpPr>
        <p:spPr>
          <a:xfrm>
            <a:off x="1097280" y="3520440"/>
            <a:ext cx="2743200" cy="274320"/>
          </a:xfrm>
          <a:prstGeom prst="rect">
            <a:avLst/>
          </a:prstGeom>
          <a:noFill/>
        </p:spPr>
        <p:txBody>
          <a:bodyPr wrap="square">
            <a:spAutoFit/>
          </a:bodyPr>
          <a:lstStyle/>
          <a:p>
            <a:pPr>
              <a:defRPr sz="1000" b="0">
                <a:solidFill>
                  <a:srgbClr val="1A1A1A"/>
                </a:solidFill>
                <a:latin typeface="Arial"/>
              </a:defRPr>
            </a:pPr>
            <a:r>
              <a:t>cobertura plano</a:t>
            </a:r>
          </a:p>
        </p:txBody>
      </p:sp>
      <p:sp>
        <p:nvSpPr>
          <p:cNvPr id="27" name="TextBox 26"/>
          <p:cNvSpPr txBox="1"/>
          <p:nvPr/>
        </p:nvSpPr>
        <p:spPr>
          <a:xfrm>
            <a:off x="4114800" y="3520440"/>
            <a:ext cx="914400" cy="274320"/>
          </a:xfrm>
          <a:prstGeom prst="rect">
            <a:avLst/>
          </a:prstGeom>
          <a:noFill/>
        </p:spPr>
        <p:txBody>
          <a:bodyPr wrap="square">
            <a:spAutoFit/>
          </a:bodyPr>
          <a:lstStyle/>
          <a:p>
            <a:pPr>
              <a:defRPr sz="1000" b="1">
                <a:solidFill>
                  <a:srgbClr val="1A3A6E"/>
                </a:solidFill>
                <a:latin typeface="Arial"/>
              </a:defRPr>
            </a:pPr>
            <a:r>
              <a:t>12.1k</a:t>
            </a:r>
          </a:p>
        </p:txBody>
      </p:sp>
      <p:sp>
        <p:nvSpPr>
          <p:cNvPr id="28" name="Rounded Rectangle 27"/>
          <p:cNvSpPr/>
          <p:nvPr/>
        </p:nvSpPr>
        <p:spPr>
          <a:xfrm>
            <a:off x="9144000" y="1371600"/>
            <a:ext cx="2560320" cy="128016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1417320"/>
            <a:ext cx="2377440" cy="228600"/>
          </a:xfrm>
          <a:prstGeom prst="rect">
            <a:avLst/>
          </a:prstGeom>
          <a:noFill/>
        </p:spPr>
        <p:txBody>
          <a:bodyPr wrap="square">
            <a:spAutoFit/>
          </a:bodyPr>
          <a:lstStyle/>
          <a:p>
            <a:pPr>
              <a:defRPr sz="800" b="1">
                <a:solidFill>
                  <a:srgbClr val="6B7280"/>
                </a:solidFill>
                <a:latin typeface="Arial"/>
              </a:defRPr>
            </a:pPr>
            <a:r>
              <a:t>PRESENÇA HAPVIDA</a:t>
            </a:r>
          </a:p>
        </p:txBody>
      </p:sp>
      <p:sp>
        <p:nvSpPr>
          <p:cNvPr id="30" name="TextBox 29"/>
          <p:cNvSpPr txBox="1"/>
          <p:nvPr/>
        </p:nvSpPr>
        <p:spPr>
          <a:xfrm>
            <a:off x="9235440" y="1691640"/>
            <a:ext cx="2377440" cy="548640"/>
          </a:xfrm>
          <a:prstGeom prst="rect">
            <a:avLst/>
          </a:prstGeom>
          <a:noFill/>
        </p:spPr>
        <p:txBody>
          <a:bodyPr wrap="square">
            <a:spAutoFit/>
          </a:bodyPr>
          <a:lstStyle/>
          <a:p>
            <a:pPr>
              <a:defRPr sz="3600" b="1">
                <a:solidFill>
                  <a:srgbClr val="DC2626"/>
                </a:solidFill>
                <a:latin typeface="Arial"/>
              </a:defRPr>
            </a:pPr>
            <a:r>
              <a:t>0%</a:t>
            </a:r>
          </a:p>
        </p:txBody>
      </p:sp>
      <p:sp>
        <p:nvSpPr>
          <p:cNvPr id="31" name="TextBox 30"/>
          <p:cNvSpPr txBox="1"/>
          <p:nvPr/>
        </p:nvSpPr>
        <p:spPr>
          <a:xfrm>
            <a:off x="9235440" y="2286000"/>
            <a:ext cx="2377440" cy="365760"/>
          </a:xfrm>
          <a:prstGeom prst="rect">
            <a:avLst/>
          </a:prstGeom>
          <a:noFill/>
        </p:spPr>
        <p:txBody>
          <a:bodyPr wrap="square">
            <a:spAutoFit/>
          </a:bodyPr>
          <a:lstStyle/>
          <a:p>
            <a:pPr>
              <a:defRPr sz="800" b="0">
                <a:solidFill>
                  <a:srgbClr val="6B7280"/>
                </a:solidFill>
                <a:latin typeface="Arial"/>
              </a:defRPr>
            </a:pPr>
            <a:r>
              <a:t>Ausente em todas as 10 principais buscas educativas.</a:t>
            </a:r>
          </a:p>
        </p:txBody>
      </p:sp>
      <p:sp>
        <p:nvSpPr>
          <p:cNvPr id="32" name="Rounded Rectangle 31"/>
          <p:cNvSpPr/>
          <p:nvPr/>
        </p:nvSpPr>
        <p:spPr>
          <a:xfrm>
            <a:off x="9144000" y="2834640"/>
            <a:ext cx="2560320" cy="128016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0" y="2880360"/>
            <a:ext cx="2377440" cy="228600"/>
          </a:xfrm>
          <a:prstGeom prst="rect">
            <a:avLst/>
          </a:prstGeom>
          <a:noFill/>
        </p:spPr>
        <p:txBody>
          <a:bodyPr wrap="square">
            <a:spAutoFit/>
          </a:bodyPr>
          <a:lstStyle/>
          <a:p>
            <a:pPr>
              <a:defRPr sz="800" b="1">
                <a:solidFill>
                  <a:srgbClr val="6B7280"/>
                </a:solidFill>
                <a:latin typeface="Arial"/>
              </a:defRPr>
            </a:pPr>
            <a:r>
              <a:t>VOLUME PERDIDO</a:t>
            </a:r>
          </a:p>
        </p:txBody>
      </p:sp>
      <p:sp>
        <p:nvSpPr>
          <p:cNvPr id="34" name="TextBox 33"/>
          <p:cNvSpPr txBox="1"/>
          <p:nvPr/>
        </p:nvSpPr>
        <p:spPr>
          <a:xfrm>
            <a:off x="9235440" y="3154680"/>
            <a:ext cx="2377440" cy="548640"/>
          </a:xfrm>
          <a:prstGeom prst="rect">
            <a:avLst/>
          </a:prstGeom>
          <a:noFill/>
        </p:spPr>
        <p:txBody>
          <a:bodyPr wrap="square">
            <a:spAutoFit/>
          </a:bodyPr>
          <a:lstStyle/>
          <a:p>
            <a:pPr>
              <a:defRPr sz="3600" b="1">
                <a:solidFill>
                  <a:srgbClr val="E87722"/>
                </a:solidFill>
                <a:latin typeface="Arial"/>
              </a:defRPr>
            </a:pPr>
            <a:r>
              <a:t>151k</a:t>
            </a:r>
          </a:p>
        </p:txBody>
      </p:sp>
      <p:sp>
        <p:nvSpPr>
          <p:cNvPr id="35" name="TextBox 34"/>
          <p:cNvSpPr txBox="1"/>
          <p:nvPr/>
        </p:nvSpPr>
        <p:spPr>
          <a:xfrm>
            <a:off x="9235440" y="3749039"/>
            <a:ext cx="2377440" cy="365760"/>
          </a:xfrm>
          <a:prstGeom prst="rect">
            <a:avLst/>
          </a:prstGeom>
          <a:noFill/>
        </p:spPr>
        <p:txBody>
          <a:bodyPr wrap="square">
            <a:spAutoFit/>
          </a:bodyPr>
          <a:lstStyle/>
          <a:p>
            <a:pPr>
              <a:defRPr sz="800" b="0">
                <a:solidFill>
                  <a:srgbClr val="6B7280"/>
                </a:solidFill>
                <a:latin typeface="Arial"/>
              </a:defRPr>
            </a:pPr>
            <a:r>
              <a:t>Tráfego topo de funil capturado por concorrentes.</a:t>
            </a:r>
          </a:p>
        </p:txBody>
      </p:sp>
      <p:sp>
        <p:nvSpPr>
          <p:cNvPr id="36" name="TextBox 35"/>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 SEMrush Organic Research (Dez/2025). Nota: Keywords de pesquisa/educação (Topo de Funil).</a:t>
            </a:r>
          </a:p>
        </p:txBody>
      </p:sp>
      <p:sp>
        <p:nvSpPr>
          <p:cNvPr id="37" name="TextBox 36"/>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KEYWORDS NAVEGACIONAIS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Top 10 Termos de Marca</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82880"/>
          </a:xfrm>
          <a:prstGeom prst="rect">
            <a:avLst/>
          </a:prstGeom>
          <a:noFill/>
        </p:spPr>
        <p:txBody>
          <a:bodyPr wrap="square">
            <a:spAutoFit/>
          </a:bodyPr>
          <a:lstStyle/>
          <a:p>
            <a:pPr>
              <a:defRPr sz="700" b="0">
                <a:solidFill>
                  <a:srgbClr val="6B7280"/>
                </a:solidFill>
                <a:latin typeface="Arial"/>
              </a:defRPr>
            </a:pPr>
            <a:r>
              <a:t>VOLUME TOTAL</a:t>
            </a:r>
          </a:p>
        </p:txBody>
      </p:sp>
      <p:sp>
        <p:nvSpPr>
          <p:cNvPr id="7" name="TextBox 6"/>
          <p:cNvSpPr txBox="1"/>
          <p:nvPr/>
        </p:nvSpPr>
        <p:spPr>
          <a:xfrm>
            <a:off x="9921240" y="502920"/>
            <a:ext cx="1737360" cy="457200"/>
          </a:xfrm>
          <a:prstGeom prst="rect">
            <a:avLst/>
          </a:prstGeom>
          <a:noFill/>
        </p:spPr>
        <p:txBody>
          <a:bodyPr wrap="square">
            <a:spAutoFit/>
          </a:bodyPr>
          <a:lstStyle/>
          <a:p>
            <a:pPr>
              <a:defRPr sz="1800" b="1">
                <a:solidFill>
                  <a:srgbClr val="1A3A6E"/>
                </a:solidFill>
                <a:latin typeface="Arial"/>
              </a:defRPr>
            </a:pPr>
            <a:r>
              <a:t>1.07M/mês</a:t>
            </a:r>
          </a:p>
        </p:txBody>
      </p:sp>
      <p:sp>
        <p:nvSpPr>
          <p:cNvPr id="8" name="TextBox 7"/>
          <p:cNvSpPr txBox="1"/>
          <p:nvPr/>
        </p:nvSpPr>
        <p:spPr>
          <a:xfrm>
            <a:off x="457200" y="1691640"/>
            <a:ext cx="365760" cy="274320"/>
          </a:xfrm>
          <a:prstGeom prst="rect">
            <a:avLst/>
          </a:prstGeom>
          <a:noFill/>
        </p:spPr>
        <p:txBody>
          <a:bodyPr wrap="square">
            <a:spAutoFit/>
          </a:bodyPr>
          <a:lstStyle/>
          <a:p>
            <a:pPr>
              <a:defRPr sz="900" b="0">
                <a:solidFill>
                  <a:srgbClr val="6B7280"/>
                </a:solidFill>
                <a:latin typeface="Arial"/>
              </a:defRPr>
            </a:pPr>
            <a:r>
              <a:t>01</a:t>
            </a:r>
          </a:p>
        </p:txBody>
      </p:sp>
      <p:sp>
        <p:nvSpPr>
          <p:cNvPr id="9" name="TextBox 8"/>
          <p:cNvSpPr txBox="1"/>
          <p:nvPr/>
        </p:nvSpPr>
        <p:spPr>
          <a:xfrm>
            <a:off x="914400" y="1691640"/>
            <a:ext cx="3200400" cy="274320"/>
          </a:xfrm>
          <a:prstGeom prst="rect">
            <a:avLst/>
          </a:prstGeom>
          <a:noFill/>
        </p:spPr>
        <p:txBody>
          <a:bodyPr wrap="square">
            <a:spAutoFit/>
          </a:bodyPr>
          <a:lstStyle/>
          <a:p>
            <a:pPr>
              <a:defRPr sz="1000" b="0">
                <a:solidFill>
                  <a:srgbClr val="1A1A1A"/>
                </a:solidFill>
                <a:latin typeface="Arial"/>
              </a:defRPr>
            </a:pPr>
            <a:r>
              <a:t>hapvida</a:t>
            </a:r>
          </a:p>
        </p:txBody>
      </p:sp>
      <p:sp>
        <p:nvSpPr>
          <p:cNvPr id="10" name="TextBox 9"/>
          <p:cNvSpPr txBox="1"/>
          <p:nvPr/>
        </p:nvSpPr>
        <p:spPr>
          <a:xfrm>
            <a:off x="4389120" y="1691640"/>
            <a:ext cx="914400" cy="274320"/>
          </a:xfrm>
          <a:prstGeom prst="rect">
            <a:avLst/>
          </a:prstGeom>
          <a:noFill/>
        </p:spPr>
        <p:txBody>
          <a:bodyPr wrap="square">
            <a:spAutoFit/>
          </a:bodyPr>
          <a:lstStyle/>
          <a:p>
            <a:pPr>
              <a:defRPr sz="1000" b="1">
                <a:solidFill>
                  <a:srgbClr val="1A3A6E"/>
                </a:solidFill>
                <a:latin typeface="Arial"/>
              </a:defRPr>
            </a:pPr>
            <a:r>
              <a:t>673.0k</a:t>
            </a:r>
          </a:p>
        </p:txBody>
      </p:sp>
      <p:sp>
        <p:nvSpPr>
          <p:cNvPr id="11" name="TextBox 10"/>
          <p:cNvSpPr txBox="1"/>
          <p:nvPr/>
        </p:nvSpPr>
        <p:spPr>
          <a:xfrm>
            <a:off x="5486400" y="1691640"/>
            <a:ext cx="1097280" cy="274320"/>
          </a:xfrm>
          <a:prstGeom prst="rect">
            <a:avLst/>
          </a:prstGeom>
          <a:noFill/>
        </p:spPr>
        <p:txBody>
          <a:bodyPr wrap="square">
            <a:spAutoFit/>
          </a:bodyPr>
          <a:lstStyle/>
          <a:p>
            <a:pPr>
              <a:defRPr sz="900" b="1">
                <a:solidFill>
                  <a:srgbClr val="059669"/>
                </a:solidFill>
                <a:latin typeface="Arial"/>
              </a:defRPr>
            </a:pPr>
            <a:r>
              <a:t>Hapvida</a:t>
            </a:r>
          </a:p>
        </p:txBody>
      </p:sp>
      <p:sp>
        <p:nvSpPr>
          <p:cNvPr id="12" name="TextBox 11"/>
          <p:cNvSpPr txBox="1"/>
          <p:nvPr/>
        </p:nvSpPr>
        <p:spPr>
          <a:xfrm>
            <a:off x="457200" y="2148840"/>
            <a:ext cx="365760" cy="274320"/>
          </a:xfrm>
          <a:prstGeom prst="rect">
            <a:avLst/>
          </a:prstGeom>
          <a:noFill/>
        </p:spPr>
        <p:txBody>
          <a:bodyPr wrap="square">
            <a:spAutoFit/>
          </a:bodyPr>
          <a:lstStyle/>
          <a:p>
            <a:pPr>
              <a:defRPr sz="900" b="0">
                <a:solidFill>
                  <a:srgbClr val="6B7280"/>
                </a:solidFill>
                <a:latin typeface="Arial"/>
              </a:defRPr>
            </a:pPr>
            <a:r>
              <a:t>02</a:t>
            </a:r>
          </a:p>
        </p:txBody>
      </p:sp>
      <p:sp>
        <p:nvSpPr>
          <p:cNvPr id="13" name="TextBox 12"/>
          <p:cNvSpPr txBox="1"/>
          <p:nvPr/>
        </p:nvSpPr>
        <p:spPr>
          <a:xfrm>
            <a:off x="914400" y="2148840"/>
            <a:ext cx="3200400" cy="274320"/>
          </a:xfrm>
          <a:prstGeom prst="rect">
            <a:avLst/>
          </a:prstGeom>
          <a:noFill/>
        </p:spPr>
        <p:txBody>
          <a:bodyPr wrap="square">
            <a:spAutoFit/>
          </a:bodyPr>
          <a:lstStyle/>
          <a:p>
            <a:pPr>
              <a:defRPr sz="1000" b="0">
                <a:solidFill>
                  <a:srgbClr val="1A1A1A"/>
                </a:solidFill>
                <a:latin typeface="Arial"/>
              </a:defRPr>
            </a:pPr>
            <a:r>
              <a:t>hapvida boleto</a:t>
            </a:r>
          </a:p>
        </p:txBody>
      </p:sp>
      <p:sp>
        <p:nvSpPr>
          <p:cNvPr id="14" name="TextBox 13"/>
          <p:cNvSpPr txBox="1"/>
          <p:nvPr/>
        </p:nvSpPr>
        <p:spPr>
          <a:xfrm>
            <a:off x="4389120" y="2148840"/>
            <a:ext cx="914400" cy="274320"/>
          </a:xfrm>
          <a:prstGeom prst="rect">
            <a:avLst/>
          </a:prstGeom>
          <a:noFill/>
        </p:spPr>
        <p:txBody>
          <a:bodyPr wrap="square">
            <a:spAutoFit/>
          </a:bodyPr>
          <a:lstStyle/>
          <a:p>
            <a:pPr>
              <a:defRPr sz="1000" b="1">
                <a:solidFill>
                  <a:srgbClr val="1A3A6E"/>
                </a:solidFill>
                <a:latin typeface="Arial"/>
              </a:defRPr>
            </a:pPr>
            <a:r>
              <a:t>74.0k</a:t>
            </a:r>
          </a:p>
        </p:txBody>
      </p:sp>
      <p:sp>
        <p:nvSpPr>
          <p:cNvPr id="15" name="TextBox 14"/>
          <p:cNvSpPr txBox="1"/>
          <p:nvPr/>
        </p:nvSpPr>
        <p:spPr>
          <a:xfrm>
            <a:off x="5486400" y="2148840"/>
            <a:ext cx="1097280" cy="274320"/>
          </a:xfrm>
          <a:prstGeom prst="rect">
            <a:avLst/>
          </a:prstGeom>
          <a:noFill/>
        </p:spPr>
        <p:txBody>
          <a:bodyPr wrap="square">
            <a:spAutoFit/>
          </a:bodyPr>
          <a:lstStyle/>
          <a:p>
            <a:pPr>
              <a:defRPr sz="900" b="1">
                <a:solidFill>
                  <a:srgbClr val="059669"/>
                </a:solidFill>
                <a:latin typeface="Arial"/>
              </a:defRPr>
            </a:pPr>
            <a:r>
              <a:t>Hapvida</a:t>
            </a:r>
          </a:p>
        </p:txBody>
      </p:sp>
      <p:sp>
        <p:nvSpPr>
          <p:cNvPr id="16" name="TextBox 15"/>
          <p:cNvSpPr txBox="1"/>
          <p:nvPr/>
        </p:nvSpPr>
        <p:spPr>
          <a:xfrm>
            <a:off x="457200" y="2606040"/>
            <a:ext cx="365760" cy="274320"/>
          </a:xfrm>
          <a:prstGeom prst="rect">
            <a:avLst/>
          </a:prstGeom>
          <a:noFill/>
        </p:spPr>
        <p:txBody>
          <a:bodyPr wrap="square">
            <a:spAutoFit/>
          </a:bodyPr>
          <a:lstStyle/>
          <a:p>
            <a:pPr>
              <a:defRPr sz="900" b="0">
                <a:solidFill>
                  <a:srgbClr val="6B7280"/>
                </a:solidFill>
                <a:latin typeface="Arial"/>
              </a:defRPr>
            </a:pPr>
            <a:r>
              <a:t>03</a:t>
            </a:r>
          </a:p>
        </p:txBody>
      </p:sp>
      <p:sp>
        <p:nvSpPr>
          <p:cNvPr id="17" name="TextBox 16"/>
          <p:cNvSpPr txBox="1"/>
          <p:nvPr/>
        </p:nvSpPr>
        <p:spPr>
          <a:xfrm>
            <a:off x="914400" y="2606040"/>
            <a:ext cx="3200400" cy="274320"/>
          </a:xfrm>
          <a:prstGeom prst="rect">
            <a:avLst/>
          </a:prstGeom>
          <a:noFill/>
        </p:spPr>
        <p:txBody>
          <a:bodyPr wrap="square">
            <a:spAutoFit/>
          </a:bodyPr>
          <a:lstStyle/>
          <a:p>
            <a:pPr>
              <a:defRPr sz="1000" b="0">
                <a:solidFill>
                  <a:srgbClr val="1A1A1A"/>
                </a:solidFill>
                <a:latin typeface="Arial"/>
              </a:defRPr>
            </a:pPr>
            <a:r>
              <a:t>hapvida marcar consulta</a:t>
            </a:r>
          </a:p>
        </p:txBody>
      </p:sp>
      <p:sp>
        <p:nvSpPr>
          <p:cNvPr id="18" name="TextBox 17"/>
          <p:cNvSpPr txBox="1"/>
          <p:nvPr/>
        </p:nvSpPr>
        <p:spPr>
          <a:xfrm>
            <a:off x="4389120" y="2606040"/>
            <a:ext cx="914400" cy="274320"/>
          </a:xfrm>
          <a:prstGeom prst="rect">
            <a:avLst/>
          </a:prstGeom>
          <a:noFill/>
        </p:spPr>
        <p:txBody>
          <a:bodyPr wrap="square">
            <a:spAutoFit/>
          </a:bodyPr>
          <a:lstStyle/>
          <a:p>
            <a:pPr>
              <a:defRPr sz="1000" b="1">
                <a:solidFill>
                  <a:srgbClr val="1A3A6E"/>
                </a:solidFill>
                <a:latin typeface="Arial"/>
              </a:defRPr>
            </a:pPr>
            <a:r>
              <a:t>74.0k</a:t>
            </a:r>
          </a:p>
        </p:txBody>
      </p:sp>
      <p:sp>
        <p:nvSpPr>
          <p:cNvPr id="19" name="TextBox 18"/>
          <p:cNvSpPr txBox="1"/>
          <p:nvPr/>
        </p:nvSpPr>
        <p:spPr>
          <a:xfrm>
            <a:off x="5486400" y="2606040"/>
            <a:ext cx="1097280" cy="274320"/>
          </a:xfrm>
          <a:prstGeom prst="rect">
            <a:avLst/>
          </a:prstGeom>
          <a:noFill/>
        </p:spPr>
        <p:txBody>
          <a:bodyPr wrap="square">
            <a:spAutoFit/>
          </a:bodyPr>
          <a:lstStyle/>
          <a:p>
            <a:pPr>
              <a:defRPr sz="900" b="1">
                <a:solidFill>
                  <a:srgbClr val="059669"/>
                </a:solidFill>
                <a:latin typeface="Arial"/>
              </a:defRPr>
            </a:pPr>
            <a:r>
              <a:t>Hapvida</a:t>
            </a:r>
          </a:p>
        </p:txBody>
      </p:sp>
      <p:sp>
        <p:nvSpPr>
          <p:cNvPr id="20" name="TextBox 19"/>
          <p:cNvSpPr txBox="1"/>
          <p:nvPr/>
        </p:nvSpPr>
        <p:spPr>
          <a:xfrm>
            <a:off x="457200" y="3063240"/>
            <a:ext cx="365760" cy="274320"/>
          </a:xfrm>
          <a:prstGeom prst="rect">
            <a:avLst/>
          </a:prstGeom>
          <a:noFill/>
        </p:spPr>
        <p:txBody>
          <a:bodyPr wrap="square">
            <a:spAutoFit/>
          </a:bodyPr>
          <a:lstStyle/>
          <a:p>
            <a:pPr>
              <a:defRPr sz="900" b="0">
                <a:solidFill>
                  <a:srgbClr val="6B7280"/>
                </a:solidFill>
                <a:latin typeface="Arial"/>
              </a:defRPr>
            </a:pPr>
            <a:r>
              <a:t>04</a:t>
            </a:r>
          </a:p>
        </p:txBody>
      </p:sp>
      <p:sp>
        <p:nvSpPr>
          <p:cNvPr id="21" name="TextBox 20"/>
          <p:cNvSpPr txBox="1"/>
          <p:nvPr/>
        </p:nvSpPr>
        <p:spPr>
          <a:xfrm>
            <a:off x="914400" y="3063240"/>
            <a:ext cx="3200400" cy="274320"/>
          </a:xfrm>
          <a:prstGeom prst="rect">
            <a:avLst/>
          </a:prstGeom>
          <a:noFill/>
        </p:spPr>
        <p:txBody>
          <a:bodyPr wrap="square">
            <a:spAutoFit/>
          </a:bodyPr>
          <a:lstStyle/>
          <a:p>
            <a:pPr>
              <a:defRPr sz="1000" b="0">
                <a:solidFill>
                  <a:srgbClr val="1A1A1A"/>
                </a:solidFill>
                <a:latin typeface="Arial"/>
              </a:defRPr>
            </a:pPr>
            <a:r>
              <a:t>hapvida consulta</a:t>
            </a:r>
          </a:p>
        </p:txBody>
      </p:sp>
      <p:sp>
        <p:nvSpPr>
          <p:cNvPr id="22" name="TextBox 21"/>
          <p:cNvSpPr txBox="1"/>
          <p:nvPr/>
        </p:nvSpPr>
        <p:spPr>
          <a:xfrm>
            <a:off x="4389120" y="3063240"/>
            <a:ext cx="914400" cy="274320"/>
          </a:xfrm>
          <a:prstGeom prst="rect">
            <a:avLst/>
          </a:prstGeom>
          <a:noFill/>
        </p:spPr>
        <p:txBody>
          <a:bodyPr wrap="square">
            <a:spAutoFit/>
          </a:bodyPr>
          <a:lstStyle/>
          <a:p>
            <a:pPr>
              <a:defRPr sz="1000" b="1">
                <a:solidFill>
                  <a:srgbClr val="1A3A6E"/>
                </a:solidFill>
                <a:latin typeface="Arial"/>
              </a:defRPr>
            </a:pPr>
            <a:r>
              <a:t>60.5k</a:t>
            </a:r>
          </a:p>
        </p:txBody>
      </p:sp>
      <p:sp>
        <p:nvSpPr>
          <p:cNvPr id="23" name="TextBox 22"/>
          <p:cNvSpPr txBox="1"/>
          <p:nvPr/>
        </p:nvSpPr>
        <p:spPr>
          <a:xfrm>
            <a:off x="5486400" y="3063240"/>
            <a:ext cx="1097280" cy="274320"/>
          </a:xfrm>
          <a:prstGeom prst="rect">
            <a:avLst/>
          </a:prstGeom>
          <a:noFill/>
        </p:spPr>
        <p:txBody>
          <a:bodyPr wrap="square">
            <a:spAutoFit/>
          </a:bodyPr>
          <a:lstStyle/>
          <a:p>
            <a:pPr>
              <a:defRPr sz="900" b="1">
                <a:solidFill>
                  <a:srgbClr val="059669"/>
                </a:solidFill>
                <a:latin typeface="Arial"/>
              </a:defRPr>
            </a:pPr>
            <a:r>
              <a:t>Hapvida</a:t>
            </a:r>
          </a:p>
        </p:txBody>
      </p:sp>
      <p:sp>
        <p:nvSpPr>
          <p:cNvPr id="24" name="TextBox 23"/>
          <p:cNvSpPr txBox="1"/>
          <p:nvPr/>
        </p:nvSpPr>
        <p:spPr>
          <a:xfrm>
            <a:off x="457200" y="3520440"/>
            <a:ext cx="365760" cy="274320"/>
          </a:xfrm>
          <a:prstGeom prst="rect">
            <a:avLst/>
          </a:prstGeom>
          <a:noFill/>
        </p:spPr>
        <p:txBody>
          <a:bodyPr wrap="square">
            <a:spAutoFit/>
          </a:bodyPr>
          <a:lstStyle/>
          <a:p>
            <a:pPr>
              <a:defRPr sz="900" b="0">
                <a:solidFill>
                  <a:srgbClr val="6B7280"/>
                </a:solidFill>
                <a:latin typeface="Arial"/>
              </a:defRPr>
            </a:pPr>
            <a:r>
              <a:t>05</a:t>
            </a:r>
          </a:p>
        </p:txBody>
      </p:sp>
      <p:sp>
        <p:nvSpPr>
          <p:cNvPr id="25" name="TextBox 24"/>
          <p:cNvSpPr txBox="1"/>
          <p:nvPr/>
        </p:nvSpPr>
        <p:spPr>
          <a:xfrm>
            <a:off x="914400" y="3520440"/>
            <a:ext cx="3200400" cy="274320"/>
          </a:xfrm>
          <a:prstGeom prst="rect">
            <a:avLst/>
          </a:prstGeom>
          <a:noFill/>
        </p:spPr>
        <p:txBody>
          <a:bodyPr wrap="square">
            <a:spAutoFit/>
          </a:bodyPr>
          <a:lstStyle/>
          <a:p>
            <a:pPr>
              <a:defRPr sz="1000" b="0">
                <a:solidFill>
                  <a:srgbClr val="1A1A1A"/>
                </a:solidFill>
                <a:latin typeface="Arial"/>
              </a:defRPr>
            </a:pPr>
            <a:r>
              <a:t>hapvida exames</a:t>
            </a:r>
          </a:p>
        </p:txBody>
      </p:sp>
      <p:sp>
        <p:nvSpPr>
          <p:cNvPr id="26" name="TextBox 25"/>
          <p:cNvSpPr txBox="1"/>
          <p:nvPr/>
        </p:nvSpPr>
        <p:spPr>
          <a:xfrm>
            <a:off x="4389120" y="3520440"/>
            <a:ext cx="914400" cy="274320"/>
          </a:xfrm>
          <a:prstGeom prst="rect">
            <a:avLst/>
          </a:prstGeom>
          <a:noFill/>
        </p:spPr>
        <p:txBody>
          <a:bodyPr wrap="square">
            <a:spAutoFit/>
          </a:bodyPr>
          <a:lstStyle/>
          <a:p>
            <a:pPr>
              <a:defRPr sz="1000" b="1">
                <a:solidFill>
                  <a:srgbClr val="1A3A6E"/>
                </a:solidFill>
                <a:latin typeface="Arial"/>
              </a:defRPr>
            </a:pPr>
            <a:r>
              <a:t>49.5k</a:t>
            </a:r>
          </a:p>
        </p:txBody>
      </p:sp>
      <p:sp>
        <p:nvSpPr>
          <p:cNvPr id="27" name="TextBox 26"/>
          <p:cNvSpPr txBox="1"/>
          <p:nvPr/>
        </p:nvSpPr>
        <p:spPr>
          <a:xfrm>
            <a:off x="5486400" y="3520440"/>
            <a:ext cx="1097280" cy="274320"/>
          </a:xfrm>
          <a:prstGeom prst="rect">
            <a:avLst/>
          </a:prstGeom>
          <a:noFill/>
        </p:spPr>
        <p:txBody>
          <a:bodyPr wrap="square">
            <a:spAutoFit/>
          </a:bodyPr>
          <a:lstStyle/>
          <a:p>
            <a:pPr>
              <a:defRPr sz="900" b="1">
                <a:solidFill>
                  <a:srgbClr val="059669"/>
                </a:solidFill>
                <a:latin typeface="Arial"/>
              </a:defRPr>
            </a:pPr>
            <a:r>
              <a:t>Hapvida</a:t>
            </a:r>
          </a:p>
        </p:txBody>
      </p:sp>
      <p:sp>
        <p:nvSpPr>
          <p:cNvPr id="28" name="Rounded Rectangle 27"/>
          <p:cNvSpPr/>
          <p:nvPr/>
        </p:nvSpPr>
        <p:spPr>
          <a:xfrm>
            <a:off x="9144000" y="1371600"/>
            <a:ext cx="2560320" cy="10972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1417320"/>
            <a:ext cx="2377440" cy="228600"/>
          </a:xfrm>
          <a:prstGeom prst="rect">
            <a:avLst/>
          </a:prstGeom>
          <a:noFill/>
        </p:spPr>
        <p:txBody>
          <a:bodyPr wrap="square">
            <a:spAutoFit/>
          </a:bodyPr>
          <a:lstStyle/>
          <a:p>
            <a:pPr>
              <a:defRPr sz="800" b="1">
                <a:solidFill>
                  <a:srgbClr val="6B7280"/>
                </a:solidFill>
                <a:latin typeface="Arial"/>
              </a:defRPr>
            </a:pPr>
            <a:r>
              <a:t>DOMINÂNCIA TOP 3</a:t>
            </a:r>
          </a:p>
        </p:txBody>
      </p:sp>
      <p:sp>
        <p:nvSpPr>
          <p:cNvPr id="30" name="TextBox 29"/>
          <p:cNvSpPr txBox="1"/>
          <p:nvPr/>
        </p:nvSpPr>
        <p:spPr>
          <a:xfrm>
            <a:off x="9235440" y="1691640"/>
            <a:ext cx="2377440" cy="457200"/>
          </a:xfrm>
          <a:prstGeom prst="rect">
            <a:avLst/>
          </a:prstGeom>
          <a:noFill/>
        </p:spPr>
        <p:txBody>
          <a:bodyPr wrap="square">
            <a:spAutoFit/>
          </a:bodyPr>
          <a:lstStyle/>
          <a:p>
            <a:pPr>
              <a:defRPr sz="2800" b="1">
                <a:solidFill>
                  <a:srgbClr val="059669"/>
                </a:solidFill>
                <a:latin typeface="Arial"/>
              </a:defRPr>
            </a:pPr>
            <a:r>
              <a:t>100%</a:t>
            </a:r>
          </a:p>
        </p:txBody>
      </p:sp>
      <p:sp>
        <p:nvSpPr>
          <p:cNvPr id="31" name="TextBox 30"/>
          <p:cNvSpPr txBox="1"/>
          <p:nvPr/>
        </p:nvSpPr>
        <p:spPr>
          <a:xfrm>
            <a:off x="9235440" y="2148840"/>
            <a:ext cx="2377440" cy="320040"/>
          </a:xfrm>
          <a:prstGeom prst="rect">
            <a:avLst/>
          </a:prstGeom>
          <a:noFill/>
        </p:spPr>
        <p:txBody>
          <a:bodyPr wrap="square">
            <a:spAutoFit/>
          </a:bodyPr>
          <a:lstStyle/>
          <a:p>
            <a:pPr>
              <a:defRPr sz="800" b="0">
                <a:solidFill>
                  <a:srgbClr val="6B7280"/>
                </a:solidFill>
                <a:latin typeface="Arial"/>
              </a:defRPr>
            </a:pPr>
            <a:r>
              <a:t>Blindagem total em buscas de marca.</a:t>
            </a:r>
          </a:p>
        </p:txBody>
      </p:sp>
      <p:sp>
        <p:nvSpPr>
          <p:cNvPr id="32" name="Rounded Rectangle 31"/>
          <p:cNvSpPr/>
          <p:nvPr/>
        </p:nvSpPr>
        <p:spPr>
          <a:xfrm>
            <a:off x="9144000" y="2606040"/>
            <a:ext cx="2560320" cy="16459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0" y="2651760"/>
            <a:ext cx="2377440" cy="228600"/>
          </a:xfrm>
          <a:prstGeom prst="rect">
            <a:avLst/>
          </a:prstGeom>
          <a:noFill/>
        </p:spPr>
        <p:txBody>
          <a:bodyPr wrap="square">
            <a:spAutoFit/>
          </a:bodyPr>
          <a:lstStyle/>
          <a:p>
            <a:pPr>
              <a:defRPr sz="800" b="1">
                <a:solidFill>
                  <a:srgbClr val="6B7280"/>
                </a:solidFill>
                <a:latin typeface="Arial"/>
              </a:defRPr>
            </a:pPr>
            <a:r>
              <a:t>DEFESA VS ATAQUE</a:t>
            </a:r>
          </a:p>
        </p:txBody>
      </p:sp>
      <p:sp>
        <p:nvSpPr>
          <p:cNvPr id="34" name="TextBox 33"/>
          <p:cNvSpPr txBox="1"/>
          <p:nvPr/>
        </p:nvSpPr>
        <p:spPr>
          <a:xfrm>
            <a:off x="9875520" y="3108960"/>
            <a:ext cx="1097280" cy="548640"/>
          </a:xfrm>
          <a:prstGeom prst="rect">
            <a:avLst/>
          </a:prstGeom>
          <a:noFill/>
        </p:spPr>
        <p:txBody>
          <a:bodyPr wrap="square">
            <a:spAutoFit/>
          </a:bodyPr>
          <a:lstStyle/>
          <a:p>
            <a:pPr algn="ctr">
              <a:defRPr sz="3200" b="1">
                <a:solidFill>
                  <a:srgbClr val="1A3A6E"/>
                </a:solidFill>
                <a:latin typeface="Arial"/>
              </a:defRPr>
            </a:pPr>
            <a:r>
              <a:t>47%</a:t>
            </a:r>
          </a:p>
        </p:txBody>
      </p:sp>
      <p:sp>
        <p:nvSpPr>
          <p:cNvPr id="35" name="TextBox 34"/>
          <p:cNvSpPr txBox="1"/>
          <p:nvPr/>
        </p:nvSpPr>
        <p:spPr>
          <a:xfrm>
            <a:off x="9235440" y="3794760"/>
            <a:ext cx="2377440" cy="411480"/>
          </a:xfrm>
          <a:prstGeom prst="rect">
            <a:avLst/>
          </a:prstGeom>
          <a:noFill/>
        </p:spPr>
        <p:txBody>
          <a:bodyPr wrap="square">
            <a:spAutoFit/>
          </a:bodyPr>
          <a:lstStyle/>
          <a:p>
            <a:pPr>
              <a:defRPr sz="800" b="0">
                <a:solidFill>
                  <a:srgbClr val="6B7280"/>
                </a:solidFill>
                <a:latin typeface="Arial"/>
              </a:defRPr>
            </a:pPr>
            <a:r>
              <a:t>47% do tráfego é retenção (defensivo).</a:t>
            </a:r>
          </a:p>
        </p:txBody>
      </p:sp>
      <p:sp>
        <p:nvSpPr>
          <p:cNvPr id="36" name="Rounded Rectangle 35"/>
          <p:cNvSpPr/>
          <p:nvPr/>
        </p:nvSpPr>
        <p:spPr>
          <a:xfrm>
            <a:off x="9144000" y="4389120"/>
            <a:ext cx="2560320" cy="1280160"/>
          </a:xfrm>
          <a:prstGeom prst="roundRect">
            <a:avLst/>
          </a:prstGeom>
          <a:solidFill>
            <a:srgbClr val="DCFCE7"/>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0" y="4434840"/>
            <a:ext cx="2377440" cy="228600"/>
          </a:xfrm>
          <a:prstGeom prst="rect">
            <a:avLst/>
          </a:prstGeom>
          <a:noFill/>
        </p:spPr>
        <p:txBody>
          <a:bodyPr wrap="square">
            <a:spAutoFit/>
          </a:bodyPr>
          <a:lstStyle/>
          <a:p>
            <a:pPr>
              <a:defRPr sz="900" b="1">
                <a:solidFill>
                  <a:srgbClr val="059669"/>
                </a:solidFill>
                <a:latin typeface="Arial"/>
              </a:defRPr>
            </a:pPr>
            <a:r>
              <a:t>💡 Insight Crítico</a:t>
            </a:r>
          </a:p>
        </p:txBody>
      </p:sp>
      <p:sp>
        <p:nvSpPr>
          <p:cNvPr id="38" name="TextBox 37"/>
          <p:cNvSpPr txBox="1"/>
          <p:nvPr/>
        </p:nvSpPr>
        <p:spPr>
          <a:xfrm>
            <a:off x="9235440" y="4709160"/>
            <a:ext cx="2377440" cy="822960"/>
          </a:xfrm>
          <a:prstGeom prst="rect">
            <a:avLst/>
          </a:prstGeom>
          <a:noFill/>
        </p:spPr>
        <p:txBody>
          <a:bodyPr wrap="square">
            <a:spAutoFit/>
          </a:bodyPr>
          <a:lstStyle/>
          <a:p>
            <a:pPr>
              <a:defRPr sz="800" b="0">
                <a:solidFill>
                  <a:srgbClr val="1A1A1A"/>
                </a:solidFill>
                <a:latin typeface="Arial"/>
              </a:defRPr>
            </a:pPr>
            <a:r>
              <a:t>Excelente branding, mas baixo potencial de novos clientes líquidos sem keywords genéricas. Tráfego de manutenção.</a:t>
            </a:r>
          </a:p>
        </p:txBody>
      </p:sp>
      <p:sp>
        <p:nvSpPr>
          <p:cNvPr id="39" name="TextBox 38"/>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 SEMrush Organic Research (Dez/2025). Nota: Keywords de intenção navegacional (Marca).</a:t>
            </a:r>
          </a:p>
        </p:txBody>
      </p:sp>
      <p:sp>
        <p:nvSpPr>
          <p:cNvPr id="40" name="TextBox 39"/>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ANÁLISE DE ROAS &amp; ESFORÇO</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Matriz de Decisão por Categoria</a:t>
            </a:r>
          </a:p>
        </p:txBody>
      </p:sp>
      <p:sp>
        <p:nvSpPr>
          <p:cNvPr id="5" name="Rounded Rectangle 4"/>
          <p:cNvSpPr/>
          <p:nvPr/>
        </p:nvSpPr>
        <p:spPr>
          <a:xfrm>
            <a:off x="457200" y="1280160"/>
            <a:ext cx="3657600" cy="457200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371600"/>
            <a:ext cx="1188720" cy="274320"/>
          </a:xfrm>
          <a:prstGeom prst="round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1389888"/>
            <a:ext cx="1188720" cy="256032"/>
          </a:xfrm>
          <a:prstGeom prst="rect">
            <a:avLst/>
          </a:prstGeom>
          <a:noFill/>
        </p:spPr>
        <p:txBody>
          <a:bodyPr wrap="square">
            <a:spAutoFit/>
          </a:bodyPr>
          <a:lstStyle/>
          <a:p>
            <a:pPr algn="ctr">
              <a:defRPr sz="700" b="1">
                <a:solidFill>
                  <a:srgbClr val="FFFFFF"/>
                </a:solidFill>
                <a:latin typeface="Arial"/>
              </a:defRPr>
            </a:pPr>
            <a:r>
              <a:t>↑ CRÍTICO</a:t>
            </a:r>
          </a:p>
        </p:txBody>
      </p:sp>
      <p:sp>
        <p:nvSpPr>
          <p:cNvPr id="8" name="TextBox 7"/>
          <p:cNvSpPr txBox="1"/>
          <p:nvPr/>
        </p:nvSpPr>
        <p:spPr>
          <a:xfrm>
            <a:off x="594360" y="1417320"/>
            <a:ext cx="2194560" cy="320040"/>
          </a:xfrm>
          <a:prstGeom prst="rect">
            <a:avLst/>
          </a:prstGeom>
          <a:noFill/>
        </p:spPr>
        <p:txBody>
          <a:bodyPr wrap="square">
            <a:spAutoFit/>
          </a:bodyPr>
          <a:lstStyle/>
          <a:p>
            <a:pPr>
              <a:defRPr sz="1400" b="1">
                <a:solidFill>
                  <a:srgbClr val="E87722"/>
                </a:solidFill>
                <a:latin typeface="Arial"/>
              </a:defRPr>
            </a:pPr>
            <a:r>
              <a:t>Transacionais</a:t>
            </a:r>
          </a:p>
        </p:txBody>
      </p:sp>
      <p:sp>
        <p:nvSpPr>
          <p:cNvPr id="9" name="TextBox 8"/>
          <p:cNvSpPr txBox="1"/>
          <p:nvPr/>
        </p:nvSpPr>
        <p:spPr>
          <a:xfrm>
            <a:off x="594360" y="1737360"/>
            <a:ext cx="3383280" cy="228600"/>
          </a:xfrm>
          <a:prstGeom prst="rect">
            <a:avLst/>
          </a:prstGeom>
          <a:noFill/>
        </p:spPr>
        <p:txBody>
          <a:bodyPr wrap="square">
            <a:spAutoFit/>
          </a:bodyPr>
          <a:lstStyle/>
          <a:p>
            <a:pPr>
              <a:defRPr sz="800" b="1">
                <a:solidFill>
                  <a:srgbClr val="6B7280"/>
                </a:solidFill>
                <a:latin typeface="Arial"/>
              </a:defRPr>
            </a:pPr>
            <a:r>
              <a:t>SWEET SPOT • QUICK WINS</a:t>
            </a:r>
          </a:p>
        </p:txBody>
      </p:sp>
      <p:sp>
        <p:nvSpPr>
          <p:cNvPr id="10" name="TextBox 9"/>
          <p:cNvSpPr txBox="1"/>
          <p:nvPr/>
        </p:nvSpPr>
        <p:spPr>
          <a:xfrm>
            <a:off x="594360" y="2103120"/>
            <a:ext cx="1554480" cy="182880"/>
          </a:xfrm>
          <a:prstGeom prst="rect">
            <a:avLst/>
          </a:prstGeom>
          <a:noFill/>
        </p:spPr>
        <p:txBody>
          <a:bodyPr wrap="square">
            <a:spAutoFit/>
          </a:bodyPr>
          <a:lstStyle/>
          <a:p>
            <a:pPr>
              <a:defRPr sz="800" b="0">
                <a:solidFill>
                  <a:srgbClr val="6B7280"/>
                </a:solidFill>
                <a:latin typeface="Arial"/>
              </a:defRPr>
            </a:pPr>
            <a:r>
              <a:t>📈 ROAS</a:t>
            </a:r>
          </a:p>
        </p:txBody>
      </p:sp>
      <p:sp>
        <p:nvSpPr>
          <p:cNvPr id="11" name="TextBox 10"/>
          <p:cNvSpPr txBox="1"/>
          <p:nvPr/>
        </p:nvSpPr>
        <p:spPr>
          <a:xfrm>
            <a:off x="594360" y="2286000"/>
            <a:ext cx="1554480" cy="320040"/>
          </a:xfrm>
          <a:prstGeom prst="rect">
            <a:avLst/>
          </a:prstGeom>
          <a:noFill/>
        </p:spPr>
        <p:txBody>
          <a:bodyPr wrap="square">
            <a:spAutoFit/>
          </a:bodyPr>
          <a:lstStyle/>
          <a:p>
            <a:pPr>
              <a:defRPr sz="1600" b="1">
                <a:solidFill>
                  <a:srgbClr val="E87722"/>
                </a:solidFill>
                <a:latin typeface="Arial"/>
              </a:defRPr>
            </a:pPr>
            <a:r>
              <a:t>5-8x</a:t>
            </a:r>
          </a:p>
        </p:txBody>
      </p:sp>
      <p:sp>
        <p:nvSpPr>
          <p:cNvPr id="12" name="TextBox 11"/>
          <p:cNvSpPr txBox="1"/>
          <p:nvPr/>
        </p:nvSpPr>
        <p:spPr>
          <a:xfrm>
            <a:off x="2286000" y="2103120"/>
            <a:ext cx="1554480" cy="182880"/>
          </a:xfrm>
          <a:prstGeom prst="rect">
            <a:avLst/>
          </a:prstGeom>
          <a:noFill/>
        </p:spPr>
        <p:txBody>
          <a:bodyPr wrap="square">
            <a:spAutoFit/>
          </a:bodyPr>
          <a:lstStyle/>
          <a:p>
            <a:pPr>
              <a:defRPr sz="800" b="0">
                <a:solidFill>
                  <a:srgbClr val="6B7280"/>
                </a:solidFill>
                <a:latin typeface="Arial"/>
              </a:defRPr>
            </a:pPr>
            <a:r>
              <a:t>% CVR</a:t>
            </a:r>
          </a:p>
        </p:txBody>
      </p:sp>
      <p:sp>
        <p:nvSpPr>
          <p:cNvPr id="13" name="TextBox 12"/>
          <p:cNvSpPr txBox="1"/>
          <p:nvPr/>
        </p:nvSpPr>
        <p:spPr>
          <a:xfrm>
            <a:off x="2286000" y="2286000"/>
            <a:ext cx="1554480" cy="320040"/>
          </a:xfrm>
          <a:prstGeom prst="rect">
            <a:avLst/>
          </a:prstGeom>
          <a:noFill/>
        </p:spPr>
        <p:txBody>
          <a:bodyPr wrap="square">
            <a:spAutoFit/>
          </a:bodyPr>
          <a:lstStyle/>
          <a:p>
            <a:pPr>
              <a:defRPr sz="1600" b="1">
                <a:solidFill>
                  <a:srgbClr val="E87722"/>
                </a:solidFill>
                <a:latin typeface="Arial"/>
              </a:defRPr>
            </a:pPr>
            <a:r>
              <a:t>2.0%</a:t>
            </a:r>
          </a:p>
        </p:txBody>
      </p:sp>
      <p:sp>
        <p:nvSpPr>
          <p:cNvPr id="14" name="TextBox 13"/>
          <p:cNvSpPr txBox="1"/>
          <p:nvPr/>
        </p:nvSpPr>
        <p:spPr>
          <a:xfrm>
            <a:off x="594360" y="2743200"/>
            <a:ext cx="1554480" cy="182880"/>
          </a:xfrm>
          <a:prstGeom prst="rect">
            <a:avLst/>
          </a:prstGeom>
          <a:noFill/>
        </p:spPr>
        <p:txBody>
          <a:bodyPr wrap="square">
            <a:spAutoFit/>
          </a:bodyPr>
          <a:lstStyle/>
          <a:p>
            <a:pPr>
              <a:defRPr sz="800" b="0">
                <a:solidFill>
                  <a:srgbClr val="6B7280"/>
                </a:solidFill>
                <a:latin typeface="Arial"/>
              </a:defRPr>
            </a:pPr>
            <a:r>
              <a:t>ESFORÇO CONV.</a:t>
            </a:r>
          </a:p>
        </p:txBody>
      </p:sp>
      <p:sp>
        <p:nvSpPr>
          <p:cNvPr id="15" name="TextBox 14"/>
          <p:cNvSpPr txBox="1"/>
          <p:nvPr/>
        </p:nvSpPr>
        <p:spPr>
          <a:xfrm>
            <a:off x="594360" y="2926080"/>
            <a:ext cx="1554480" cy="228600"/>
          </a:xfrm>
          <a:prstGeom prst="rect">
            <a:avLst/>
          </a:prstGeom>
          <a:noFill/>
        </p:spPr>
        <p:txBody>
          <a:bodyPr wrap="square">
            <a:spAutoFit/>
          </a:bodyPr>
          <a:lstStyle/>
          <a:p>
            <a:pPr>
              <a:defRPr sz="1000" b="1">
                <a:solidFill>
                  <a:srgbClr val="E87722"/>
                </a:solidFill>
                <a:latin typeface="Arial"/>
              </a:defRPr>
            </a:pPr>
            <a:r>
              <a:t>BAIXO</a:t>
            </a:r>
          </a:p>
        </p:txBody>
      </p:sp>
      <p:sp>
        <p:nvSpPr>
          <p:cNvPr id="16" name="TextBox 15"/>
          <p:cNvSpPr txBox="1"/>
          <p:nvPr/>
        </p:nvSpPr>
        <p:spPr>
          <a:xfrm>
            <a:off x="2286000" y="2743200"/>
            <a:ext cx="1554480" cy="182880"/>
          </a:xfrm>
          <a:prstGeom prst="rect">
            <a:avLst/>
          </a:prstGeom>
          <a:noFill/>
        </p:spPr>
        <p:txBody>
          <a:bodyPr wrap="square">
            <a:spAutoFit/>
          </a:bodyPr>
          <a:lstStyle/>
          <a:p>
            <a:pPr>
              <a:defRPr sz="800" b="0">
                <a:solidFill>
                  <a:srgbClr val="6B7280"/>
                </a:solidFill>
                <a:latin typeface="Arial"/>
              </a:defRPr>
            </a:pPr>
            <a:r>
              <a:t>COMPLEXIDADE</a:t>
            </a:r>
          </a:p>
        </p:txBody>
      </p:sp>
      <p:sp>
        <p:nvSpPr>
          <p:cNvPr id="17" name="TextBox 16"/>
          <p:cNvSpPr txBox="1"/>
          <p:nvPr/>
        </p:nvSpPr>
        <p:spPr>
          <a:xfrm>
            <a:off x="2286000" y="2926080"/>
            <a:ext cx="1554480" cy="228600"/>
          </a:xfrm>
          <a:prstGeom prst="rect">
            <a:avLst/>
          </a:prstGeom>
          <a:noFill/>
        </p:spPr>
        <p:txBody>
          <a:bodyPr wrap="square">
            <a:spAutoFit/>
          </a:bodyPr>
          <a:lstStyle/>
          <a:p>
            <a:pPr>
              <a:defRPr sz="1000" b="1">
                <a:solidFill>
                  <a:srgbClr val="E87722"/>
                </a:solidFill>
                <a:latin typeface="Arial"/>
              </a:defRPr>
            </a:pPr>
            <a:r>
              <a:t>BAIXA</a:t>
            </a:r>
          </a:p>
        </p:txBody>
      </p:sp>
      <p:sp>
        <p:nvSpPr>
          <p:cNvPr id="18" name="TextBox 17"/>
          <p:cNvSpPr txBox="1"/>
          <p:nvPr/>
        </p:nvSpPr>
        <p:spPr>
          <a:xfrm>
            <a:off x="594360" y="3291840"/>
            <a:ext cx="1554480" cy="182880"/>
          </a:xfrm>
          <a:prstGeom prst="rect">
            <a:avLst/>
          </a:prstGeom>
          <a:noFill/>
        </p:spPr>
        <p:txBody>
          <a:bodyPr wrap="square">
            <a:spAutoFit/>
          </a:bodyPr>
          <a:lstStyle/>
          <a:p>
            <a:pPr>
              <a:defRPr sz="800" b="0">
                <a:solidFill>
                  <a:srgbClr val="6B7280"/>
                </a:solidFill>
                <a:latin typeface="Arial"/>
              </a:defRPr>
            </a:pPr>
            <a:r>
              <a:t>Frequência Necessária</a:t>
            </a:r>
          </a:p>
        </p:txBody>
      </p:sp>
      <p:sp>
        <p:nvSpPr>
          <p:cNvPr id="19" name="TextBox 18"/>
          <p:cNvSpPr txBox="1"/>
          <p:nvPr/>
        </p:nvSpPr>
        <p:spPr>
          <a:xfrm>
            <a:off x="2286000" y="3291840"/>
            <a:ext cx="1554480" cy="182880"/>
          </a:xfrm>
          <a:prstGeom prst="rect">
            <a:avLst/>
          </a:prstGeom>
          <a:noFill/>
        </p:spPr>
        <p:txBody>
          <a:bodyPr wrap="square">
            <a:spAutoFit/>
          </a:bodyPr>
          <a:lstStyle/>
          <a:p>
            <a:pPr>
              <a:defRPr sz="900" b="1">
                <a:solidFill>
                  <a:srgbClr val="E87722"/>
                </a:solidFill>
                <a:latin typeface="Arial"/>
              </a:defRPr>
            </a:pPr>
            <a:r>
              <a:t>1-5 Touchpoints</a:t>
            </a:r>
          </a:p>
        </p:txBody>
      </p:sp>
      <p:sp>
        <p:nvSpPr>
          <p:cNvPr id="20" name="TextBox 19"/>
          <p:cNvSpPr txBox="1"/>
          <p:nvPr/>
        </p:nvSpPr>
        <p:spPr>
          <a:xfrm>
            <a:off x="594360" y="3657600"/>
            <a:ext cx="3383280" cy="182880"/>
          </a:xfrm>
          <a:prstGeom prst="rect">
            <a:avLst/>
          </a:prstGeom>
          <a:noFill/>
        </p:spPr>
        <p:txBody>
          <a:bodyPr wrap="square">
            <a:spAutoFit/>
          </a:bodyPr>
          <a:lstStyle/>
          <a:p>
            <a:pPr>
              <a:defRPr sz="800" b="1">
                <a:solidFill>
                  <a:srgbClr val="6B7280"/>
                </a:solidFill>
                <a:latin typeface="Arial"/>
              </a:defRPr>
            </a:pPr>
            <a:r>
              <a:t>💡 Insight de Conversão</a:t>
            </a:r>
          </a:p>
        </p:txBody>
      </p:sp>
      <p:sp>
        <p:nvSpPr>
          <p:cNvPr id="21" name="TextBox 20"/>
          <p:cNvSpPr txBox="1"/>
          <p:nvPr/>
        </p:nvSpPr>
        <p:spPr>
          <a:xfrm>
            <a:off x="594360" y="3840480"/>
            <a:ext cx="3383280" cy="548640"/>
          </a:xfrm>
          <a:prstGeom prst="rect">
            <a:avLst/>
          </a:prstGeom>
          <a:noFill/>
        </p:spPr>
        <p:txBody>
          <a:bodyPr wrap="square">
            <a:spAutoFit/>
          </a:bodyPr>
          <a:lstStyle/>
          <a:p>
            <a:pPr>
              <a:defRPr sz="800" b="0">
                <a:solidFill>
                  <a:srgbClr val="1A1A1A"/>
                </a:solidFill>
                <a:latin typeface="Arial"/>
              </a:defRPr>
            </a:pPr>
            <a:r>
              <a:t>Usuários prontos para comprar. Hapvida ausente em 80%. Maior retorno com menor esforço.</a:t>
            </a:r>
          </a:p>
        </p:txBody>
      </p:sp>
      <p:sp>
        <p:nvSpPr>
          <p:cNvPr id="22" name="Rounded Rectangle 21"/>
          <p:cNvSpPr/>
          <p:nvPr/>
        </p:nvSpPr>
        <p:spPr>
          <a:xfrm>
            <a:off x="548640" y="4480560"/>
            <a:ext cx="3474720" cy="822960"/>
          </a:xfrm>
          <a:prstGeom prst="round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26280"/>
            <a:ext cx="3291840" cy="182880"/>
          </a:xfrm>
          <a:prstGeom prst="rect">
            <a:avLst/>
          </a:prstGeom>
          <a:noFill/>
        </p:spPr>
        <p:txBody>
          <a:bodyPr wrap="square">
            <a:spAutoFit/>
          </a:bodyPr>
          <a:lstStyle/>
          <a:p>
            <a:pPr>
              <a:defRPr sz="700" b="0">
                <a:solidFill>
                  <a:srgbClr val="FFFFFF"/>
                </a:solidFill>
                <a:latin typeface="Arial"/>
              </a:defRPr>
            </a:pPr>
            <a:r>
              <a:t>AÇÃO RECOMENDADA</a:t>
            </a:r>
          </a:p>
        </p:txBody>
      </p:sp>
      <p:sp>
        <p:nvSpPr>
          <p:cNvPr id="24" name="TextBox 23"/>
          <p:cNvSpPr txBox="1"/>
          <p:nvPr/>
        </p:nvSpPr>
        <p:spPr>
          <a:xfrm>
            <a:off x="640080" y="4709160"/>
            <a:ext cx="3291840" cy="274320"/>
          </a:xfrm>
          <a:prstGeom prst="rect">
            <a:avLst/>
          </a:prstGeom>
          <a:noFill/>
        </p:spPr>
        <p:txBody>
          <a:bodyPr wrap="square">
            <a:spAutoFit/>
          </a:bodyPr>
          <a:lstStyle/>
          <a:p>
            <a:pPr>
              <a:defRPr sz="1000" b="1">
                <a:solidFill>
                  <a:srgbClr val="FFFFFF"/>
                </a:solidFill>
                <a:latin typeface="Arial"/>
              </a:defRPr>
            </a:pPr>
            <a:r>
              <a:t>Prioridade Máxima (Mídia Paga)</a:t>
            </a:r>
          </a:p>
        </p:txBody>
      </p:sp>
      <p:sp>
        <p:nvSpPr>
          <p:cNvPr id="25" name="TextBox 24"/>
          <p:cNvSpPr txBox="1"/>
          <p:nvPr/>
        </p:nvSpPr>
        <p:spPr>
          <a:xfrm>
            <a:off x="640080" y="4983480"/>
            <a:ext cx="3291840" cy="228600"/>
          </a:xfrm>
          <a:prstGeom prst="rect">
            <a:avLst/>
          </a:prstGeom>
          <a:noFill/>
        </p:spPr>
        <p:txBody>
          <a:bodyPr wrap="square">
            <a:spAutoFit/>
          </a:bodyPr>
          <a:lstStyle/>
          <a:p>
            <a:pPr>
              <a:defRPr sz="800" b="0">
                <a:solidFill>
                  <a:srgbClr val="FFFFFF"/>
                </a:solidFill>
                <a:latin typeface="Arial"/>
              </a:defRPr>
            </a:pPr>
            <a:r>
              <a:t>Quick Wins Imediatos</a:t>
            </a:r>
          </a:p>
        </p:txBody>
      </p:sp>
      <p:sp>
        <p:nvSpPr>
          <p:cNvPr id="26" name="Rounded Rectangle 25"/>
          <p:cNvSpPr/>
          <p:nvPr/>
        </p:nvSpPr>
        <p:spPr>
          <a:xfrm>
            <a:off x="4343400" y="1280160"/>
            <a:ext cx="3657600" cy="457200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720840" y="1371600"/>
            <a:ext cx="1188720" cy="27432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1389888"/>
            <a:ext cx="1188720" cy="256032"/>
          </a:xfrm>
          <a:prstGeom prst="rect">
            <a:avLst/>
          </a:prstGeom>
          <a:noFill/>
        </p:spPr>
        <p:txBody>
          <a:bodyPr wrap="square">
            <a:spAutoFit/>
          </a:bodyPr>
          <a:lstStyle/>
          <a:p>
            <a:pPr algn="ctr">
              <a:defRPr sz="700" b="1">
                <a:solidFill>
                  <a:srgbClr val="FFFFFF"/>
                </a:solidFill>
                <a:latin typeface="Arial"/>
              </a:defRPr>
            </a:pPr>
            <a:r>
              <a:t>— ESTRATÉGICO</a:t>
            </a:r>
          </a:p>
        </p:txBody>
      </p:sp>
      <p:sp>
        <p:nvSpPr>
          <p:cNvPr id="29" name="TextBox 28"/>
          <p:cNvSpPr txBox="1"/>
          <p:nvPr/>
        </p:nvSpPr>
        <p:spPr>
          <a:xfrm>
            <a:off x="4480560" y="1417320"/>
            <a:ext cx="2194560" cy="320040"/>
          </a:xfrm>
          <a:prstGeom prst="rect">
            <a:avLst/>
          </a:prstGeom>
          <a:noFill/>
        </p:spPr>
        <p:txBody>
          <a:bodyPr wrap="square">
            <a:spAutoFit/>
          </a:bodyPr>
          <a:lstStyle/>
          <a:p>
            <a:pPr>
              <a:defRPr sz="1400" b="1">
                <a:solidFill>
                  <a:srgbClr val="059669"/>
                </a:solidFill>
                <a:latin typeface="Arial"/>
              </a:defRPr>
            </a:pPr>
            <a:r>
              <a:t>Informacionais</a:t>
            </a:r>
          </a:p>
        </p:txBody>
      </p:sp>
      <p:sp>
        <p:nvSpPr>
          <p:cNvPr id="30" name="TextBox 29"/>
          <p:cNvSpPr txBox="1"/>
          <p:nvPr/>
        </p:nvSpPr>
        <p:spPr>
          <a:xfrm>
            <a:off x="4480560" y="1737360"/>
            <a:ext cx="3383280" cy="228600"/>
          </a:xfrm>
          <a:prstGeom prst="rect">
            <a:avLst/>
          </a:prstGeom>
          <a:noFill/>
        </p:spPr>
        <p:txBody>
          <a:bodyPr wrap="square">
            <a:spAutoFit/>
          </a:bodyPr>
          <a:lstStyle/>
          <a:p>
            <a:pPr>
              <a:defRPr sz="800" b="1">
                <a:solidFill>
                  <a:srgbClr val="6B7280"/>
                </a:solidFill>
                <a:latin typeface="Arial"/>
              </a:defRPr>
            </a:pPr>
            <a:r>
              <a:t>AWARENESS • NUTRIÇÃO</a:t>
            </a:r>
          </a:p>
        </p:txBody>
      </p:sp>
      <p:sp>
        <p:nvSpPr>
          <p:cNvPr id="31" name="TextBox 30"/>
          <p:cNvSpPr txBox="1"/>
          <p:nvPr/>
        </p:nvSpPr>
        <p:spPr>
          <a:xfrm>
            <a:off x="4480560" y="2103120"/>
            <a:ext cx="1554480" cy="182880"/>
          </a:xfrm>
          <a:prstGeom prst="rect">
            <a:avLst/>
          </a:prstGeom>
          <a:noFill/>
        </p:spPr>
        <p:txBody>
          <a:bodyPr wrap="square">
            <a:spAutoFit/>
          </a:bodyPr>
          <a:lstStyle/>
          <a:p>
            <a:pPr>
              <a:defRPr sz="800" b="0">
                <a:solidFill>
                  <a:srgbClr val="6B7280"/>
                </a:solidFill>
                <a:latin typeface="Arial"/>
              </a:defRPr>
            </a:pPr>
            <a:r>
              <a:t>📈 ROAS</a:t>
            </a:r>
          </a:p>
        </p:txBody>
      </p:sp>
      <p:sp>
        <p:nvSpPr>
          <p:cNvPr id="32" name="TextBox 31"/>
          <p:cNvSpPr txBox="1"/>
          <p:nvPr/>
        </p:nvSpPr>
        <p:spPr>
          <a:xfrm>
            <a:off x="4480560" y="2286000"/>
            <a:ext cx="1554480" cy="320040"/>
          </a:xfrm>
          <a:prstGeom prst="rect">
            <a:avLst/>
          </a:prstGeom>
          <a:noFill/>
        </p:spPr>
        <p:txBody>
          <a:bodyPr wrap="square">
            <a:spAutoFit/>
          </a:bodyPr>
          <a:lstStyle/>
          <a:p>
            <a:pPr>
              <a:defRPr sz="1600" b="1">
                <a:solidFill>
                  <a:srgbClr val="059669"/>
                </a:solidFill>
                <a:latin typeface="Arial"/>
              </a:defRPr>
            </a:pPr>
            <a:r>
              <a:t>1-2x</a:t>
            </a:r>
          </a:p>
        </p:txBody>
      </p:sp>
      <p:sp>
        <p:nvSpPr>
          <p:cNvPr id="33" name="TextBox 32"/>
          <p:cNvSpPr txBox="1"/>
          <p:nvPr/>
        </p:nvSpPr>
        <p:spPr>
          <a:xfrm>
            <a:off x="6172200" y="2103120"/>
            <a:ext cx="1554480" cy="182880"/>
          </a:xfrm>
          <a:prstGeom prst="rect">
            <a:avLst/>
          </a:prstGeom>
          <a:noFill/>
        </p:spPr>
        <p:txBody>
          <a:bodyPr wrap="square">
            <a:spAutoFit/>
          </a:bodyPr>
          <a:lstStyle/>
          <a:p>
            <a:pPr>
              <a:defRPr sz="800" b="0">
                <a:solidFill>
                  <a:srgbClr val="6B7280"/>
                </a:solidFill>
                <a:latin typeface="Arial"/>
              </a:defRPr>
            </a:pPr>
            <a:r>
              <a:t>% CVR</a:t>
            </a:r>
          </a:p>
        </p:txBody>
      </p:sp>
      <p:sp>
        <p:nvSpPr>
          <p:cNvPr id="34" name="TextBox 33"/>
          <p:cNvSpPr txBox="1"/>
          <p:nvPr/>
        </p:nvSpPr>
        <p:spPr>
          <a:xfrm>
            <a:off x="6172200" y="2286000"/>
            <a:ext cx="1554480" cy="320040"/>
          </a:xfrm>
          <a:prstGeom prst="rect">
            <a:avLst/>
          </a:prstGeom>
          <a:noFill/>
        </p:spPr>
        <p:txBody>
          <a:bodyPr wrap="square">
            <a:spAutoFit/>
          </a:bodyPr>
          <a:lstStyle/>
          <a:p>
            <a:pPr>
              <a:defRPr sz="1600" b="1">
                <a:solidFill>
                  <a:srgbClr val="059669"/>
                </a:solidFill>
                <a:latin typeface="Arial"/>
              </a:defRPr>
            </a:pPr>
            <a:r>
              <a:t>0.8%</a:t>
            </a:r>
          </a:p>
        </p:txBody>
      </p:sp>
      <p:sp>
        <p:nvSpPr>
          <p:cNvPr id="35" name="TextBox 34"/>
          <p:cNvSpPr txBox="1"/>
          <p:nvPr/>
        </p:nvSpPr>
        <p:spPr>
          <a:xfrm>
            <a:off x="4480560" y="2743200"/>
            <a:ext cx="1554480" cy="182880"/>
          </a:xfrm>
          <a:prstGeom prst="rect">
            <a:avLst/>
          </a:prstGeom>
          <a:noFill/>
        </p:spPr>
        <p:txBody>
          <a:bodyPr wrap="square">
            <a:spAutoFit/>
          </a:bodyPr>
          <a:lstStyle/>
          <a:p>
            <a:pPr>
              <a:defRPr sz="800" b="0">
                <a:solidFill>
                  <a:srgbClr val="6B7280"/>
                </a:solidFill>
                <a:latin typeface="Arial"/>
              </a:defRPr>
            </a:pPr>
            <a:r>
              <a:t>ESFORÇO CONV.</a:t>
            </a:r>
          </a:p>
        </p:txBody>
      </p:sp>
      <p:sp>
        <p:nvSpPr>
          <p:cNvPr id="36" name="TextBox 35"/>
          <p:cNvSpPr txBox="1"/>
          <p:nvPr/>
        </p:nvSpPr>
        <p:spPr>
          <a:xfrm>
            <a:off x="4480560" y="2926080"/>
            <a:ext cx="1554480" cy="228600"/>
          </a:xfrm>
          <a:prstGeom prst="rect">
            <a:avLst/>
          </a:prstGeom>
          <a:noFill/>
        </p:spPr>
        <p:txBody>
          <a:bodyPr wrap="square">
            <a:spAutoFit/>
          </a:bodyPr>
          <a:lstStyle/>
          <a:p>
            <a:pPr>
              <a:defRPr sz="1000" b="1">
                <a:solidFill>
                  <a:srgbClr val="059669"/>
                </a:solidFill>
                <a:latin typeface="Arial"/>
              </a:defRPr>
            </a:pPr>
            <a:r>
              <a:t>ALTO</a:t>
            </a:r>
          </a:p>
        </p:txBody>
      </p:sp>
      <p:sp>
        <p:nvSpPr>
          <p:cNvPr id="37" name="TextBox 36"/>
          <p:cNvSpPr txBox="1"/>
          <p:nvPr/>
        </p:nvSpPr>
        <p:spPr>
          <a:xfrm>
            <a:off x="6172200" y="2743200"/>
            <a:ext cx="1554480" cy="182880"/>
          </a:xfrm>
          <a:prstGeom prst="rect">
            <a:avLst/>
          </a:prstGeom>
          <a:noFill/>
        </p:spPr>
        <p:txBody>
          <a:bodyPr wrap="square">
            <a:spAutoFit/>
          </a:bodyPr>
          <a:lstStyle/>
          <a:p>
            <a:pPr>
              <a:defRPr sz="800" b="0">
                <a:solidFill>
                  <a:srgbClr val="6B7280"/>
                </a:solidFill>
                <a:latin typeface="Arial"/>
              </a:defRPr>
            </a:pPr>
            <a:r>
              <a:t>COMPLEXIDADE</a:t>
            </a:r>
          </a:p>
        </p:txBody>
      </p:sp>
      <p:sp>
        <p:nvSpPr>
          <p:cNvPr id="38" name="TextBox 37"/>
          <p:cNvSpPr txBox="1"/>
          <p:nvPr/>
        </p:nvSpPr>
        <p:spPr>
          <a:xfrm>
            <a:off x="6172200" y="2926080"/>
            <a:ext cx="1554480" cy="228600"/>
          </a:xfrm>
          <a:prstGeom prst="rect">
            <a:avLst/>
          </a:prstGeom>
          <a:noFill/>
        </p:spPr>
        <p:txBody>
          <a:bodyPr wrap="square">
            <a:spAutoFit/>
          </a:bodyPr>
          <a:lstStyle/>
          <a:p>
            <a:pPr>
              <a:defRPr sz="1000" b="1">
                <a:solidFill>
                  <a:srgbClr val="059669"/>
                </a:solidFill>
                <a:latin typeface="Arial"/>
              </a:defRPr>
            </a:pPr>
            <a:r>
              <a:t>MÉDIA</a:t>
            </a:r>
          </a:p>
        </p:txBody>
      </p:sp>
      <p:sp>
        <p:nvSpPr>
          <p:cNvPr id="39" name="TextBox 38"/>
          <p:cNvSpPr txBox="1"/>
          <p:nvPr/>
        </p:nvSpPr>
        <p:spPr>
          <a:xfrm>
            <a:off x="4480560" y="3291840"/>
            <a:ext cx="1554480" cy="182880"/>
          </a:xfrm>
          <a:prstGeom prst="rect">
            <a:avLst/>
          </a:prstGeom>
          <a:noFill/>
        </p:spPr>
        <p:txBody>
          <a:bodyPr wrap="square">
            <a:spAutoFit/>
          </a:bodyPr>
          <a:lstStyle/>
          <a:p>
            <a:pPr>
              <a:defRPr sz="800" b="0">
                <a:solidFill>
                  <a:srgbClr val="6B7280"/>
                </a:solidFill>
                <a:latin typeface="Arial"/>
              </a:defRPr>
            </a:pPr>
            <a:r>
              <a:t>Frequência Necessária</a:t>
            </a:r>
          </a:p>
        </p:txBody>
      </p:sp>
      <p:sp>
        <p:nvSpPr>
          <p:cNvPr id="40" name="TextBox 39"/>
          <p:cNvSpPr txBox="1"/>
          <p:nvPr/>
        </p:nvSpPr>
        <p:spPr>
          <a:xfrm>
            <a:off x="6172200" y="3291840"/>
            <a:ext cx="1554480" cy="182880"/>
          </a:xfrm>
          <a:prstGeom prst="rect">
            <a:avLst/>
          </a:prstGeom>
          <a:noFill/>
        </p:spPr>
        <p:txBody>
          <a:bodyPr wrap="square">
            <a:spAutoFit/>
          </a:bodyPr>
          <a:lstStyle/>
          <a:p>
            <a:pPr>
              <a:defRPr sz="900" b="1">
                <a:solidFill>
                  <a:srgbClr val="059669"/>
                </a:solidFill>
                <a:latin typeface="Arial"/>
              </a:defRPr>
            </a:pPr>
            <a:r>
              <a:t>5-7 Touchpoints</a:t>
            </a:r>
          </a:p>
        </p:txBody>
      </p:sp>
      <p:sp>
        <p:nvSpPr>
          <p:cNvPr id="41" name="TextBox 40"/>
          <p:cNvSpPr txBox="1"/>
          <p:nvPr/>
        </p:nvSpPr>
        <p:spPr>
          <a:xfrm>
            <a:off x="4480560" y="3657600"/>
            <a:ext cx="3383280" cy="182880"/>
          </a:xfrm>
          <a:prstGeom prst="rect">
            <a:avLst/>
          </a:prstGeom>
          <a:noFill/>
        </p:spPr>
        <p:txBody>
          <a:bodyPr wrap="square">
            <a:spAutoFit/>
          </a:bodyPr>
          <a:lstStyle/>
          <a:p>
            <a:pPr>
              <a:defRPr sz="800" b="1">
                <a:solidFill>
                  <a:srgbClr val="6B7280"/>
                </a:solidFill>
                <a:latin typeface="Arial"/>
              </a:defRPr>
            </a:pPr>
            <a:r>
              <a:t>💡 Insight de Conversão</a:t>
            </a:r>
          </a:p>
        </p:txBody>
      </p:sp>
      <p:sp>
        <p:nvSpPr>
          <p:cNvPr id="42" name="TextBox 41"/>
          <p:cNvSpPr txBox="1"/>
          <p:nvPr/>
        </p:nvSpPr>
        <p:spPr>
          <a:xfrm>
            <a:off x="4480560" y="3840480"/>
            <a:ext cx="3383280" cy="548640"/>
          </a:xfrm>
          <a:prstGeom prst="rect">
            <a:avLst/>
          </a:prstGeom>
          <a:noFill/>
        </p:spPr>
        <p:txBody>
          <a:bodyPr wrap="square">
            <a:spAutoFit/>
          </a:bodyPr>
          <a:lstStyle/>
          <a:p>
            <a:pPr>
              <a:defRPr sz="800" b="0">
                <a:solidFill>
                  <a:srgbClr val="1A1A1A"/>
                </a:solidFill>
                <a:latin typeface="Arial"/>
              </a:defRPr>
            </a:pPr>
            <a:r>
              <a:t>Cliente indeciso. Exige esforço alto e frequência. Caminho obrigatório para novos prospects.</a:t>
            </a:r>
          </a:p>
        </p:txBody>
      </p:sp>
      <p:sp>
        <p:nvSpPr>
          <p:cNvPr id="43" name="Rounded Rectangle 42"/>
          <p:cNvSpPr/>
          <p:nvPr/>
        </p:nvSpPr>
        <p:spPr>
          <a:xfrm>
            <a:off x="4434840" y="4480560"/>
            <a:ext cx="3474720" cy="8229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4526280"/>
            <a:ext cx="3291840" cy="182880"/>
          </a:xfrm>
          <a:prstGeom prst="rect">
            <a:avLst/>
          </a:prstGeom>
          <a:noFill/>
        </p:spPr>
        <p:txBody>
          <a:bodyPr wrap="square">
            <a:spAutoFit/>
          </a:bodyPr>
          <a:lstStyle/>
          <a:p>
            <a:pPr>
              <a:defRPr sz="700" b="0">
                <a:solidFill>
                  <a:srgbClr val="FFFFFF"/>
                </a:solidFill>
                <a:latin typeface="Arial"/>
              </a:defRPr>
            </a:pPr>
            <a:r>
              <a:t>AÇÃO RECOMENDADA</a:t>
            </a:r>
          </a:p>
        </p:txBody>
      </p:sp>
      <p:sp>
        <p:nvSpPr>
          <p:cNvPr id="45" name="TextBox 44"/>
          <p:cNvSpPr txBox="1"/>
          <p:nvPr/>
        </p:nvSpPr>
        <p:spPr>
          <a:xfrm>
            <a:off x="4526280" y="4709160"/>
            <a:ext cx="3291840" cy="274320"/>
          </a:xfrm>
          <a:prstGeom prst="rect">
            <a:avLst/>
          </a:prstGeom>
          <a:noFill/>
        </p:spPr>
        <p:txBody>
          <a:bodyPr wrap="square">
            <a:spAutoFit/>
          </a:bodyPr>
          <a:lstStyle/>
          <a:p>
            <a:pPr>
              <a:defRPr sz="1000" b="1">
                <a:solidFill>
                  <a:srgbClr val="FFFFFF"/>
                </a:solidFill>
                <a:latin typeface="Arial"/>
              </a:defRPr>
            </a:pPr>
            <a:r>
              <a:t>Investimento Médio Prazo</a:t>
            </a:r>
          </a:p>
        </p:txBody>
      </p:sp>
      <p:sp>
        <p:nvSpPr>
          <p:cNvPr id="46" name="TextBox 45"/>
          <p:cNvSpPr txBox="1"/>
          <p:nvPr/>
        </p:nvSpPr>
        <p:spPr>
          <a:xfrm>
            <a:off x="4526280" y="4983480"/>
            <a:ext cx="3291840" cy="228600"/>
          </a:xfrm>
          <a:prstGeom prst="rect">
            <a:avLst/>
          </a:prstGeom>
          <a:noFill/>
        </p:spPr>
        <p:txBody>
          <a:bodyPr wrap="square">
            <a:spAutoFit/>
          </a:bodyPr>
          <a:lstStyle/>
          <a:p>
            <a:pPr>
              <a:defRPr sz="800" b="0">
                <a:solidFill>
                  <a:srgbClr val="FFFFFF"/>
                </a:solidFill>
                <a:latin typeface="Arial"/>
              </a:defRPr>
            </a:pPr>
            <a:r>
              <a:t>Content Hub + Remarketing</a:t>
            </a:r>
          </a:p>
        </p:txBody>
      </p:sp>
      <p:sp>
        <p:nvSpPr>
          <p:cNvPr id="47" name="Rounded Rectangle 46"/>
          <p:cNvSpPr/>
          <p:nvPr/>
        </p:nvSpPr>
        <p:spPr>
          <a:xfrm>
            <a:off x="8229600" y="1280160"/>
            <a:ext cx="3657600" cy="457200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0607040" y="1371600"/>
            <a:ext cx="1188720" cy="27432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07040" y="1389888"/>
            <a:ext cx="1188720" cy="256032"/>
          </a:xfrm>
          <a:prstGeom prst="rect">
            <a:avLst/>
          </a:prstGeom>
          <a:noFill/>
        </p:spPr>
        <p:txBody>
          <a:bodyPr wrap="square">
            <a:spAutoFit/>
          </a:bodyPr>
          <a:lstStyle/>
          <a:p>
            <a:pPr algn="ctr">
              <a:defRPr sz="700" b="1">
                <a:solidFill>
                  <a:srgbClr val="FFFFFF"/>
                </a:solidFill>
                <a:latin typeface="Arial"/>
              </a:defRPr>
            </a:pPr>
            <a:r>
              <a:t>🛡 DEFENSIVO</a:t>
            </a:r>
          </a:p>
        </p:txBody>
      </p:sp>
      <p:sp>
        <p:nvSpPr>
          <p:cNvPr id="50" name="TextBox 49"/>
          <p:cNvSpPr txBox="1"/>
          <p:nvPr/>
        </p:nvSpPr>
        <p:spPr>
          <a:xfrm>
            <a:off x="8366760" y="1417320"/>
            <a:ext cx="2194560" cy="320040"/>
          </a:xfrm>
          <a:prstGeom prst="rect">
            <a:avLst/>
          </a:prstGeom>
          <a:noFill/>
        </p:spPr>
        <p:txBody>
          <a:bodyPr wrap="square">
            <a:spAutoFit/>
          </a:bodyPr>
          <a:lstStyle/>
          <a:p>
            <a:pPr>
              <a:defRPr sz="1400" b="1">
                <a:solidFill>
                  <a:srgbClr val="1A3A6E"/>
                </a:solidFill>
                <a:latin typeface="Arial"/>
              </a:defRPr>
            </a:pPr>
            <a:r>
              <a:t>Navegacionais</a:t>
            </a:r>
          </a:p>
        </p:txBody>
      </p:sp>
      <p:sp>
        <p:nvSpPr>
          <p:cNvPr id="51" name="TextBox 50"/>
          <p:cNvSpPr txBox="1"/>
          <p:nvPr/>
        </p:nvSpPr>
        <p:spPr>
          <a:xfrm>
            <a:off x="8366760" y="1737360"/>
            <a:ext cx="3383280" cy="228600"/>
          </a:xfrm>
          <a:prstGeom prst="rect">
            <a:avLst/>
          </a:prstGeom>
          <a:noFill/>
        </p:spPr>
        <p:txBody>
          <a:bodyPr wrap="square">
            <a:spAutoFit/>
          </a:bodyPr>
          <a:lstStyle/>
          <a:p>
            <a:pPr>
              <a:defRPr sz="800" b="1">
                <a:solidFill>
                  <a:srgbClr val="6B7280"/>
                </a:solidFill>
                <a:latin typeface="Arial"/>
              </a:defRPr>
            </a:pPr>
            <a:r>
              <a:t>RETENÇÃO • SERVIÇO</a:t>
            </a:r>
          </a:p>
        </p:txBody>
      </p:sp>
      <p:sp>
        <p:nvSpPr>
          <p:cNvPr id="52" name="TextBox 51"/>
          <p:cNvSpPr txBox="1"/>
          <p:nvPr/>
        </p:nvSpPr>
        <p:spPr>
          <a:xfrm>
            <a:off x="8366760" y="2103120"/>
            <a:ext cx="1554480" cy="182880"/>
          </a:xfrm>
          <a:prstGeom prst="rect">
            <a:avLst/>
          </a:prstGeom>
          <a:noFill/>
        </p:spPr>
        <p:txBody>
          <a:bodyPr wrap="square">
            <a:spAutoFit/>
          </a:bodyPr>
          <a:lstStyle/>
          <a:p>
            <a:pPr>
              <a:defRPr sz="800" b="0">
                <a:solidFill>
                  <a:srgbClr val="6B7280"/>
                </a:solidFill>
                <a:latin typeface="Arial"/>
              </a:defRPr>
            </a:pPr>
            <a:r>
              <a:t>📈 ROAS</a:t>
            </a:r>
          </a:p>
        </p:txBody>
      </p:sp>
      <p:sp>
        <p:nvSpPr>
          <p:cNvPr id="53" name="TextBox 52"/>
          <p:cNvSpPr txBox="1"/>
          <p:nvPr/>
        </p:nvSpPr>
        <p:spPr>
          <a:xfrm>
            <a:off x="8366760" y="2286000"/>
            <a:ext cx="1554480" cy="320040"/>
          </a:xfrm>
          <a:prstGeom prst="rect">
            <a:avLst/>
          </a:prstGeom>
          <a:noFill/>
        </p:spPr>
        <p:txBody>
          <a:bodyPr wrap="square">
            <a:spAutoFit/>
          </a:bodyPr>
          <a:lstStyle/>
          <a:p>
            <a:pPr>
              <a:defRPr sz="1600" b="1">
                <a:solidFill>
                  <a:srgbClr val="1A3A6E"/>
                </a:solidFill>
                <a:latin typeface="Arial"/>
              </a:defRPr>
            </a:pPr>
            <a:r>
              <a:t>0-1x</a:t>
            </a:r>
          </a:p>
        </p:txBody>
      </p:sp>
      <p:sp>
        <p:nvSpPr>
          <p:cNvPr id="54" name="TextBox 53"/>
          <p:cNvSpPr txBox="1"/>
          <p:nvPr/>
        </p:nvSpPr>
        <p:spPr>
          <a:xfrm>
            <a:off x="10058400" y="2103120"/>
            <a:ext cx="1554480" cy="182880"/>
          </a:xfrm>
          <a:prstGeom prst="rect">
            <a:avLst/>
          </a:prstGeom>
          <a:noFill/>
        </p:spPr>
        <p:txBody>
          <a:bodyPr wrap="square">
            <a:spAutoFit/>
          </a:bodyPr>
          <a:lstStyle/>
          <a:p>
            <a:pPr>
              <a:defRPr sz="800" b="0">
                <a:solidFill>
                  <a:srgbClr val="6B7280"/>
                </a:solidFill>
                <a:latin typeface="Arial"/>
              </a:defRPr>
            </a:pPr>
            <a:r>
              <a:t>% CVR</a:t>
            </a:r>
          </a:p>
        </p:txBody>
      </p:sp>
      <p:sp>
        <p:nvSpPr>
          <p:cNvPr id="55" name="TextBox 54"/>
          <p:cNvSpPr txBox="1"/>
          <p:nvPr/>
        </p:nvSpPr>
        <p:spPr>
          <a:xfrm>
            <a:off x="10058400" y="2286000"/>
            <a:ext cx="1554480" cy="320040"/>
          </a:xfrm>
          <a:prstGeom prst="rect">
            <a:avLst/>
          </a:prstGeom>
          <a:noFill/>
        </p:spPr>
        <p:txBody>
          <a:bodyPr wrap="square">
            <a:spAutoFit/>
          </a:bodyPr>
          <a:lstStyle/>
          <a:p>
            <a:pPr>
              <a:defRPr sz="1600" b="1">
                <a:solidFill>
                  <a:srgbClr val="1A3A6E"/>
                </a:solidFill>
                <a:latin typeface="Arial"/>
              </a:defRPr>
            </a:pPr>
            <a:r>
              <a:t>0.5%</a:t>
            </a:r>
          </a:p>
        </p:txBody>
      </p:sp>
      <p:sp>
        <p:nvSpPr>
          <p:cNvPr id="56" name="TextBox 55"/>
          <p:cNvSpPr txBox="1"/>
          <p:nvPr/>
        </p:nvSpPr>
        <p:spPr>
          <a:xfrm>
            <a:off x="8366760" y="2743200"/>
            <a:ext cx="1554480" cy="182880"/>
          </a:xfrm>
          <a:prstGeom prst="rect">
            <a:avLst/>
          </a:prstGeom>
          <a:noFill/>
        </p:spPr>
        <p:txBody>
          <a:bodyPr wrap="square">
            <a:spAutoFit/>
          </a:bodyPr>
          <a:lstStyle/>
          <a:p>
            <a:pPr>
              <a:defRPr sz="800" b="0">
                <a:solidFill>
                  <a:srgbClr val="6B7280"/>
                </a:solidFill>
                <a:latin typeface="Arial"/>
              </a:defRPr>
            </a:pPr>
            <a:r>
              <a:t>ESFORÇO CONV.</a:t>
            </a:r>
          </a:p>
        </p:txBody>
      </p:sp>
      <p:sp>
        <p:nvSpPr>
          <p:cNvPr id="57" name="TextBox 56"/>
          <p:cNvSpPr txBox="1"/>
          <p:nvPr/>
        </p:nvSpPr>
        <p:spPr>
          <a:xfrm>
            <a:off x="8366760" y="2926080"/>
            <a:ext cx="1554480" cy="228600"/>
          </a:xfrm>
          <a:prstGeom prst="rect">
            <a:avLst/>
          </a:prstGeom>
          <a:noFill/>
        </p:spPr>
        <p:txBody>
          <a:bodyPr wrap="square">
            <a:spAutoFit/>
          </a:bodyPr>
          <a:lstStyle/>
          <a:p>
            <a:pPr>
              <a:defRPr sz="1000" b="1">
                <a:solidFill>
                  <a:srgbClr val="1A3A6E"/>
                </a:solidFill>
                <a:latin typeface="Arial"/>
              </a:defRPr>
            </a:pPr>
            <a:r>
              <a:t>MÍNIMO</a:t>
            </a:r>
          </a:p>
        </p:txBody>
      </p:sp>
      <p:sp>
        <p:nvSpPr>
          <p:cNvPr id="58" name="TextBox 57"/>
          <p:cNvSpPr txBox="1"/>
          <p:nvPr/>
        </p:nvSpPr>
        <p:spPr>
          <a:xfrm>
            <a:off x="10058400" y="2743200"/>
            <a:ext cx="1554480" cy="182880"/>
          </a:xfrm>
          <a:prstGeom prst="rect">
            <a:avLst/>
          </a:prstGeom>
          <a:noFill/>
        </p:spPr>
        <p:txBody>
          <a:bodyPr wrap="square">
            <a:spAutoFit/>
          </a:bodyPr>
          <a:lstStyle/>
          <a:p>
            <a:pPr>
              <a:defRPr sz="800" b="0">
                <a:solidFill>
                  <a:srgbClr val="6B7280"/>
                </a:solidFill>
                <a:latin typeface="Arial"/>
              </a:defRPr>
            </a:pPr>
            <a:r>
              <a:t>COMPLEXIDADE</a:t>
            </a:r>
          </a:p>
        </p:txBody>
      </p:sp>
      <p:sp>
        <p:nvSpPr>
          <p:cNvPr id="59" name="TextBox 58"/>
          <p:cNvSpPr txBox="1"/>
          <p:nvPr/>
        </p:nvSpPr>
        <p:spPr>
          <a:xfrm>
            <a:off x="10058400" y="2926080"/>
            <a:ext cx="1554480" cy="228600"/>
          </a:xfrm>
          <a:prstGeom prst="rect">
            <a:avLst/>
          </a:prstGeom>
          <a:noFill/>
        </p:spPr>
        <p:txBody>
          <a:bodyPr wrap="square">
            <a:spAutoFit/>
          </a:bodyPr>
          <a:lstStyle/>
          <a:p>
            <a:pPr>
              <a:defRPr sz="1000" b="1">
                <a:solidFill>
                  <a:srgbClr val="1A3A6E"/>
                </a:solidFill>
                <a:latin typeface="Arial"/>
              </a:defRPr>
            </a:pPr>
            <a:r>
              <a:t>ZERO</a:t>
            </a:r>
          </a:p>
        </p:txBody>
      </p:sp>
      <p:sp>
        <p:nvSpPr>
          <p:cNvPr id="60" name="TextBox 59"/>
          <p:cNvSpPr txBox="1"/>
          <p:nvPr/>
        </p:nvSpPr>
        <p:spPr>
          <a:xfrm>
            <a:off x="8366760" y="3291840"/>
            <a:ext cx="1554480" cy="182880"/>
          </a:xfrm>
          <a:prstGeom prst="rect">
            <a:avLst/>
          </a:prstGeom>
          <a:noFill/>
        </p:spPr>
        <p:txBody>
          <a:bodyPr wrap="square">
            <a:spAutoFit/>
          </a:bodyPr>
          <a:lstStyle/>
          <a:p>
            <a:pPr>
              <a:defRPr sz="800" b="0">
                <a:solidFill>
                  <a:srgbClr val="6B7280"/>
                </a:solidFill>
                <a:latin typeface="Arial"/>
              </a:defRPr>
            </a:pPr>
            <a:r>
              <a:t>Frequência Necessária</a:t>
            </a:r>
          </a:p>
        </p:txBody>
      </p:sp>
      <p:sp>
        <p:nvSpPr>
          <p:cNvPr id="61" name="TextBox 60"/>
          <p:cNvSpPr txBox="1"/>
          <p:nvPr/>
        </p:nvSpPr>
        <p:spPr>
          <a:xfrm>
            <a:off x="10058400" y="3291840"/>
            <a:ext cx="1554480" cy="182880"/>
          </a:xfrm>
          <a:prstGeom prst="rect">
            <a:avLst/>
          </a:prstGeom>
          <a:noFill/>
        </p:spPr>
        <p:txBody>
          <a:bodyPr wrap="square">
            <a:spAutoFit/>
          </a:bodyPr>
          <a:lstStyle/>
          <a:p>
            <a:pPr>
              <a:defRPr sz="900" b="1">
                <a:solidFill>
                  <a:srgbClr val="1A3A6E"/>
                </a:solidFill>
                <a:latin typeface="Arial"/>
              </a:defRPr>
            </a:pPr>
            <a:r>
              <a:t>0 (Já conhecem)</a:t>
            </a:r>
          </a:p>
        </p:txBody>
      </p:sp>
      <p:sp>
        <p:nvSpPr>
          <p:cNvPr id="62" name="TextBox 61"/>
          <p:cNvSpPr txBox="1"/>
          <p:nvPr/>
        </p:nvSpPr>
        <p:spPr>
          <a:xfrm>
            <a:off x="8366760" y="3657600"/>
            <a:ext cx="3383280" cy="182880"/>
          </a:xfrm>
          <a:prstGeom prst="rect">
            <a:avLst/>
          </a:prstGeom>
          <a:noFill/>
        </p:spPr>
        <p:txBody>
          <a:bodyPr wrap="square">
            <a:spAutoFit/>
          </a:bodyPr>
          <a:lstStyle/>
          <a:p>
            <a:pPr>
              <a:defRPr sz="800" b="1">
                <a:solidFill>
                  <a:srgbClr val="6B7280"/>
                </a:solidFill>
                <a:latin typeface="Arial"/>
              </a:defRPr>
            </a:pPr>
            <a:r>
              <a:t>💡 Insight de Conversão</a:t>
            </a:r>
          </a:p>
        </p:txBody>
      </p:sp>
      <p:sp>
        <p:nvSpPr>
          <p:cNvPr id="63" name="TextBox 62"/>
          <p:cNvSpPr txBox="1"/>
          <p:nvPr/>
        </p:nvSpPr>
        <p:spPr>
          <a:xfrm>
            <a:off x="8366760" y="3840480"/>
            <a:ext cx="3383280" cy="548640"/>
          </a:xfrm>
          <a:prstGeom prst="rect">
            <a:avLst/>
          </a:prstGeom>
          <a:noFill/>
        </p:spPr>
        <p:txBody>
          <a:bodyPr wrap="square">
            <a:spAutoFit/>
          </a:bodyPr>
          <a:lstStyle/>
          <a:p>
            <a:pPr>
              <a:defRPr sz="800" b="0">
                <a:solidFill>
                  <a:srgbClr val="1A1A1A"/>
                </a:solidFill>
                <a:latin typeface="Arial"/>
              </a:defRPr>
            </a:pPr>
            <a:r>
              <a:t>70% são buscas de serviço (boleto/login). Investir Paid é queima de esforço e budget.</a:t>
            </a:r>
          </a:p>
        </p:txBody>
      </p:sp>
      <p:sp>
        <p:nvSpPr>
          <p:cNvPr id="64" name="Rounded Rectangle 63"/>
          <p:cNvSpPr/>
          <p:nvPr/>
        </p:nvSpPr>
        <p:spPr>
          <a:xfrm>
            <a:off x="8321040" y="4480560"/>
            <a:ext cx="3474720" cy="82296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12480" y="4526280"/>
            <a:ext cx="3291840" cy="182880"/>
          </a:xfrm>
          <a:prstGeom prst="rect">
            <a:avLst/>
          </a:prstGeom>
          <a:noFill/>
        </p:spPr>
        <p:txBody>
          <a:bodyPr wrap="square">
            <a:spAutoFit/>
          </a:bodyPr>
          <a:lstStyle/>
          <a:p>
            <a:pPr>
              <a:defRPr sz="700" b="0">
                <a:solidFill>
                  <a:srgbClr val="FFFFFF"/>
                </a:solidFill>
                <a:latin typeface="Arial"/>
              </a:defRPr>
            </a:pPr>
            <a:r>
              <a:t>AÇÃO RECOMENDADA</a:t>
            </a:r>
          </a:p>
        </p:txBody>
      </p:sp>
      <p:sp>
        <p:nvSpPr>
          <p:cNvPr id="66" name="TextBox 65"/>
          <p:cNvSpPr txBox="1"/>
          <p:nvPr/>
        </p:nvSpPr>
        <p:spPr>
          <a:xfrm>
            <a:off x="8412480" y="4709160"/>
            <a:ext cx="3291840" cy="274320"/>
          </a:xfrm>
          <a:prstGeom prst="rect">
            <a:avLst/>
          </a:prstGeom>
          <a:noFill/>
        </p:spPr>
        <p:txBody>
          <a:bodyPr wrap="square">
            <a:spAutoFit/>
          </a:bodyPr>
          <a:lstStyle/>
          <a:p>
            <a:pPr>
              <a:defRPr sz="1000" b="1">
                <a:solidFill>
                  <a:srgbClr val="FFFFFF"/>
                </a:solidFill>
                <a:latin typeface="Arial"/>
              </a:defRPr>
            </a:pPr>
            <a:r>
              <a:t>Zero Esforço Adicional</a:t>
            </a:r>
          </a:p>
        </p:txBody>
      </p:sp>
      <p:sp>
        <p:nvSpPr>
          <p:cNvPr id="67" name="TextBox 66"/>
          <p:cNvSpPr txBox="1"/>
          <p:nvPr/>
        </p:nvSpPr>
        <p:spPr>
          <a:xfrm>
            <a:off x="8412480" y="4983480"/>
            <a:ext cx="3291840" cy="228600"/>
          </a:xfrm>
          <a:prstGeom prst="rect">
            <a:avLst/>
          </a:prstGeom>
          <a:noFill/>
        </p:spPr>
        <p:txBody>
          <a:bodyPr wrap="square">
            <a:spAutoFit/>
          </a:bodyPr>
          <a:lstStyle/>
          <a:p>
            <a:pPr>
              <a:defRPr sz="800" b="0">
                <a:solidFill>
                  <a:srgbClr val="FFFFFF"/>
                </a:solidFill>
                <a:latin typeface="Arial"/>
              </a:defRPr>
            </a:pPr>
            <a:r>
              <a:t>Manter Apenas SEO Orgânico</a:t>
            </a:r>
          </a:p>
        </p:txBody>
      </p:sp>
      <p:sp>
        <p:nvSpPr>
          <p:cNvPr id="68" name="TextBox 67"/>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Matriz: Análise de Esforço x Retorno baseada em funil de conversão.</a:t>
            </a:r>
          </a:p>
        </p:txBody>
      </p:sp>
      <p:sp>
        <p:nvSpPr>
          <p:cNvPr id="69" name="TextBox 68"/>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EVOLUÇÃO TEMPORAL 2025</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Barras empilhadas (Jan-Nov reais • Dez modelado) — proporção real por categoria</a:t>
            </a:r>
          </a:p>
        </p:txBody>
      </p:sp>
      <p:sp>
        <p:nvSpPr>
          <p:cNvPr id="5" name="Oval 4"/>
          <p:cNvSpPr/>
          <p:nvPr/>
        </p:nvSpPr>
        <p:spPr>
          <a:xfrm>
            <a:off x="2743200" y="123444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907792" y="1207008"/>
            <a:ext cx="1371600" cy="228600"/>
          </a:xfrm>
          <a:prstGeom prst="rect">
            <a:avLst/>
          </a:prstGeom>
          <a:noFill/>
        </p:spPr>
        <p:txBody>
          <a:bodyPr wrap="square">
            <a:spAutoFit/>
          </a:bodyPr>
          <a:lstStyle/>
          <a:p>
            <a:pPr>
              <a:defRPr sz="800" b="0">
                <a:solidFill>
                  <a:srgbClr val="1A1A1A"/>
                </a:solidFill>
                <a:latin typeface="Arial"/>
              </a:defRPr>
            </a:pPr>
            <a:r>
              <a:t>Jan-Nov Reais</a:t>
            </a:r>
          </a:p>
        </p:txBody>
      </p:sp>
      <p:sp>
        <p:nvSpPr>
          <p:cNvPr id="7" name="Oval 6"/>
          <p:cNvSpPr/>
          <p:nvPr/>
        </p:nvSpPr>
        <p:spPr>
          <a:xfrm>
            <a:off x="4389120" y="123444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207008"/>
            <a:ext cx="1371600" cy="228600"/>
          </a:xfrm>
          <a:prstGeom prst="rect">
            <a:avLst/>
          </a:prstGeom>
          <a:noFill/>
        </p:spPr>
        <p:txBody>
          <a:bodyPr wrap="square">
            <a:spAutoFit/>
          </a:bodyPr>
          <a:lstStyle/>
          <a:p>
            <a:pPr>
              <a:defRPr sz="800" b="0">
                <a:solidFill>
                  <a:srgbClr val="1A1A1A"/>
                </a:solidFill>
                <a:latin typeface="Arial"/>
              </a:defRPr>
            </a:pPr>
            <a:r>
              <a:t>Dez Modelado</a:t>
            </a:r>
          </a:p>
        </p:txBody>
      </p:sp>
      <p:sp>
        <p:nvSpPr>
          <p:cNvPr id="9" name="Oval 8"/>
          <p:cNvSpPr/>
          <p:nvPr/>
        </p:nvSpPr>
        <p:spPr>
          <a:xfrm>
            <a:off x="6035040" y="1234440"/>
            <a:ext cx="109728" cy="109728"/>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1" y="1207008"/>
            <a:ext cx="1371600" cy="228600"/>
          </a:xfrm>
          <a:prstGeom prst="rect">
            <a:avLst/>
          </a:prstGeom>
          <a:noFill/>
        </p:spPr>
        <p:txBody>
          <a:bodyPr wrap="square">
            <a:spAutoFit/>
          </a:bodyPr>
          <a:lstStyle/>
          <a:p>
            <a:pPr>
              <a:defRPr sz="800" b="0">
                <a:solidFill>
                  <a:srgbClr val="1A1A1A"/>
                </a:solidFill>
                <a:latin typeface="Arial"/>
              </a:defRPr>
            </a:pPr>
            <a:r>
              <a:t>Navegacional</a:t>
            </a:r>
          </a:p>
        </p:txBody>
      </p:sp>
      <p:sp>
        <p:nvSpPr>
          <p:cNvPr id="11" name="Oval 10"/>
          <p:cNvSpPr/>
          <p:nvPr/>
        </p:nvSpPr>
        <p:spPr>
          <a:xfrm>
            <a:off x="7680960" y="1234440"/>
            <a:ext cx="109728" cy="109728"/>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45552" y="1207008"/>
            <a:ext cx="1371600" cy="228600"/>
          </a:xfrm>
          <a:prstGeom prst="rect">
            <a:avLst/>
          </a:prstGeom>
          <a:noFill/>
        </p:spPr>
        <p:txBody>
          <a:bodyPr wrap="square">
            <a:spAutoFit/>
          </a:bodyPr>
          <a:lstStyle/>
          <a:p>
            <a:pPr>
              <a:defRPr sz="800" b="0">
                <a:solidFill>
                  <a:srgbClr val="1A1A1A"/>
                </a:solidFill>
                <a:latin typeface="Arial"/>
              </a:defRPr>
            </a:pPr>
            <a:r>
              <a:t>Transacional</a:t>
            </a:r>
          </a:p>
        </p:txBody>
      </p:sp>
      <p:sp>
        <p:nvSpPr>
          <p:cNvPr id="13" name="Oval 12"/>
          <p:cNvSpPr/>
          <p:nvPr/>
        </p:nvSpPr>
        <p:spPr>
          <a:xfrm>
            <a:off x="9326880" y="1234440"/>
            <a:ext cx="109728" cy="109728"/>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1207008"/>
            <a:ext cx="1371600" cy="228600"/>
          </a:xfrm>
          <a:prstGeom prst="rect">
            <a:avLst/>
          </a:prstGeom>
          <a:noFill/>
        </p:spPr>
        <p:txBody>
          <a:bodyPr wrap="square">
            <a:spAutoFit/>
          </a:bodyPr>
          <a:lstStyle/>
          <a:p>
            <a:pPr>
              <a:defRPr sz="800" b="0">
                <a:solidFill>
                  <a:srgbClr val="1A1A1A"/>
                </a:solidFill>
                <a:latin typeface="Arial"/>
              </a:defRPr>
            </a:pPr>
            <a:r>
              <a:t>Informacional</a:t>
            </a:r>
          </a:p>
        </p:txBody>
      </p:sp>
      <p:sp>
        <p:nvSpPr>
          <p:cNvPr id="15" name="Rectangle 14"/>
          <p:cNvSpPr/>
          <p:nvPr/>
        </p:nvSpPr>
        <p:spPr>
          <a:xfrm>
            <a:off x="9144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120640"/>
            <a:ext cx="640080" cy="228600"/>
          </a:xfrm>
          <a:prstGeom prst="rect">
            <a:avLst/>
          </a:prstGeom>
          <a:noFill/>
        </p:spPr>
        <p:txBody>
          <a:bodyPr wrap="square">
            <a:spAutoFit/>
          </a:bodyPr>
          <a:lstStyle/>
          <a:p>
            <a:pPr algn="ctr">
              <a:defRPr sz="800" b="0">
                <a:solidFill>
                  <a:srgbClr val="6B7280"/>
                </a:solidFill>
                <a:latin typeface="Arial"/>
              </a:defRPr>
            </a:pPr>
            <a:r>
              <a:t>Jan</a:t>
            </a:r>
          </a:p>
        </p:txBody>
      </p:sp>
      <p:sp>
        <p:nvSpPr>
          <p:cNvPr id="19" name="Rectangle 18"/>
          <p:cNvSpPr/>
          <p:nvPr/>
        </p:nvSpPr>
        <p:spPr>
          <a:xfrm>
            <a:off x="18288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28800" y="5120640"/>
            <a:ext cx="640080" cy="228600"/>
          </a:xfrm>
          <a:prstGeom prst="rect">
            <a:avLst/>
          </a:prstGeom>
          <a:noFill/>
        </p:spPr>
        <p:txBody>
          <a:bodyPr wrap="square">
            <a:spAutoFit/>
          </a:bodyPr>
          <a:lstStyle/>
          <a:p>
            <a:pPr algn="ctr">
              <a:defRPr sz="800" b="0">
                <a:solidFill>
                  <a:srgbClr val="6B7280"/>
                </a:solidFill>
                <a:latin typeface="Arial"/>
              </a:defRPr>
            </a:pPr>
            <a:r>
              <a:t>Fev</a:t>
            </a:r>
          </a:p>
        </p:txBody>
      </p:sp>
      <p:sp>
        <p:nvSpPr>
          <p:cNvPr id="23" name="Rectangle 22"/>
          <p:cNvSpPr/>
          <p:nvPr/>
        </p:nvSpPr>
        <p:spPr>
          <a:xfrm>
            <a:off x="27432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5120640"/>
            <a:ext cx="640080" cy="228600"/>
          </a:xfrm>
          <a:prstGeom prst="rect">
            <a:avLst/>
          </a:prstGeom>
          <a:noFill/>
        </p:spPr>
        <p:txBody>
          <a:bodyPr wrap="square">
            <a:spAutoFit/>
          </a:bodyPr>
          <a:lstStyle/>
          <a:p>
            <a:pPr algn="ctr">
              <a:defRPr sz="800" b="0">
                <a:solidFill>
                  <a:srgbClr val="6B7280"/>
                </a:solidFill>
                <a:latin typeface="Arial"/>
              </a:defRPr>
            </a:pPr>
            <a:r>
              <a:t>Mar</a:t>
            </a:r>
          </a:p>
        </p:txBody>
      </p:sp>
      <p:sp>
        <p:nvSpPr>
          <p:cNvPr id="27" name="Rectangle 26"/>
          <p:cNvSpPr/>
          <p:nvPr/>
        </p:nvSpPr>
        <p:spPr>
          <a:xfrm>
            <a:off x="36576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0" y="5120640"/>
            <a:ext cx="640080" cy="228600"/>
          </a:xfrm>
          <a:prstGeom prst="rect">
            <a:avLst/>
          </a:prstGeom>
          <a:noFill/>
        </p:spPr>
        <p:txBody>
          <a:bodyPr wrap="square">
            <a:spAutoFit/>
          </a:bodyPr>
          <a:lstStyle/>
          <a:p>
            <a:pPr algn="ctr">
              <a:defRPr sz="800" b="0">
                <a:solidFill>
                  <a:srgbClr val="6B7280"/>
                </a:solidFill>
                <a:latin typeface="Arial"/>
              </a:defRPr>
            </a:pPr>
            <a:r>
              <a:t>Abr</a:t>
            </a:r>
          </a:p>
        </p:txBody>
      </p:sp>
      <p:sp>
        <p:nvSpPr>
          <p:cNvPr id="31" name="Rectangle 30"/>
          <p:cNvSpPr/>
          <p:nvPr/>
        </p:nvSpPr>
        <p:spPr>
          <a:xfrm>
            <a:off x="45720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0" y="5120640"/>
            <a:ext cx="640080" cy="228600"/>
          </a:xfrm>
          <a:prstGeom prst="rect">
            <a:avLst/>
          </a:prstGeom>
          <a:noFill/>
        </p:spPr>
        <p:txBody>
          <a:bodyPr wrap="square">
            <a:spAutoFit/>
          </a:bodyPr>
          <a:lstStyle/>
          <a:p>
            <a:pPr algn="ctr">
              <a:defRPr sz="800" b="0">
                <a:solidFill>
                  <a:srgbClr val="6B7280"/>
                </a:solidFill>
                <a:latin typeface="Arial"/>
              </a:defRPr>
            </a:pPr>
            <a:r>
              <a:t>Mai</a:t>
            </a:r>
          </a:p>
        </p:txBody>
      </p:sp>
      <p:sp>
        <p:nvSpPr>
          <p:cNvPr id="35" name="Rectangle 34"/>
          <p:cNvSpPr/>
          <p:nvPr/>
        </p:nvSpPr>
        <p:spPr>
          <a:xfrm>
            <a:off x="54864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0" y="5120640"/>
            <a:ext cx="640080" cy="228600"/>
          </a:xfrm>
          <a:prstGeom prst="rect">
            <a:avLst/>
          </a:prstGeom>
          <a:noFill/>
        </p:spPr>
        <p:txBody>
          <a:bodyPr wrap="square">
            <a:spAutoFit/>
          </a:bodyPr>
          <a:lstStyle/>
          <a:p>
            <a:pPr algn="ctr">
              <a:defRPr sz="800" b="0">
                <a:solidFill>
                  <a:srgbClr val="6B7280"/>
                </a:solidFill>
                <a:latin typeface="Arial"/>
              </a:defRPr>
            </a:pPr>
            <a:r>
              <a:t>Jun</a:t>
            </a:r>
          </a:p>
        </p:txBody>
      </p:sp>
      <p:sp>
        <p:nvSpPr>
          <p:cNvPr id="39" name="Rectangle 38"/>
          <p:cNvSpPr/>
          <p:nvPr/>
        </p:nvSpPr>
        <p:spPr>
          <a:xfrm>
            <a:off x="64008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120640"/>
            <a:ext cx="640080" cy="228600"/>
          </a:xfrm>
          <a:prstGeom prst="rect">
            <a:avLst/>
          </a:prstGeom>
          <a:noFill/>
        </p:spPr>
        <p:txBody>
          <a:bodyPr wrap="square">
            <a:spAutoFit/>
          </a:bodyPr>
          <a:lstStyle/>
          <a:p>
            <a:pPr algn="ctr">
              <a:defRPr sz="800" b="0">
                <a:solidFill>
                  <a:srgbClr val="6B7280"/>
                </a:solidFill>
                <a:latin typeface="Arial"/>
              </a:defRPr>
            </a:pPr>
            <a:r>
              <a:t>Jul</a:t>
            </a:r>
          </a:p>
        </p:txBody>
      </p:sp>
      <p:sp>
        <p:nvSpPr>
          <p:cNvPr id="43" name="Rectangle 42"/>
          <p:cNvSpPr/>
          <p:nvPr/>
        </p:nvSpPr>
        <p:spPr>
          <a:xfrm>
            <a:off x="73152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152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0" y="5120640"/>
            <a:ext cx="640080" cy="228600"/>
          </a:xfrm>
          <a:prstGeom prst="rect">
            <a:avLst/>
          </a:prstGeom>
          <a:noFill/>
        </p:spPr>
        <p:txBody>
          <a:bodyPr wrap="square">
            <a:spAutoFit/>
          </a:bodyPr>
          <a:lstStyle/>
          <a:p>
            <a:pPr algn="ctr">
              <a:defRPr sz="800" b="0">
                <a:solidFill>
                  <a:srgbClr val="6B7280"/>
                </a:solidFill>
                <a:latin typeface="Arial"/>
              </a:defRPr>
            </a:pPr>
            <a:r>
              <a:t>Ago</a:t>
            </a:r>
          </a:p>
        </p:txBody>
      </p:sp>
      <p:sp>
        <p:nvSpPr>
          <p:cNvPr id="47" name="Rectangle 46"/>
          <p:cNvSpPr/>
          <p:nvPr/>
        </p:nvSpPr>
        <p:spPr>
          <a:xfrm>
            <a:off x="82296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296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296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0" y="5120640"/>
            <a:ext cx="640080" cy="228600"/>
          </a:xfrm>
          <a:prstGeom prst="rect">
            <a:avLst/>
          </a:prstGeom>
          <a:noFill/>
        </p:spPr>
        <p:txBody>
          <a:bodyPr wrap="square">
            <a:spAutoFit/>
          </a:bodyPr>
          <a:lstStyle/>
          <a:p>
            <a:pPr algn="ctr">
              <a:defRPr sz="800" b="0">
                <a:solidFill>
                  <a:srgbClr val="6B7280"/>
                </a:solidFill>
                <a:latin typeface="Arial"/>
              </a:defRPr>
            </a:pPr>
            <a:r>
              <a:t>Set</a:t>
            </a:r>
          </a:p>
        </p:txBody>
      </p:sp>
      <p:sp>
        <p:nvSpPr>
          <p:cNvPr id="51" name="Rectangle 50"/>
          <p:cNvSpPr/>
          <p:nvPr/>
        </p:nvSpPr>
        <p:spPr>
          <a:xfrm>
            <a:off x="91440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440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1440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44000" y="5120640"/>
            <a:ext cx="640080" cy="228600"/>
          </a:xfrm>
          <a:prstGeom prst="rect">
            <a:avLst/>
          </a:prstGeom>
          <a:noFill/>
        </p:spPr>
        <p:txBody>
          <a:bodyPr wrap="square">
            <a:spAutoFit/>
          </a:bodyPr>
          <a:lstStyle/>
          <a:p>
            <a:pPr algn="ctr">
              <a:defRPr sz="800" b="0">
                <a:solidFill>
                  <a:srgbClr val="6B7280"/>
                </a:solidFill>
                <a:latin typeface="Arial"/>
              </a:defRPr>
            </a:pPr>
            <a:r>
              <a:t>Out</a:t>
            </a:r>
          </a:p>
        </p:txBody>
      </p:sp>
      <p:sp>
        <p:nvSpPr>
          <p:cNvPr id="55" name="Rectangle 54"/>
          <p:cNvSpPr/>
          <p:nvPr/>
        </p:nvSpPr>
        <p:spPr>
          <a:xfrm>
            <a:off x="10058400" y="2286000"/>
            <a:ext cx="640080" cy="274320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058400" y="155448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58400" y="109728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058400" y="5120640"/>
            <a:ext cx="640080" cy="228600"/>
          </a:xfrm>
          <a:prstGeom prst="rect">
            <a:avLst/>
          </a:prstGeom>
          <a:noFill/>
        </p:spPr>
        <p:txBody>
          <a:bodyPr wrap="square">
            <a:spAutoFit/>
          </a:bodyPr>
          <a:lstStyle/>
          <a:p>
            <a:pPr algn="ctr">
              <a:defRPr sz="800" b="0">
                <a:solidFill>
                  <a:srgbClr val="6B7280"/>
                </a:solidFill>
                <a:latin typeface="Arial"/>
              </a:defRPr>
            </a:pPr>
            <a:r>
              <a:t>Nov</a:t>
            </a:r>
          </a:p>
        </p:txBody>
      </p:sp>
      <p:sp>
        <p:nvSpPr>
          <p:cNvPr id="59" name="Rectangle 58"/>
          <p:cNvSpPr/>
          <p:nvPr/>
        </p:nvSpPr>
        <p:spPr>
          <a:xfrm>
            <a:off x="10972800" y="2468880"/>
            <a:ext cx="640080" cy="2560320"/>
          </a:xfrm>
          <a:prstGeom prst="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972800" y="1737360"/>
            <a:ext cx="640080" cy="73152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972800" y="1280160"/>
            <a:ext cx="640080" cy="457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972800" y="5120640"/>
            <a:ext cx="640080" cy="228600"/>
          </a:xfrm>
          <a:prstGeom prst="rect">
            <a:avLst/>
          </a:prstGeom>
          <a:noFill/>
        </p:spPr>
        <p:txBody>
          <a:bodyPr wrap="square">
            <a:spAutoFit/>
          </a:bodyPr>
          <a:lstStyle/>
          <a:p>
            <a:pPr algn="ctr">
              <a:defRPr sz="800" b="0">
                <a:solidFill>
                  <a:srgbClr val="6B7280"/>
                </a:solidFill>
                <a:latin typeface="Arial"/>
              </a:defRPr>
            </a:pPr>
            <a:r>
              <a:t>Dez</a:t>
            </a:r>
          </a:p>
        </p:txBody>
      </p:sp>
      <p:sp>
        <p:nvSpPr>
          <p:cNvPr id="63" name="TextBox 62"/>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(Hapvida, Dez/2025) + ANS. Nota: Jan-Nov = dados reais por categoria; Dez = projeção linear.</a:t>
            </a:r>
          </a:p>
        </p:txBody>
      </p:sp>
      <p:sp>
        <p:nvSpPr>
          <p:cNvPr id="64" name="TextBox 63"/>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DEMANDA REGIONAL — KEYWORDS NAVEGACIONAIS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Distribuição baseada em market share Hapvida + penetração de planos</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37160"/>
          </a:xfrm>
          <a:prstGeom prst="rect">
            <a:avLst/>
          </a:prstGeom>
          <a:noFill/>
        </p:spPr>
        <p:txBody>
          <a:bodyPr wrap="square">
            <a:spAutoFit/>
          </a:bodyPr>
          <a:lstStyle/>
          <a:p>
            <a:pPr>
              <a:defRPr sz="600" b="0">
                <a:solidFill>
                  <a:srgbClr val="6B7280"/>
                </a:solidFill>
                <a:latin typeface="Arial"/>
              </a:defRPr>
            </a:pPr>
            <a:r>
              <a:t>VOLUME TOTAL NAVEGACIONAL</a:t>
            </a:r>
          </a:p>
        </p:txBody>
      </p:sp>
      <p:sp>
        <p:nvSpPr>
          <p:cNvPr id="7" name="TextBox 6"/>
          <p:cNvSpPr txBox="1"/>
          <p:nvPr/>
        </p:nvSpPr>
        <p:spPr>
          <a:xfrm>
            <a:off x="9921240" y="502920"/>
            <a:ext cx="1737360" cy="457200"/>
          </a:xfrm>
          <a:prstGeom prst="rect">
            <a:avLst/>
          </a:prstGeom>
          <a:noFill/>
        </p:spPr>
        <p:txBody>
          <a:bodyPr wrap="square">
            <a:spAutoFit/>
          </a:bodyPr>
          <a:lstStyle/>
          <a:p>
            <a:pPr>
              <a:defRPr sz="1800" b="1">
                <a:solidFill>
                  <a:srgbClr val="1A3A6E"/>
                </a:solidFill>
                <a:latin typeface="Arial"/>
              </a:defRPr>
            </a:pPr>
            <a:r>
              <a:t>1.07M/mês</a:t>
            </a:r>
          </a:p>
        </p:txBody>
      </p:sp>
      <p:sp>
        <p:nvSpPr>
          <p:cNvPr id="8" name="TextBox 7"/>
          <p:cNvSpPr txBox="1"/>
          <p:nvPr/>
        </p:nvSpPr>
        <p:spPr>
          <a:xfrm>
            <a:off x="457200" y="1280160"/>
            <a:ext cx="3657600" cy="274320"/>
          </a:xfrm>
          <a:prstGeom prst="rect">
            <a:avLst/>
          </a:prstGeom>
          <a:noFill/>
        </p:spPr>
        <p:txBody>
          <a:bodyPr wrap="square">
            <a:spAutoFit/>
          </a:bodyPr>
          <a:lstStyle/>
          <a:p>
            <a:pPr>
              <a:defRPr sz="1100" b="1">
                <a:solidFill>
                  <a:srgbClr val="1A3A6E"/>
                </a:solidFill>
                <a:latin typeface="Arial"/>
              </a:defRPr>
            </a:pPr>
            <a:r>
              <a:t>🏆 TOP 10 ESTADOS (RANKING)</a:t>
            </a:r>
          </a:p>
        </p:txBody>
      </p:sp>
      <p:sp>
        <p:nvSpPr>
          <p:cNvPr id="9" name="TextBox 8"/>
          <p:cNvSpPr txBox="1"/>
          <p:nvPr/>
        </p:nvSpPr>
        <p:spPr>
          <a:xfrm>
            <a:off x="457200" y="1600200"/>
            <a:ext cx="274320" cy="228600"/>
          </a:xfrm>
          <a:prstGeom prst="rect">
            <a:avLst/>
          </a:prstGeom>
          <a:noFill/>
        </p:spPr>
        <p:txBody>
          <a:bodyPr wrap="square">
            <a:spAutoFit/>
          </a:bodyPr>
          <a:lstStyle/>
          <a:p>
            <a:pPr>
              <a:defRPr sz="800" b="1">
                <a:solidFill>
                  <a:srgbClr val="6B7280"/>
                </a:solidFill>
                <a:latin typeface="Arial"/>
              </a:defRPr>
            </a:pPr>
            <a:r>
              <a:t>#</a:t>
            </a:r>
          </a:p>
        </p:txBody>
      </p:sp>
      <p:sp>
        <p:nvSpPr>
          <p:cNvPr id="10" name="TextBox 9"/>
          <p:cNvSpPr txBox="1"/>
          <p:nvPr/>
        </p:nvSpPr>
        <p:spPr>
          <a:xfrm>
            <a:off x="822960" y="1600200"/>
            <a:ext cx="731520" cy="228600"/>
          </a:xfrm>
          <a:prstGeom prst="rect">
            <a:avLst/>
          </a:prstGeom>
          <a:noFill/>
        </p:spPr>
        <p:txBody>
          <a:bodyPr wrap="square">
            <a:spAutoFit/>
          </a:bodyPr>
          <a:lstStyle/>
          <a:p>
            <a:pPr>
              <a:defRPr sz="800" b="1">
                <a:solidFill>
                  <a:srgbClr val="6B7280"/>
                </a:solidFill>
                <a:latin typeface="Arial"/>
              </a:defRPr>
            </a:pPr>
            <a:r>
              <a:t>ESTADO</a:t>
            </a:r>
          </a:p>
        </p:txBody>
      </p:sp>
      <p:sp>
        <p:nvSpPr>
          <p:cNvPr id="11" name="TextBox 10"/>
          <p:cNvSpPr txBox="1"/>
          <p:nvPr/>
        </p:nvSpPr>
        <p:spPr>
          <a:xfrm>
            <a:off x="1645920" y="1600200"/>
            <a:ext cx="1097280" cy="228600"/>
          </a:xfrm>
          <a:prstGeom prst="rect">
            <a:avLst/>
          </a:prstGeom>
          <a:noFill/>
        </p:spPr>
        <p:txBody>
          <a:bodyPr wrap="square">
            <a:spAutoFit/>
          </a:bodyPr>
          <a:lstStyle/>
          <a:p>
            <a:pPr>
              <a:defRPr sz="800" b="1">
                <a:solidFill>
                  <a:srgbClr val="6B7280"/>
                </a:solidFill>
                <a:latin typeface="Arial"/>
              </a:defRPr>
            </a:pPr>
            <a:r>
              <a:t>VOLUME/MÊS</a:t>
            </a:r>
          </a:p>
        </p:txBody>
      </p:sp>
      <p:sp>
        <p:nvSpPr>
          <p:cNvPr id="12" name="TextBox 11"/>
          <p:cNvSpPr txBox="1"/>
          <p:nvPr/>
        </p:nvSpPr>
        <p:spPr>
          <a:xfrm>
            <a:off x="2743200" y="1600200"/>
            <a:ext cx="731520" cy="228600"/>
          </a:xfrm>
          <a:prstGeom prst="rect">
            <a:avLst/>
          </a:prstGeom>
          <a:noFill/>
        </p:spPr>
        <p:txBody>
          <a:bodyPr wrap="square">
            <a:spAutoFit/>
          </a:bodyPr>
          <a:lstStyle/>
          <a:p>
            <a:pPr>
              <a:defRPr sz="800" b="1">
                <a:solidFill>
                  <a:srgbClr val="6B7280"/>
                </a:solidFill>
                <a:latin typeface="Arial"/>
              </a:defRPr>
            </a:pPr>
            <a:r>
              <a:t>% TOTAL</a:t>
            </a:r>
          </a:p>
        </p:txBody>
      </p:sp>
      <p:sp>
        <p:nvSpPr>
          <p:cNvPr id="13" name="TextBox 12"/>
          <p:cNvSpPr txBox="1"/>
          <p:nvPr/>
        </p:nvSpPr>
        <p:spPr>
          <a:xfrm>
            <a:off x="3566160" y="1600200"/>
            <a:ext cx="1645920" cy="228600"/>
          </a:xfrm>
          <a:prstGeom prst="rect">
            <a:avLst/>
          </a:prstGeom>
          <a:noFill/>
        </p:spPr>
        <p:txBody>
          <a:bodyPr wrap="square">
            <a:spAutoFit/>
          </a:bodyPr>
          <a:lstStyle/>
          <a:p>
            <a:pPr>
              <a:defRPr sz="800" b="1">
                <a:solidFill>
                  <a:srgbClr val="6B7280"/>
                </a:solidFill>
                <a:latin typeface="Arial"/>
              </a:defRPr>
            </a:pPr>
            <a:r>
              <a:t>INSIGHT REGIONAL</a:t>
            </a:r>
          </a:p>
        </p:txBody>
      </p:sp>
      <p:sp>
        <p:nvSpPr>
          <p:cNvPr id="14" name="TextBox 13"/>
          <p:cNvSpPr txBox="1"/>
          <p:nvPr/>
        </p:nvSpPr>
        <p:spPr>
          <a:xfrm>
            <a:off x="457200" y="1874519"/>
            <a:ext cx="274320" cy="274320"/>
          </a:xfrm>
          <a:prstGeom prst="rect">
            <a:avLst/>
          </a:prstGeom>
          <a:noFill/>
        </p:spPr>
        <p:txBody>
          <a:bodyPr wrap="square">
            <a:spAutoFit/>
          </a:bodyPr>
          <a:lstStyle/>
          <a:p>
            <a:pPr>
              <a:defRPr sz="900" b="0">
                <a:solidFill>
                  <a:srgbClr val="6B7280"/>
                </a:solidFill>
                <a:latin typeface="Arial"/>
              </a:defRPr>
            </a:pPr>
            <a:r>
              <a:t>01</a:t>
            </a:r>
          </a:p>
        </p:txBody>
      </p:sp>
      <p:sp>
        <p:nvSpPr>
          <p:cNvPr id="15" name="Oval 14"/>
          <p:cNvSpPr/>
          <p:nvPr/>
        </p:nvSpPr>
        <p:spPr>
          <a:xfrm>
            <a:off x="868680" y="1892807"/>
            <a:ext cx="320040" cy="27432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1901951"/>
            <a:ext cx="320040" cy="256032"/>
          </a:xfrm>
          <a:prstGeom prst="rect">
            <a:avLst/>
          </a:prstGeom>
          <a:noFill/>
        </p:spPr>
        <p:txBody>
          <a:bodyPr wrap="square">
            <a:spAutoFit/>
          </a:bodyPr>
          <a:lstStyle/>
          <a:p>
            <a:pPr algn="ctr">
              <a:defRPr sz="800" b="1">
                <a:solidFill>
                  <a:srgbClr val="FFFFFF"/>
                </a:solidFill>
                <a:latin typeface="Arial"/>
              </a:defRPr>
            </a:pPr>
            <a:r>
              <a:t>BA</a:t>
            </a:r>
          </a:p>
        </p:txBody>
      </p:sp>
      <p:sp>
        <p:nvSpPr>
          <p:cNvPr id="17" name="TextBox 16"/>
          <p:cNvSpPr txBox="1"/>
          <p:nvPr/>
        </p:nvSpPr>
        <p:spPr>
          <a:xfrm>
            <a:off x="1645920" y="1874519"/>
            <a:ext cx="1097280" cy="274320"/>
          </a:xfrm>
          <a:prstGeom prst="rect">
            <a:avLst/>
          </a:prstGeom>
          <a:noFill/>
        </p:spPr>
        <p:txBody>
          <a:bodyPr wrap="square">
            <a:spAutoFit/>
          </a:bodyPr>
          <a:lstStyle/>
          <a:p>
            <a:pPr>
              <a:defRPr sz="900" b="0">
                <a:solidFill>
                  <a:srgbClr val="1A1A1A"/>
                </a:solidFill>
                <a:latin typeface="Arial"/>
              </a:defRPr>
            </a:pPr>
            <a:r>
              <a:t>192.0k</a:t>
            </a:r>
          </a:p>
        </p:txBody>
      </p:sp>
      <p:sp>
        <p:nvSpPr>
          <p:cNvPr id="18" name="TextBox 17"/>
          <p:cNvSpPr txBox="1"/>
          <p:nvPr/>
        </p:nvSpPr>
        <p:spPr>
          <a:xfrm>
            <a:off x="2743200" y="1874519"/>
            <a:ext cx="731520" cy="274320"/>
          </a:xfrm>
          <a:prstGeom prst="rect">
            <a:avLst/>
          </a:prstGeom>
          <a:noFill/>
        </p:spPr>
        <p:txBody>
          <a:bodyPr wrap="square">
            <a:spAutoFit/>
          </a:bodyPr>
          <a:lstStyle/>
          <a:p>
            <a:pPr>
              <a:defRPr sz="900" b="0">
                <a:solidFill>
                  <a:srgbClr val="1A1A1A"/>
                </a:solidFill>
                <a:latin typeface="Arial"/>
              </a:defRPr>
            </a:pPr>
            <a:r>
              <a:t>18%</a:t>
            </a:r>
          </a:p>
        </p:txBody>
      </p:sp>
      <p:sp>
        <p:nvSpPr>
          <p:cNvPr id="19" name="Rounded Rectangle 18"/>
          <p:cNvSpPr/>
          <p:nvPr/>
        </p:nvSpPr>
        <p:spPr>
          <a:xfrm>
            <a:off x="3566160" y="1892807"/>
            <a:ext cx="1463040" cy="256032"/>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1901951"/>
            <a:ext cx="1463040" cy="256032"/>
          </a:xfrm>
          <a:prstGeom prst="rect">
            <a:avLst/>
          </a:prstGeom>
          <a:noFill/>
        </p:spPr>
        <p:txBody>
          <a:bodyPr wrap="square">
            <a:spAutoFit/>
          </a:bodyPr>
          <a:lstStyle/>
          <a:p>
            <a:pPr algn="ctr">
              <a:defRPr sz="700" b="0">
                <a:solidFill>
                  <a:srgbClr val="1A3A6E"/>
                </a:solidFill>
                <a:latin typeface="Arial"/>
              </a:defRPr>
            </a:pPr>
            <a:r>
              <a:t>Fortaleza da Marca</a:t>
            </a:r>
          </a:p>
        </p:txBody>
      </p:sp>
      <p:sp>
        <p:nvSpPr>
          <p:cNvPr id="21" name="TextBox 20"/>
          <p:cNvSpPr txBox="1"/>
          <p:nvPr/>
        </p:nvSpPr>
        <p:spPr>
          <a:xfrm>
            <a:off x="457200" y="2240279"/>
            <a:ext cx="274320" cy="274320"/>
          </a:xfrm>
          <a:prstGeom prst="rect">
            <a:avLst/>
          </a:prstGeom>
          <a:noFill/>
        </p:spPr>
        <p:txBody>
          <a:bodyPr wrap="square">
            <a:spAutoFit/>
          </a:bodyPr>
          <a:lstStyle/>
          <a:p>
            <a:pPr>
              <a:defRPr sz="900" b="0">
                <a:solidFill>
                  <a:srgbClr val="6B7280"/>
                </a:solidFill>
                <a:latin typeface="Arial"/>
              </a:defRPr>
            </a:pPr>
            <a:r>
              <a:t>02</a:t>
            </a:r>
          </a:p>
        </p:txBody>
      </p:sp>
      <p:sp>
        <p:nvSpPr>
          <p:cNvPr id="22" name="Oval 21"/>
          <p:cNvSpPr/>
          <p:nvPr/>
        </p:nvSpPr>
        <p:spPr>
          <a:xfrm>
            <a:off x="868680" y="2258568"/>
            <a:ext cx="320040" cy="27432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2267711"/>
            <a:ext cx="320040" cy="256032"/>
          </a:xfrm>
          <a:prstGeom prst="rect">
            <a:avLst/>
          </a:prstGeom>
          <a:noFill/>
        </p:spPr>
        <p:txBody>
          <a:bodyPr wrap="square">
            <a:spAutoFit/>
          </a:bodyPr>
          <a:lstStyle/>
          <a:p>
            <a:pPr algn="ctr">
              <a:defRPr sz="800" b="1">
                <a:solidFill>
                  <a:srgbClr val="FFFFFF"/>
                </a:solidFill>
                <a:latin typeface="Arial"/>
              </a:defRPr>
            </a:pPr>
            <a:r>
              <a:t>SP</a:t>
            </a:r>
          </a:p>
        </p:txBody>
      </p:sp>
      <p:sp>
        <p:nvSpPr>
          <p:cNvPr id="24" name="TextBox 23"/>
          <p:cNvSpPr txBox="1"/>
          <p:nvPr/>
        </p:nvSpPr>
        <p:spPr>
          <a:xfrm>
            <a:off x="1645920" y="2240279"/>
            <a:ext cx="1097280" cy="274320"/>
          </a:xfrm>
          <a:prstGeom prst="rect">
            <a:avLst/>
          </a:prstGeom>
          <a:noFill/>
        </p:spPr>
        <p:txBody>
          <a:bodyPr wrap="square">
            <a:spAutoFit/>
          </a:bodyPr>
          <a:lstStyle/>
          <a:p>
            <a:pPr>
              <a:defRPr sz="900" b="0">
                <a:solidFill>
                  <a:srgbClr val="1A1A1A"/>
                </a:solidFill>
                <a:latin typeface="Arial"/>
              </a:defRPr>
            </a:pPr>
            <a:r>
              <a:t>160.0k</a:t>
            </a:r>
          </a:p>
        </p:txBody>
      </p:sp>
      <p:sp>
        <p:nvSpPr>
          <p:cNvPr id="25" name="TextBox 24"/>
          <p:cNvSpPr txBox="1"/>
          <p:nvPr/>
        </p:nvSpPr>
        <p:spPr>
          <a:xfrm>
            <a:off x="2743200" y="2240279"/>
            <a:ext cx="731520" cy="274320"/>
          </a:xfrm>
          <a:prstGeom prst="rect">
            <a:avLst/>
          </a:prstGeom>
          <a:noFill/>
        </p:spPr>
        <p:txBody>
          <a:bodyPr wrap="square">
            <a:spAutoFit/>
          </a:bodyPr>
          <a:lstStyle/>
          <a:p>
            <a:pPr>
              <a:defRPr sz="900" b="0">
                <a:solidFill>
                  <a:srgbClr val="1A1A1A"/>
                </a:solidFill>
                <a:latin typeface="Arial"/>
              </a:defRPr>
            </a:pPr>
            <a:r>
              <a:t>15%</a:t>
            </a:r>
          </a:p>
        </p:txBody>
      </p:sp>
      <p:sp>
        <p:nvSpPr>
          <p:cNvPr id="26" name="Rounded Rectangle 25"/>
          <p:cNvSpPr/>
          <p:nvPr/>
        </p:nvSpPr>
        <p:spPr>
          <a:xfrm>
            <a:off x="3566160" y="2258568"/>
            <a:ext cx="1463040" cy="256032"/>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66160" y="2267711"/>
            <a:ext cx="1463040" cy="256032"/>
          </a:xfrm>
          <a:prstGeom prst="rect">
            <a:avLst/>
          </a:prstGeom>
          <a:noFill/>
        </p:spPr>
        <p:txBody>
          <a:bodyPr wrap="square">
            <a:spAutoFit/>
          </a:bodyPr>
          <a:lstStyle/>
          <a:p>
            <a:pPr algn="ctr">
              <a:defRPr sz="700" b="0">
                <a:solidFill>
                  <a:srgbClr val="1A3A6E"/>
                </a:solidFill>
                <a:latin typeface="Arial"/>
              </a:defRPr>
            </a:pPr>
            <a:r>
              <a:t>Volume por População</a:t>
            </a:r>
          </a:p>
        </p:txBody>
      </p:sp>
      <p:sp>
        <p:nvSpPr>
          <p:cNvPr id="28" name="TextBox 27"/>
          <p:cNvSpPr txBox="1"/>
          <p:nvPr/>
        </p:nvSpPr>
        <p:spPr>
          <a:xfrm>
            <a:off x="457200" y="2606039"/>
            <a:ext cx="274320" cy="274320"/>
          </a:xfrm>
          <a:prstGeom prst="rect">
            <a:avLst/>
          </a:prstGeom>
          <a:noFill/>
        </p:spPr>
        <p:txBody>
          <a:bodyPr wrap="square">
            <a:spAutoFit/>
          </a:bodyPr>
          <a:lstStyle/>
          <a:p>
            <a:pPr>
              <a:defRPr sz="900" b="0">
                <a:solidFill>
                  <a:srgbClr val="6B7280"/>
                </a:solidFill>
                <a:latin typeface="Arial"/>
              </a:defRPr>
            </a:pPr>
            <a:r>
              <a:t>03</a:t>
            </a:r>
          </a:p>
        </p:txBody>
      </p:sp>
      <p:sp>
        <p:nvSpPr>
          <p:cNvPr id="29" name="Oval 28"/>
          <p:cNvSpPr/>
          <p:nvPr/>
        </p:nvSpPr>
        <p:spPr>
          <a:xfrm>
            <a:off x="868680" y="2624327"/>
            <a:ext cx="320040" cy="27432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2633471"/>
            <a:ext cx="320040" cy="256032"/>
          </a:xfrm>
          <a:prstGeom prst="rect">
            <a:avLst/>
          </a:prstGeom>
          <a:noFill/>
        </p:spPr>
        <p:txBody>
          <a:bodyPr wrap="square">
            <a:spAutoFit/>
          </a:bodyPr>
          <a:lstStyle/>
          <a:p>
            <a:pPr algn="ctr">
              <a:defRPr sz="800" b="1">
                <a:solidFill>
                  <a:srgbClr val="FFFFFF"/>
                </a:solidFill>
                <a:latin typeface="Arial"/>
              </a:defRPr>
            </a:pPr>
            <a:r>
              <a:t>PE</a:t>
            </a:r>
          </a:p>
        </p:txBody>
      </p:sp>
      <p:sp>
        <p:nvSpPr>
          <p:cNvPr id="31" name="TextBox 30"/>
          <p:cNvSpPr txBox="1"/>
          <p:nvPr/>
        </p:nvSpPr>
        <p:spPr>
          <a:xfrm>
            <a:off x="1645920" y="2606039"/>
            <a:ext cx="1097280" cy="274320"/>
          </a:xfrm>
          <a:prstGeom prst="rect">
            <a:avLst/>
          </a:prstGeom>
          <a:noFill/>
        </p:spPr>
        <p:txBody>
          <a:bodyPr wrap="square">
            <a:spAutoFit/>
          </a:bodyPr>
          <a:lstStyle/>
          <a:p>
            <a:pPr>
              <a:defRPr sz="900" b="0">
                <a:solidFill>
                  <a:srgbClr val="1A1A1A"/>
                </a:solidFill>
                <a:latin typeface="Arial"/>
              </a:defRPr>
            </a:pPr>
            <a:r>
              <a:t>128.0k</a:t>
            </a:r>
          </a:p>
        </p:txBody>
      </p:sp>
      <p:sp>
        <p:nvSpPr>
          <p:cNvPr id="32" name="TextBox 31"/>
          <p:cNvSpPr txBox="1"/>
          <p:nvPr/>
        </p:nvSpPr>
        <p:spPr>
          <a:xfrm>
            <a:off x="2743200" y="2606039"/>
            <a:ext cx="731520" cy="274320"/>
          </a:xfrm>
          <a:prstGeom prst="rect">
            <a:avLst/>
          </a:prstGeom>
          <a:noFill/>
        </p:spPr>
        <p:txBody>
          <a:bodyPr wrap="square">
            <a:spAutoFit/>
          </a:bodyPr>
          <a:lstStyle/>
          <a:p>
            <a:pPr>
              <a:defRPr sz="900" b="0">
                <a:solidFill>
                  <a:srgbClr val="1A1A1A"/>
                </a:solidFill>
                <a:latin typeface="Arial"/>
              </a:defRPr>
            </a:pPr>
            <a:r>
              <a:t>12%</a:t>
            </a:r>
          </a:p>
        </p:txBody>
      </p:sp>
      <p:sp>
        <p:nvSpPr>
          <p:cNvPr id="33" name="Rounded Rectangle 32"/>
          <p:cNvSpPr/>
          <p:nvPr/>
        </p:nvSpPr>
        <p:spPr>
          <a:xfrm>
            <a:off x="3566160" y="2624327"/>
            <a:ext cx="1463040" cy="256032"/>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66160" y="2633471"/>
            <a:ext cx="1463040" cy="256032"/>
          </a:xfrm>
          <a:prstGeom prst="rect">
            <a:avLst/>
          </a:prstGeom>
          <a:noFill/>
        </p:spPr>
        <p:txBody>
          <a:bodyPr wrap="square">
            <a:spAutoFit/>
          </a:bodyPr>
          <a:lstStyle/>
          <a:p>
            <a:pPr algn="ctr">
              <a:defRPr sz="700" b="0">
                <a:solidFill>
                  <a:srgbClr val="1A3A6E"/>
                </a:solidFill>
                <a:latin typeface="Arial"/>
              </a:defRPr>
            </a:pPr>
            <a:r>
              <a:t>Dominância Regional</a:t>
            </a:r>
          </a:p>
        </p:txBody>
      </p:sp>
      <p:sp>
        <p:nvSpPr>
          <p:cNvPr id="35" name="TextBox 34"/>
          <p:cNvSpPr txBox="1"/>
          <p:nvPr/>
        </p:nvSpPr>
        <p:spPr>
          <a:xfrm>
            <a:off x="457200" y="2971799"/>
            <a:ext cx="274320" cy="274320"/>
          </a:xfrm>
          <a:prstGeom prst="rect">
            <a:avLst/>
          </a:prstGeom>
          <a:noFill/>
        </p:spPr>
        <p:txBody>
          <a:bodyPr wrap="square">
            <a:spAutoFit/>
          </a:bodyPr>
          <a:lstStyle/>
          <a:p>
            <a:pPr>
              <a:defRPr sz="900" b="0">
                <a:solidFill>
                  <a:srgbClr val="6B7280"/>
                </a:solidFill>
                <a:latin typeface="Arial"/>
              </a:defRPr>
            </a:pPr>
            <a:r>
              <a:t>04</a:t>
            </a:r>
          </a:p>
        </p:txBody>
      </p:sp>
      <p:sp>
        <p:nvSpPr>
          <p:cNvPr id="36" name="Oval 35"/>
          <p:cNvSpPr/>
          <p:nvPr/>
        </p:nvSpPr>
        <p:spPr>
          <a:xfrm>
            <a:off x="868680" y="2990087"/>
            <a:ext cx="320040" cy="27432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999231"/>
            <a:ext cx="320040" cy="256032"/>
          </a:xfrm>
          <a:prstGeom prst="rect">
            <a:avLst/>
          </a:prstGeom>
          <a:noFill/>
        </p:spPr>
        <p:txBody>
          <a:bodyPr wrap="square">
            <a:spAutoFit/>
          </a:bodyPr>
          <a:lstStyle/>
          <a:p>
            <a:pPr algn="ctr">
              <a:defRPr sz="800" b="1">
                <a:solidFill>
                  <a:srgbClr val="FFFFFF"/>
                </a:solidFill>
                <a:latin typeface="Arial"/>
              </a:defRPr>
            </a:pPr>
            <a:r>
              <a:t>CE</a:t>
            </a:r>
          </a:p>
        </p:txBody>
      </p:sp>
      <p:sp>
        <p:nvSpPr>
          <p:cNvPr id="38" name="TextBox 37"/>
          <p:cNvSpPr txBox="1"/>
          <p:nvPr/>
        </p:nvSpPr>
        <p:spPr>
          <a:xfrm>
            <a:off x="1645920" y="2971799"/>
            <a:ext cx="1097280" cy="274320"/>
          </a:xfrm>
          <a:prstGeom prst="rect">
            <a:avLst/>
          </a:prstGeom>
          <a:noFill/>
        </p:spPr>
        <p:txBody>
          <a:bodyPr wrap="square">
            <a:spAutoFit/>
          </a:bodyPr>
          <a:lstStyle/>
          <a:p>
            <a:pPr>
              <a:defRPr sz="900" b="0">
                <a:solidFill>
                  <a:srgbClr val="1A1A1A"/>
                </a:solidFill>
                <a:latin typeface="Arial"/>
              </a:defRPr>
            </a:pPr>
            <a:r>
              <a:t>107.0k</a:t>
            </a:r>
          </a:p>
        </p:txBody>
      </p:sp>
      <p:sp>
        <p:nvSpPr>
          <p:cNvPr id="39" name="TextBox 38"/>
          <p:cNvSpPr txBox="1"/>
          <p:nvPr/>
        </p:nvSpPr>
        <p:spPr>
          <a:xfrm>
            <a:off x="2743200" y="2971799"/>
            <a:ext cx="731520" cy="274320"/>
          </a:xfrm>
          <a:prstGeom prst="rect">
            <a:avLst/>
          </a:prstGeom>
          <a:noFill/>
        </p:spPr>
        <p:txBody>
          <a:bodyPr wrap="square">
            <a:spAutoFit/>
          </a:bodyPr>
          <a:lstStyle/>
          <a:p>
            <a:pPr>
              <a:defRPr sz="900" b="0">
                <a:solidFill>
                  <a:srgbClr val="1A1A1A"/>
                </a:solidFill>
                <a:latin typeface="Arial"/>
              </a:defRPr>
            </a:pPr>
            <a:r>
              <a:t>10%</a:t>
            </a:r>
          </a:p>
        </p:txBody>
      </p:sp>
      <p:sp>
        <p:nvSpPr>
          <p:cNvPr id="40" name="Rounded Rectangle 39"/>
          <p:cNvSpPr/>
          <p:nvPr/>
        </p:nvSpPr>
        <p:spPr>
          <a:xfrm>
            <a:off x="3566160" y="2990087"/>
            <a:ext cx="1463040" cy="256032"/>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66160" y="2999231"/>
            <a:ext cx="1463040" cy="256032"/>
          </a:xfrm>
          <a:prstGeom prst="rect">
            <a:avLst/>
          </a:prstGeom>
          <a:noFill/>
        </p:spPr>
        <p:txBody>
          <a:bodyPr wrap="square">
            <a:spAutoFit/>
          </a:bodyPr>
          <a:lstStyle/>
          <a:p>
            <a:pPr algn="ctr">
              <a:defRPr sz="700" b="0">
                <a:solidFill>
                  <a:srgbClr val="1A3A6E"/>
                </a:solidFill>
                <a:latin typeface="Arial"/>
              </a:defRPr>
            </a:pPr>
            <a:r>
              <a:t>Berço da Marca</a:t>
            </a:r>
          </a:p>
        </p:txBody>
      </p:sp>
      <p:sp>
        <p:nvSpPr>
          <p:cNvPr id="42" name="TextBox 41"/>
          <p:cNvSpPr txBox="1"/>
          <p:nvPr/>
        </p:nvSpPr>
        <p:spPr>
          <a:xfrm>
            <a:off x="457200" y="3337559"/>
            <a:ext cx="274320" cy="274320"/>
          </a:xfrm>
          <a:prstGeom prst="rect">
            <a:avLst/>
          </a:prstGeom>
          <a:noFill/>
        </p:spPr>
        <p:txBody>
          <a:bodyPr wrap="square">
            <a:spAutoFit/>
          </a:bodyPr>
          <a:lstStyle/>
          <a:p>
            <a:pPr>
              <a:defRPr sz="900" b="0">
                <a:solidFill>
                  <a:srgbClr val="6B7280"/>
                </a:solidFill>
                <a:latin typeface="Arial"/>
              </a:defRPr>
            </a:pPr>
            <a:r>
              <a:t>05</a:t>
            </a:r>
          </a:p>
        </p:txBody>
      </p:sp>
      <p:sp>
        <p:nvSpPr>
          <p:cNvPr id="43" name="Oval 42"/>
          <p:cNvSpPr/>
          <p:nvPr/>
        </p:nvSpPr>
        <p:spPr>
          <a:xfrm>
            <a:off x="868680" y="3355847"/>
            <a:ext cx="320040" cy="274320"/>
          </a:xfrm>
          <a:prstGeom prst="ellipse">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3364991"/>
            <a:ext cx="320040" cy="256032"/>
          </a:xfrm>
          <a:prstGeom prst="rect">
            <a:avLst/>
          </a:prstGeom>
          <a:noFill/>
        </p:spPr>
        <p:txBody>
          <a:bodyPr wrap="square">
            <a:spAutoFit/>
          </a:bodyPr>
          <a:lstStyle/>
          <a:p>
            <a:pPr algn="ctr">
              <a:defRPr sz="800" b="1">
                <a:solidFill>
                  <a:srgbClr val="FFFFFF"/>
                </a:solidFill>
                <a:latin typeface="Arial"/>
              </a:defRPr>
            </a:pPr>
            <a:r>
              <a:t>RJ</a:t>
            </a:r>
          </a:p>
        </p:txBody>
      </p:sp>
      <p:sp>
        <p:nvSpPr>
          <p:cNvPr id="45" name="TextBox 44"/>
          <p:cNvSpPr txBox="1"/>
          <p:nvPr/>
        </p:nvSpPr>
        <p:spPr>
          <a:xfrm>
            <a:off x="1645920" y="3337559"/>
            <a:ext cx="1097280" cy="274320"/>
          </a:xfrm>
          <a:prstGeom prst="rect">
            <a:avLst/>
          </a:prstGeom>
          <a:noFill/>
        </p:spPr>
        <p:txBody>
          <a:bodyPr wrap="square">
            <a:spAutoFit/>
          </a:bodyPr>
          <a:lstStyle/>
          <a:p>
            <a:pPr>
              <a:defRPr sz="900" b="0">
                <a:solidFill>
                  <a:srgbClr val="1A1A1A"/>
                </a:solidFill>
                <a:latin typeface="Arial"/>
              </a:defRPr>
            </a:pPr>
            <a:r>
              <a:t>85.0k</a:t>
            </a:r>
          </a:p>
        </p:txBody>
      </p:sp>
      <p:sp>
        <p:nvSpPr>
          <p:cNvPr id="46" name="TextBox 45"/>
          <p:cNvSpPr txBox="1"/>
          <p:nvPr/>
        </p:nvSpPr>
        <p:spPr>
          <a:xfrm>
            <a:off x="2743200" y="3337559"/>
            <a:ext cx="731520" cy="274320"/>
          </a:xfrm>
          <a:prstGeom prst="rect">
            <a:avLst/>
          </a:prstGeom>
          <a:noFill/>
        </p:spPr>
        <p:txBody>
          <a:bodyPr wrap="square">
            <a:spAutoFit/>
          </a:bodyPr>
          <a:lstStyle/>
          <a:p>
            <a:pPr>
              <a:defRPr sz="900" b="0">
                <a:solidFill>
                  <a:srgbClr val="1A1A1A"/>
                </a:solidFill>
                <a:latin typeface="Arial"/>
              </a:defRPr>
            </a:pPr>
            <a:r>
              <a:t>8%</a:t>
            </a:r>
          </a:p>
        </p:txBody>
      </p:sp>
      <p:sp>
        <p:nvSpPr>
          <p:cNvPr id="47" name="Rounded Rectangle 46"/>
          <p:cNvSpPr/>
          <p:nvPr/>
        </p:nvSpPr>
        <p:spPr>
          <a:xfrm>
            <a:off x="3566160" y="3355847"/>
            <a:ext cx="1463040" cy="256032"/>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66160" y="3364991"/>
            <a:ext cx="1463040" cy="256032"/>
          </a:xfrm>
          <a:prstGeom prst="rect">
            <a:avLst/>
          </a:prstGeom>
          <a:noFill/>
        </p:spPr>
        <p:txBody>
          <a:bodyPr wrap="square">
            <a:spAutoFit/>
          </a:bodyPr>
          <a:lstStyle/>
          <a:p>
            <a:pPr algn="ctr">
              <a:defRPr sz="700" b="0">
                <a:solidFill>
                  <a:srgbClr val="1A3A6E"/>
                </a:solidFill>
                <a:latin typeface="Arial"/>
              </a:defRPr>
            </a:pPr>
            <a:r>
              <a:t>Penetração Média</a:t>
            </a:r>
          </a:p>
        </p:txBody>
      </p:sp>
      <p:sp>
        <p:nvSpPr>
          <p:cNvPr id="49" name="Rounded Rectangle 48"/>
          <p:cNvSpPr/>
          <p:nvPr/>
        </p:nvSpPr>
        <p:spPr>
          <a:xfrm>
            <a:off x="5943600" y="1280160"/>
            <a:ext cx="5486400" cy="1371600"/>
          </a:xfrm>
          <a:prstGeom prst="roundRect">
            <a:avLst/>
          </a:prstGeom>
          <a:solidFill>
            <a:srgbClr val="DCFCE7"/>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40" y="1325880"/>
            <a:ext cx="5303520" cy="228600"/>
          </a:xfrm>
          <a:prstGeom prst="rect">
            <a:avLst/>
          </a:prstGeom>
          <a:noFill/>
        </p:spPr>
        <p:txBody>
          <a:bodyPr wrap="square">
            <a:spAutoFit/>
          </a:bodyPr>
          <a:lstStyle/>
          <a:p>
            <a:pPr>
              <a:defRPr sz="900" b="1">
                <a:solidFill>
                  <a:srgbClr val="059669"/>
                </a:solidFill>
                <a:latin typeface="Arial"/>
              </a:defRPr>
            </a:pPr>
            <a:r>
              <a:t>📍 CONCENTRAÇÃO REGIONAL ESTRATÉGICA</a:t>
            </a:r>
          </a:p>
        </p:txBody>
      </p:sp>
      <p:sp>
        <p:nvSpPr>
          <p:cNvPr id="51" name="TextBox 50"/>
          <p:cNvSpPr txBox="1"/>
          <p:nvPr/>
        </p:nvSpPr>
        <p:spPr>
          <a:xfrm>
            <a:off x="6035040" y="1600200"/>
            <a:ext cx="5303520" cy="914400"/>
          </a:xfrm>
          <a:prstGeom prst="rect">
            <a:avLst/>
          </a:prstGeom>
          <a:noFill/>
        </p:spPr>
        <p:txBody>
          <a:bodyPr wrap="square">
            <a:spAutoFit/>
          </a:bodyPr>
          <a:lstStyle/>
          <a:p>
            <a:pPr>
              <a:defRPr sz="900" b="0">
                <a:solidFill>
                  <a:srgbClr val="1A1A1A"/>
                </a:solidFill>
                <a:latin typeface="Arial"/>
              </a:defRPr>
            </a:pPr>
            <a:r>
              <a:t>Nordeste (BA+PE+CE) representa 40% do volume navegacional, confirmando a força histórica da marca. O Sudeste (SP+RJ+MG), apesar de ter maior PIB e população, soma apenas 30%, indicando onde está o maior gap de share-of-mind.</a:t>
            </a:r>
          </a:p>
        </p:txBody>
      </p:sp>
      <p:sp>
        <p:nvSpPr>
          <p:cNvPr id="52" name="TextBox 51"/>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Modelagem baseada em: População (IBGE 2025), Penetração de Planos (ANS), Market Share Regional Hapvida.</a:t>
            </a:r>
          </a:p>
        </p:txBody>
      </p:sp>
      <p:sp>
        <p:nvSpPr>
          <p:cNvPr id="53" name="TextBox 52"/>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DEMANDA REGIONAL — KEYWORDS TRANSACIONAIS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Distribuição baseada em PIB per capita + poder aquisitivo</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37160"/>
          </a:xfrm>
          <a:prstGeom prst="rect">
            <a:avLst/>
          </a:prstGeom>
          <a:noFill/>
        </p:spPr>
        <p:txBody>
          <a:bodyPr wrap="square">
            <a:spAutoFit/>
          </a:bodyPr>
          <a:lstStyle/>
          <a:p>
            <a:pPr>
              <a:defRPr sz="600" b="0">
                <a:solidFill>
                  <a:srgbClr val="6B7280"/>
                </a:solidFill>
                <a:latin typeface="Arial"/>
              </a:defRPr>
            </a:pPr>
            <a:r>
              <a:t>VOLUME TOTAL TRANSACIONAL</a:t>
            </a:r>
          </a:p>
        </p:txBody>
      </p:sp>
      <p:sp>
        <p:nvSpPr>
          <p:cNvPr id="7" name="TextBox 6"/>
          <p:cNvSpPr txBox="1"/>
          <p:nvPr/>
        </p:nvSpPr>
        <p:spPr>
          <a:xfrm>
            <a:off x="9921240" y="502920"/>
            <a:ext cx="1737360" cy="457200"/>
          </a:xfrm>
          <a:prstGeom prst="rect">
            <a:avLst/>
          </a:prstGeom>
          <a:noFill/>
        </p:spPr>
        <p:txBody>
          <a:bodyPr wrap="square">
            <a:spAutoFit/>
          </a:bodyPr>
          <a:lstStyle/>
          <a:p>
            <a:pPr>
              <a:defRPr sz="1600" b="1">
                <a:solidFill>
                  <a:srgbClr val="E87722"/>
                </a:solidFill>
                <a:latin typeface="Arial"/>
              </a:defRPr>
            </a:pPr>
            <a:r>
              <a:t>192.5k/mês</a:t>
            </a:r>
          </a:p>
        </p:txBody>
      </p:sp>
      <p:sp>
        <p:nvSpPr>
          <p:cNvPr id="8" name="TextBox 7"/>
          <p:cNvSpPr txBox="1"/>
          <p:nvPr/>
        </p:nvSpPr>
        <p:spPr>
          <a:xfrm>
            <a:off x="457200" y="1645920"/>
            <a:ext cx="274320" cy="274320"/>
          </a:xfrm>
          <a:prstGeom prst="rect">
            <a:avLst/>
          </a:prstGeom>
          <a:noFill/>
        </p:spPr>
        <p:txBody>
          <a:bodyPr wrap="square">
            <a:spAutoFit/>
          </a:bodyPr>
          <a:lstStyle/>
          <a:p>
            <a:pPr>
              <a:defRPr sz="900" b="0">
                <a:solidFill>
                  <a:srgbClr val="6B7280"/>
                </a:solidFill>
                <a:latin typeface="Arial"/>
              </a:defRPr>
            </a:pPr>
            <a:r>
              <a:t>01</a:t>
            </a:r>
          </a:p>
        </p:txBody>
      </p:sp>
      <p:sp>
        <p:nvSpPr>
          <p:cNvPr id="9" name="Oval 8"/>
          <p:cNvSpPr/>
          <p:nvPr/>
        </p:nvSpPr>
        <p:spPr>
          <a:xfrm>
            <a:off x="868680" y="1664208"/>
            <a:ext cx="320040" cy="27432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73352"/>
            <a:ext cx="320040" cy="256032"/>
          </a:xfrm>
          <a:prstGeom prst="rect">
            <a:avLst/>
          </a:prstGeom>
          <a:noFill/>
        </p:spPr>
        <p:txBody>
          <a:bodyPr wrap="square">
            <a:spAutoFit/>
          </a:bodyPr>
          <a:lstStyle/>
          <a:p>
            <a:pPr algn="ctr">
              <a:defRPr sz="800" b="1">
                <a:solidFill>
                  <a:srgbClr val="FFFFFF"/>
                </a:solidFill>
                <a:latin typeface="Arial"/>
              </a:defRPr>
            </a:pPr>
            <a:r>
              <a:t>SP</a:t>
            </a:r>
          </a:p>
        </p:txBody>
      </p:sp>
      <p:sp>
        <p:nvSpPr>
          <p:cNvPr id="11" name="TextBox 10"/>
          <p:cNvSpPr txBox="1"/>
          <p:nvPr/>
        </p:nvSpPr>
        <p:spPr>
          <a:xfrm>
            <a:off x="1645920" y="1645920"/>
            <a:ext cx="1097280" cy="274320"/>
          </a:xfrm>
          <a:prstGeom prst="rect">
            <a:avLst/>
          </a:prstGeom>
          <a:noFill/>
        </p:spPr>
        <p:txBody>
          <a:bodyPr wrap="square">
            <a:spAutoFit/>
          </a:bodyPr>
          <a:lstStyle/>
          <a:p>
            <a:pPr>
              <a:defRPr sz="900" b="0">
                <a:solidFill>
                  <a:srgbClr val="1A1A1A"/>
                </a:solidFill>
                <a:latin typeface="Arial"/>
              </a:defRPr>
            </a:pPr>
            <a:r>
              <a:t>67.4k</a:t>
            </a:r>
          </a:p>
        </p:txBody>
      </p:sp>
      <p:sp>
        <p:nvSpPr>
          <p:cNvPr id="12" name="TextBox 11"/>
          <p:cNvSpPr txBox="1"/>
          <p:nvPr/>
        </p:nvSpPr>
        <p:spPr>
          <a:xfrm>
            <a:off x="2743200" y="1645920"/>
            <a:ext cx="731520" cy="274320"/>
          </a:xfrm>
          <a:prstGeom prst="rect">
            <a:avLst/>
          </a:prstGeom>
          <a:noFill/>
        </p:spPr>
        <p:txBody>
          <a:bodyPr wrap="square">
            <a:spAutoFit/>
          </a:bodyPr>
          <a:lstStyle/>
          <a:p>
            <a:pPr>
              <a:defRPr sz="900" b="0">
                <a:solidFill>
                  <a:srgbClr val="1A1A1A"/>
                </a:solidFill>
                <a:latin typeface="Arial"/>
              </a:defRPr>
            </a:pPr>
            <a:r>
              <a:t>35%</a:t>
            </a:r>
          </a:p>
        </p:txBody>
      </p:sp>
      <p:sp>
        <p:nvSpPr>
          <p:cNvPr id="13" name="Rounded Rectangle 12"/>
          <p:cNvSpPr/>
          <p:nvPr/>
        </p:nvSpPr>
        <p:spPr>
          <a:xfrm>
            <a:off x="3566160" y="1664208"/>
            <a:ext cx="1463040" cy="256032"/>
          </a:xfrm>
          <a:prstGeom prst="roundRect">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673352"/>
            <a:ext cx="1463040" cy="256032"/>
          </a:xfrm>
          <a:prstGeom prst="rect">
            <a:avLst/>
          </a:prstGeom>
          <a:noFill/>
        </p:spPr>
        <p:txBody>
          <a:bodyPr wrap="square">
            <a:spAutoFit/>
          </a:bodyPr>
          <a:lstStyle/>
          <a:p>
            <a:pPr algn="ctr">
              <a:defRPr sz="700" b="0">
                <a:solidFill>
                  <a:srgbClr val="E87722"/>
                </a:solidFill>
                <a:latin typeface="Arial"/>
              </a:defRPr>
            </a:pPr>
            <a:r>
              <a:t>Centro Econômico</a:t>
            </a:r>
          </a:p>
        </p:txBody>
      </p:sp>
      <p:sp>
        <p:nvSpPr>
          <p:cNvPr id="15" name="TextBox 14"/>
          <p:cNvSpPr txBox="1"/>
          <p:nvPr/>
        </p:nvSpPr>
        <p:spPr>
          <a:xfrm>
            <a:off x="457200" y="2011680"/>
            <a:ext cx="274320" cy="274320"/>
          </a:xfrm>
          <a:prstGeom prst="rect">
            <a:avLst/>
          </a:prstGeom>
          <a:noFill/>
        </p:spPr>
        <p:txBody>
          <a:bodyPr wrap="square">
            <a:spAutoFit/>
          </a:bodyPr>
          <a:lstStyle/>
          <a:p>
            <a:pPr>
              <a:defRPr sz="900" b="0">
                <a:solidFill>
                  <a:srgbClr val="6B7280"/>
                </a:solidFill>
                <a:latin typeface="Arial"/>
              </a:defRPr>
            </a:pPr>
            <a:r>
              <a:t>02</a:t>
            </a:r>
          </a:p>
        </p:txBody>
      </p:sp>
      <p:sp>
        <p:nvSpPr>
          <p:cNvPr id="16" name="Oval 15"/>
          <p:cNvSpPr/>
          <p:nvPr/>
        </p:nvSpPr>
        <p:spPr>
          <a:xfrm>
            <a:off x="868680" y="2029968"/>
            <a:ext cx="320040" cy="27432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039112"/>
            <a:ext cx="320040" cy="256032"/>
          </a:xfrm>
          <a:prstGeom prst="rect">
            <a:avLst/>
          </a:prstGeom>
          <a:noFill/>
        </p:spPr>
        <p:txBody>
          <a:bodyPr wrap="square">
            <a:spAutoFit/>
          </a:bodyPr>
          <a:lstStyle/>
          <a:p>
            <a:pPr algn="ctr">
              <a:defRPr sz="800" b="1">
                <a:solidFill>
                  <a:srgbClr val="FFFFFF"/>
                </a:solidFill>
                <a:latin typeface="Arial"/>
              </a:defRPr>
            </a:pPr>
            <a:r>
              <a:t>RJ</a:t>
            </a:r>
          </a:p>
        </p:txBody>
      </p:sp>
      <p:sp>
        <p:nvSpPr>
          <p:cNvPr id="18" name="TextBox 17"/>
          <p:cNvSpPr txBox="1"/>
          <p:nvPr/>
        </p:nvSpPr>
        <p:spPr>
          <a:xfrm>
            <a:off x="1645920" y="2011680"/>
            <a:ext cx="1097280" cy="274320"/>
          </a:xfrm>
          <a:prstGeom prst="rect">
            <a:avLst/>
          </a:prstGeom>
          <a:noFill/>
        </p:spPr>
        <p:txBody>
          <a:bodyPr wrap="square">
            <a:spAutoFit/>
          </a:bodyPr>
          <a:lstStyle/>
          <a:p>
            <a:pPr>
              <a:defRPr sz="900" b="0">
                <a:solidFill>
                  <a:srgbClr val="1A1A1A"/>
                </a:solidFill>
                <a:latin typeface="Arial"/>
              </a:defRPr>
            </a:pPr>
            <a:r>
              <a:t>27.0k</a:t>
            </a:r>
          </a:p>
        </p:txBody>
      </p:sp>
      <p:sp>
        <p:nvSpPr>
          <p:cNvPr id="19" name="TextBox 18"/>
          <p:cNvSpPr txBox="1"/>
          <p:nvPr/>
        </p:nvSpPr>
        <p:spPr>
          <a:xfrm>
            <a:off x="2743200" y="2011680"/>
            <a:ext cx="731520" cy="274320"/>
          </a:xfrm>
          <a:prstGeom prst="rect">
            <a:avLst/>
          </a:prstGeom>
          <a:noFill/>
        </p:spPr>
        <p:txBody>
          <a:bodyPr wrap="square">
            <a:spAutoFit/>
          </a:bodyPr>
          <a:lstStyle/>
          <a:p>
            <a:pPr>
              <a:defRPr sz="900" b="0">
                <a:solidFill>
                  <a:srgbClr val="1A1A1A"/>
                </a:solidFill>
                <a:latin typeface="Arial"/>
              </a:defRPr>
            </a:pPr>
            <a:r>
              <a:t>14%</a:t>
            </a:r>
          </a:p>
        </p:txBody>
      </p:sp>
      <p:sp>
        <p:nvSpPr>
          <p:cNvPr id="20" name="Rounded Rectangle 19"/>
          <p:cNvSpPr/>
          <p:nvPr/>
        </p:nvSpPr>
        <p:spPr>
          <a:xfrm>
            <a:off x="3566160" y="2029968"/>
            <a:ext cx="1463040" cy="256032"/>
          </a:xfrm>
          <a:prstGeom prst="roundRect">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2039112"/>
            <a:ext cx="1463040" cy="256032"/>
          </a:xfrm>
          <a:prstGeom prst="rect">
            <a:avLst/>
          </a:prstGeom>
          <a:noFill/>
        </p:spPr>
        <p:txBody>
          <a:bodyPr wrap="square">
            <a:spAutoFit/>
          </a:bodyPr>
          <a:lstStyle/>
          <a:p>
            <a:pPr algn="ctr">
              <a:defRPr sz="700" b="0">
                <a:solidFill>
                  <a:srgbClr val="E87722"/>
                </a:solidFill>
                <a:latin typeface="Arial"/>
              </a:defRPr>
            </a:pPr>
            <a:r>
              <a:t>Alta Renda</a:t>
            </a:r>
          </a:p>
        </p:txBody>
      </p:sp>
      <p:sp>
        <p:nvSpPr>
          <p:cNvPr id="22" name="TextBox 21"/>
          <p:cNvSpPr txBox="1"/>
          <p:nvPr/>
        </p:nvSpPr>
        <p:spPr>
          <a:xfrm>
            <a:off x="457200" y="2377440"/>
            <a:ext cx="274320" cy="274320"/>
          </a:xfrm>
          <a:prstGeom prst="rect">
            <a:avLst/>
          </a:prstGeom>
          <a:noFill/>
        </p:spPr>
        <p:txBody>
          <a:bodyPr wrap="square">
            <a:spAutoFit/>
          </a:bodyPr>
          <a:lstStyle/>
          <a:p>
            <a:pPr>
              <a:defRPr sz="900" b="0">
                <a:solidFill>
                  <a:srgbClr val="6B7280"/>
                </a:solidFill>
                <a:latin typeface="Arial"/>
              </a:defRPr>
            </a:pPr>
            <a:r>
              <a:t>03</a:t>
            </a:r>
          </a:p>
        </p:txBody>
      </p:sp>
      <p:sp>
        <p:nvSpPr>
          <p:cNvPr id="23" name="Oval 22"/>
          <p:cNvSpPr/>
          <p:nvPr/>
        </p:nvSpPr>
        <p:spPr>
          <a:xfrm>
            <a:off x="868680" y="2395728"/>
            <a:ext cx="320040" cy="27432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404872"/>
            <a:ext cx="320040" cy="256032"/>
          </a:xfrm>
          <a:prstGeom prst="rect">
            <a:avLst/>
          </a:prstGeom>
          <a:noFill/>
        </p:spPr>
        <p:txBody>
          <a:bodyPr wrap="square">
            <a:spAutoFit/>
          </a:bodyPr>
          <a:lstStyle/>
          <a:p>
            <a:pPr algn="ctr">
              <a:defRPr sz="800" b="1">
                <a:solidFill>
                  <a:srgbClr val="FFFFFF"/>
                </a:solidFill>
                <a:latin typeface="Arial"/>
              </a:defRPr>
            </a:pPr>
            <a:r>
              <a:t>MG</a:t>
            </a:r>
          </a:p>
        </p:txBody>
      </p:sp>
      <p:sp>
        <p:nvSpPr>
          <p:cNvPr id="25" name="TextBox 24"/>
          <p:cNvSpPr txBox="1"/>
          <p:nvPr/>
        </p:nvSpPr>
        <p:spPr>
          <a:xfrm>
            <a:off x="1645920" y="2377440"/>
            <a:ext cx="1097280" cy="274320"/>
          </a:xfrm>
          <a:prstGeom prst="rect">
            <a:avLst/>
          </a:prstGeom>
          <a:noFill/>
        </p:spPr>
        <p:txBody>
          <a:bodyPr wrap="square">
            <a:spAutoFit/>
          </a:bodyPr>
          <a:lstStyle/>
          <a:p>
            <a:pPr>
              <a:defRPr sz="900" b="0">
                <a:solidFill>
                  <a:srgbClr val="1A1A1A"/>
                </a:solidFill>
                <a:latin typeface="Arial"/>
              </a:defRPr>
            </a:pPr>
            <a:r>
              <a:t>21.2k</a:t>
            </a:r>
          </a:p>
        </p:txBody>
      </p:sp>
      <p:sp>
        <p:nvSpPr>
          <p:cNvPr id="26" name="TextBox 25"/>
          <p:cNvSpPr txBox="1"/>
          <p:nvPr/>
        </p:nvSpPr>
        <p:spPr>
          <a:xfrm>
            <a:off x="2743200" y="2377440"/>
            <a:ext cx="731520" cy="274320"/>
          </a:xfrm>
          <a:prstGeom prst="rect">
            <a:avLst/>
          </a:prstGeom>
          <a:noFill/>
        </p:spPr>
        <p:txBody>
          <a:bodyPr wrap="square">
            <a:spAutoFit/>
          </a:bodyPr>
          <a:lstStyle/>
          <a:p>
            <a:pPr>
              <a:defRPr sz="900" b="0">
                <a:solidFill>
                  <a:srgbClr val="1A1A1A"/>
                </a:solidFill>
                <a:latin typeface="Arial"/>
              </a:defRPr>
            </a:pPr>
            <a:r>
              <a:t>11%</a:t>
            </a:r>
          </a:p>
        </p:txBody>
      </p:sp>
      <p:sp>
        <p:nvSpPr>
          <p:cNvPr id="27" name="Rounded Rectangle 26"/>
          <p:cNvSpPr/>
          <p:nvPr/>
        </p:nvSpPr>
        <p:spPr>
          <a:xfrm>
            <a:off x="3566160" y="2395728"/>
            <a:ext cx="1463040" cy="256032"/>
          </a:xfrm>
          <a:prstGeom prst="roundRect">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66160" y="2404872"/>
            <a:ext cx="1463040" cy="256032"/>
          </a:xfrm>
          <a:prstGeom prst="rect">
            <a:avLst/>
          </a:prstGeom>
          <a:noFill/>
        </p:spPr>
        <p:txBody>
          <a:bodyPr wrap="square">
            <a:spAutoFit/>
          </a:bodyPr>
          <a:lstStyle/>
          <a:p>
            <a:pPr algn="ctr">
              <a:defRPr sz="700" b="0">
                <a:solidFill>
                  <a:srgbClr val="E87722"/>
                </a:solidFill>
                <a:latin typeface="Arial"/>
              </a:defRPr>
            </a:pPr>
            <a:r>
              <a:t>Polo Industrial</a:t>
            </a:r>
          </a:p>
        </p:txBody>
      </p:sp>
      <p:sp>
        <p:nvSpPr>
          <p:cNvPr id="29" name="TextBox 28"/>
          <p:cNvSpPr txBox="1"/>
          <p:nvPr/>
        </p:nvSpPr>
        <p:spPr>
          <a:xfrm>
            <a:off x="457200" y="2743200"/>
            <a:ext cx="274320" cy="274320"/>
          </a:xfrm>
          <a:prstGeom prst="rect">
            <a:avLst/>
          </a:prstGeom>
          <a:noFill/>
        </p:spPr>
        <p:txBody>
          <a:bodyPr wrap="square">
            <a:spAutoFit/>
          </a:bodyPr>
          <a:lstStyle/>
          <a:p>
            <a:pPr>
              <a:defRPr sz="900" b="0">
                <a:solidFill>
                  <a:srgbClr val="6B7280"/>
                </a:solidFill>
                <a:latin typeface="Arial"/>
              </a:defRPr>
            </a:pPr>
            <a:r>
              <a:t>04</a:t>
            </a:r>
          </a:p>
        </p:txBody>
      </p:sp>
      <p:sp>
        <p:nvSpPr>
          <p:cNvPr id="30" name="Oval 29"/>
          <p:cNvSpPr/>
          <p:nvPr/>
        </p:nvSpPr>
        <p:spPr>
          <a:xfrm>
            <a:off x="868680" y="2761488"/>
            <a:ext cx="320040" cy="27432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2770632"/>
            <a:ext cx="320040" cy="256032"/>
          </a:xfrm>
          <a:prstGeom prst="rect">
            <a:avLst/>
          </a:prstGeom>
          <a:noFill/>
        </p:spPr>
        <p:txBody>
          <a:bodyPr wrap="square">
            <a:spAutoFit/>
          </a:bodyPr>
          <a:lstStyle/>
          <a:p>
            <a:pPr algn="ctr">
              <a:defRPr sz="800" b="1">
                <a:solidFill>
                  <a:srgbClr val="FFFFFF"/>
                </a:solidFill>
                <a:latin typeface="Arial"/>
              </a:defRPr>
            </a:pPr>
            <a:r>
              <a:t>RS</a:t>
            </a:r>
          </a:p>
        </p:txBody>
      </p:sp>
      <p:sp>
        <p:nvSpPr>
          <p:cNvPr id="32" name="TextBox 31"/>
          <p:cNvSpPr txBox="1"/>
          <p:nvPr/>
        </p:nvSpPr>
        <p:spPr>
          <a:xfrm>
            <a:off x="1645920" y="2743200"/>
            <a:ext cx="1097280" cy="274320"/>
          </a:xfrm>
          <a:prstGeom prst="rect">
            <a:avLst/>
          </a:prstGeom>
          <a:noFill/>
        </p:spPr>
        <p:txBody>
          <a:bodyPr wrap="square">
            <a:spAutoFit/>
          </a:bodyPr>
          <a:lstStyle/>
          <a:p>
            <a:pPr>
              <a:defRPr sz="900" b="0">
                <a:solidFill>
                  <a:srgbClr val="1A1A1A"/>
                </a:solidFill>
                <a:latin typeface="Arial"/>
              </a:defRPr>
            </a:pPr>
            <a:r>
              <a:t>17.3k</a:t>
            </a:r>
          </a:p>
        </p:txBody>
      </p:sp>
      <p:sp>
        <p:nvSpPr>
          <p:cNvPr id="33" name="TextBox 32"/>
          <p:cNvSpPr txBox="1"/>
          <p:nvPr/>
        </p:nvSpPr>
        <p:spPr>
          <a:xfrm>
            <a:off x="2743200" y="2743200"/>
            <a:ext cx="731520" cy="274320"/>
          </a:xfrm>
          <a:prstGeom prst="rect">
            <a:avLst/>
          </a:prstGeom>
          <a:noFill/>
        </p:spPr>
        <p:txBody>
          <a:bodyPr wrap="square">
            <a:spAutoFit/>
          </a:bodyPr>
          <a:lstStyle/>
          <a:p>
            <a:pPr>
              <a:defRPr sz="900" b="0">
                <a:solidFill>
                  <a:srgbClr val="1A1A1A"/>
                </a:solidFill>
                <a:latin typeface="Arial"/>
              </a:defRPr>
            </a:pPr>
            <a:r>
              <a:t>9%</a:t>
            </a:r>
          </a:p>
        </p:txBody>
      </p:sp>
      <p:sp>
        <p:nvSpPr>
          <p:cNvPr id="34" name="Rounded Rectangle 33"/>
          <p:cNvSpPr/>
          <p:nvPr/>
        </p:nvSpPr>
        <p:spPr>
          <a:xfrm>
            <a:off x="3566160" y="2761488"/>
            <a:ext cx="1463040" cy="256032"/>
          </a:xfrm>
          <a:prstGeom prst="roundRect">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60" y="2770632"/>
            <a:ext cx="1463040" cy="256032"/>
          </a:xfrm>
          <a:prstGeom prst="rect">
            <a:avLst/>
          </a:prstGeom>
          <a:noFill/>
        </p:spPr>
        <p:txBody>
          <a:bodyPr wrap="square">
            <a:spAutoFit/>
          </a:bodyPr>
          <a:lstStyle/>
          <a:p>
            <a:pPr algn="ctr">
              <a:defRPr sz="700" b="0">
                <a:solidFill>
                  <a:srgbClr val="E87722"/>
                </a:solidFill>
                <a:latin typeface="Arial"/>
              </a:defRPr>
            </a:pPr>
            <a:r>
              <a:t>Poder Aquisitivo</a:t>
            </a:r>
          </a:p>
        </p:txBody>
      </p:sp>
      <p:sp>
        <p:nvSpPr>
          <p:cNvPr id="36" name="TextBox 35"/>
          <p:cNvSpPr txBox="1"/>
          <p:nvPr/>
        </p:nvSpPr>
        <p:spPr>
          <a:xfrm>
            <a:off x="457200" y="3108960"/>
            <a:ext cx="274320" cy="274320"/>
          </a:xfrm>
          <a:prstGeom prst="rect">
            <a:avLst/>
          </a:prstGeom>
          <a:noFill/>
        </p:spPr>
        <p:txBody>
          <a:bodyPr wrap="square">
            <a:spAutoFit/>
          </a:bodyPr>
          <a:lstStyle/>
          <a:p>
            <a:pPr>
              <a:defRPr sz="900" b="0">
                <a:solidFill>
                  <a:srgbClr val="6B7280"/>
                </a:solidFill>
                <a:latin typeface="Arial"/>
              </a:defRPr>
            </a:pPr>
            <a:r>
              <a:t>05</a:t>
            </a:r>
          </a:p>
        </p:txBody>
      </p:sp>
      <p:sp>
        <p:nvSpPr>
          <p:cNvPr id="37" name="Oval 36"/>
          <p:cNvSpPr/>
          <p:nvPr/>
        </p:nvSpPr>
        <p:spPr>
          <a:xfrm>
            <a:off x="868680" y="3127248"/>
            <a:ext cx="320040" cy="274320"/>
          </a:xfrm>
          <a:prstGeom prst="ellipse">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3136391"/>
            <a:ext cx="320040" cy="256032"/>
          </a:xfrm>
          <a:prstGeom prst="rect">
            <a:avLst/>
          </a:prstGeom>
          <a:noFill/>
        </p:spPr>
        <p:txBody>
          <a:bodyPr wrap="square">
            <a:spAutoFit/>
          </a:bodyPr>
          <a:lstStyle/>
          <a:p>
            <a:pPr algn="ctr">
              <a:defRPr sz="800" b="1">
                <a:solidFill>
                  <a:srgbClr val="FFFFFF"/>
                </a:solidFill>
                <a:latin typeface="Arial"/>
              </a:defRPr>
            </a:pPr>
            <a:r>
              <a:t>PR</a:t>
            </a:r>
          </a:p>
        </p:txBody>
      </p:sp>
      <p:sp>
        <p:nvSpPr>
          <p:cNvPr id="39" name="TextBox 38"/>
          <p:cNvSpPr txBox="1"/>
          <p:nvPr/>
        </p:nvSpPr>
        <p:spPr>
          <a:xfrm>
            <a:off x="1645920" y="3108960"/>
            <a:ext cx="1097280" cy="274320"/>
          </a:xfrm>
          <a:prstGeom prst="rect">
            <a:avLst/>
          </a:prstGeom>
          <a:noFill/>
        </p:spPr>
        <p:txBody>
          <a:bodyPr wrap="square">
            <a:spAutoFit/>
          </a:bodyPr>
          <a:lstStyle/>
          <a:p>
            <a:pPr>
              <a:defRPr sz="900" b="0">
                <a:solidFill>
                  <a:srgbClr val="1A1A1A"/>
                </a:solidFill>
                <a:latin typeface="Arial"/>
              </a:defRPr>
            </a:pPr>
            <a:r>
              <a:t>15.4k</a:t>
            </a:r>
          </a:p>
        </p:txBody>
      </p:sp>
      <p:sp>
        <p:nvSpPr>
          <p:cNvPr id="40" name="TextBox 39"/>
          <p:cNvSpPr txBox="1"/>
          <p:nvPr/>
        </p:nvSpPr>
        <p:spPr>
          <a:xfrm>
            <a:off x="2743200" y="3108960"/>
            <a:ext cx="731520" cy="274320"/>
          </a:xfrm>
          <a:prstGeom prst="rect">
            <a:avLst/>
          </a:prstGeom>
          <a:noFill/>
        </p:spPr>
        <p:txBody>
          <a:bodyPr wrap="square">
            <a:spAutoFit/>
          </a:bodyPr>
          <a:lstStyle/>
          <a:p>
            <a:pPr>
              <a:defRPr sz="900" b="0">
                <a:solidFill>
                  <a:srgbClr val="1A1A1A"/>
                </a:solidFill>
                <a:latin typeface="Arial"/>
              </a:defRPr>
            </a:pPr>
            <a:r>
              <a:t>8%</a:t>
            </a:r>
          </a:p>
        </p:txBody>
      </p:sp>
      <p:sp>
        <p:nvSpPr>
          <p:cNvPr id="41" name="Rounded Rectangle 40"/>
          <p:cNvSpPr/>
          <p:nvPr/>
        </p:nvSpPr>
        <p:spPr>
          <a:xfrm>
            <a:off x="3566160" y="3127248"/>
            <a:ext cx="1463040" cy="256032"/>
          </a:xfrm>
          <a:prstGeom prst="roundRect">
            <a:avLst/>
          </a:prstGeom>
          <a:solidFill>
            <a:srgbClr val="FFED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66160" y="3136391"/>
            <a:ext cx="1463040" cy="256032"/>
          </a:xfrm>
          <a:prstGeom prst="rect">
            <a:avLst/>
          </a:prstGeom>
          <a:noFill/>
        </p:spPr>
        <p:txBody>
          <a:bodyPr wrap="square">
            <a:spAutoFit/>
          </a:bodyPr>
          <a:lstStyle/>
          <a:p>
            <a:pPr algn="ctr">
              <a:defRPr sz="700" b="0">
                <a:solidFill>
                  <a:srgbClr val="E87722"/>
                </a:solidFill>
                <a:latin typeface="Arial"/>
              </a:defRPr>
            </a:pPr>
            <a:r>
              <a:t>Mercado Ativo</a:t>
            </a:r>
          </a:p>
        </p:txBody>
      </p:sp>
      <p:sp>
        <p:nvSpPr>
          <p:cNvPr id="43" name="Rounded Rectangle 42"/>
          <p:cNvSpPr/>
          <p:nvPr/>
        </p:nvSpPr>
        <p:spPr>
          <a:xfrm>
            <a:off x="5943600" y="1280160"/>
            <a:ext cx="5486400" cy="1371600"/>
          </a:xfrm>
          <a:prstGeom prst="roundRect">
            <a:avLst/>
          </a:prstGeom>
          <a:solidFill>
            <a:srgbClr val="FFEDD5"/>
          </a:solidFill>
          <a:ln w="1270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0" y="1325880"/>
            <a:ext cx="5303520" cy="228600"/>
          </a:xfrm>
          <a:prstGeom prst="rect">
            <a:avLst/>
          </a:prstGeom>
          <a:noFill/>
        </p:spPr>
        <p:txBody>
          <a:bodyPr wrap="square">
            <a:spAutoFit/>
          </a:bodyPr>
          <a:lstStyle/>
          <a:p>
            <a:pPr>
              <a:defRPr sz="900" b="1">
                <a:solidFill>
                  <a:srgbClr val="E87722"/>
                </a:solidFill>
                <a:latin typeface="Arial"/>
              </a:defRPr>
            </a:pPr>
            <a:r>
              <a:t>💰 CONCENTRAÇÃO DE RIQUEZA &amp; OPORTUNIDADE</a:t>
            </a:r>
          </a:p>
        </p:txBody>
      </p:sp>
      <p:sp>
        <p:nvSpPr>
          <p:cNvPr id="45" name="TextBox 44"/>
          <p:cNvSpPr txBox="1"/>
          <p:nvPr/>
        </p:nvSpPr>
        <p:spPr>
          <a:xfrm>
            <a:off x="6035040" y="1600200"/>
            <a:ext cx="5303520" cy="914400"/>
          </a:xfrm>
          <a:prstGeom prst="rect">
            <a:avLst/>
          </a:prstGeom>
          <a:noFill/>
        </p:spPr>
        <p:txBody>
          <a:bodyPr wrap="square">
            <a:spAutoFit/>
          </a:bodyPr>
          <a:lstStyle/>
          <a:p>
            <a:pPr>
              <a:defRPr sz="900" b="0">
                <a:solidFill>
                  <a:srgbClr val="1A1A1A"/>
                </a:solidFill>
                <a:latin typeface="Arial"/>
              </a:defRPr>
            </a:pPr>
            <a:r>
              <a:t>Sudeste + Sul (SP+RJ+MG+RS+PR+SC) concentram 83% da demanda transacional. O dinheiro está aqui. A ausência da Hapvida em keywords genéricas nestas regiões significa perder o cliente de maior LTV do país para Amil e Bradesco.</a:t>
            </a:r>
          </a:p>
        </p:txBody>
      </p:sp>
      <p:sp>
        <p:nvSpPr>
          <p:cNvPr id="46" name="TextBox 45"/>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Modelagem baseada em: População (IBGE), PIB per capita, Penetração de Planos (ANS), Poder Aquisitivo Regional.</a:t>
            </a:r>
          </a:p>
        </p:txBody>
      </p:sp>
      <p:sp>
        <p:nvSpPr>
          <p:cNvPr id="47" name="TextBox 46"/>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DEMANDA REGIONAL — KEYWORDS INFORMACIONAIS</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Distribuição baseada em escolaridade + acesso à internet</a:t>
            </a:r>
          </a:p>
        </p:txBody>
      </p:sp>
      <p:sp>
        <p:nvSpPr>
          <p:cNvPr id="5" name="Rounded Rectangle 4"/>
          <p:cNvSpPr/>
          <p:nvPr/>
        </p:nvSpPr>
        <p:spPr>
          <a:xfrm>
            <a:off x="9875520" y="320040"/>
            <a:ext cx="18288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21240" y="347472"/>
            <a:ext cx="1737360" cy="137160"/>
          </a:xfrm>
          <a:prstGeom prst="rect">
            <a:avLst/>
          </a:prstGeom>
          <a:noFill/>
        </p:spPr>
        <p:txBody>
          <a:bodyPr wrap="square">
            <a:spAutoFit/>
          </a:bodyPr>
          <a:lstStyle/>
          <a:p>
            <a:pPr>
              <a:defRPr sz="600" b="0">
                <a:solidFill>
                  <a:srgbClr val="6B7280"/>
                </a:solidFill>
                <a:latin typeface="Arial"/>
              </a:defRPr>
            </a:pPr>
            <a:r>
              <a:t>VOLUME TOTAL INFORMACIONAL</a:t>
            </a:r>
          </a:p>
        </p:txBody>
      </p:sp>
      <p:sp>
        <p:nvSpPr>
          <p:cNvPr id="7" name="TextBox 6"/>
          <p:cNvSpPr txBox="1"/>
          <p:nvPr/>
        </p:nvSpPr>
        <p:spPr>
          <a:xfrm>
            <a:off x="9921240" y="502920"/>
            <a:ext cx="1737360" cy="457200"/>
          </a:xfrm>
          <a:prstGeom prst="rect">
            <a:avLst/>
          </a:prstGeom>
          <a:noFill/>
        </p:spPr>
        <p:txBody>
          <a:bodyPr wrap="square">
            <a:spAutoFit/>
          </a:bodyPr>
          <a:lstStyle/>
          <a:p>
            <a:pPr>
              <a:defRPr sz="1600" b="1">
                <a:solidFill>
                  <a:srgbClr val="059669"/>
                </a:solidFill>
                <a:latin typeface="Arial"/>
              </a:defRPr>
            </a:pPr>
            <a:r>
              <a:t>151.1k/mês</a:t>
            </a:r>
          </a:p>
        </p:txBody>
      </p:sp>
      <p:sp>
        <p:nvSpPr>
          <p:cNvPr id="8" name="TextBox 7"/>
          <p:cNvSpPr txBox="1"/>
          <p:nvPr/>
        </p:nvSpPr>
        <p:spPr>
          <a:xfrm>
            <a:off x="457200" y="1645920"/>
            <a:ext cx="274320" cy="274320"/>
          </a:xfrm>
          <a:prstGeom prst="rect">
            <a:avLst/>
          </a:prstGeom>
          <a:noFill/>
        </p:spPr>
        <p:txBody>
          <a:bodyPr wrap="square">
            <a:spAutoFit/>
          </a:bodyPr>
          <a:lstStyle/>
          <a:p>
            <a:pPr>
              <a:defRPr sz="900" b="0">
                <a:solidFill>
                  <a:srgbClr val="6B7280"/>
                </a:solidFill>
                <a:latin typeface="Arial"/>
              </a:defRPr>
            </a:pPr>
            <a:r>
              <a:t>01</a:t>
            </a:r>
          </a:p>
        </p:txBody>
      </p:sp>
      <p:sp>
        <p:nvSpPr>
          <p:cNvPr id="9" name="Oval 8"/>
          <p:cNvSpPr/>
          <p:nvPr/>
        </p:nvSpPr>
        <p:spPr>
          <a:xfrm>
            <a:off x="868680" y="1664208"/>
            <a:ext cx="32004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73352"/>
            <a:ext cx="320040" cy="256032"/>
          </a:xfrm>
          <a:prstGeom prst="rect">
            <a:avLst/>
          </a:prstGeom>
          <a:noFill/>
        </p:spPr>
        <p:txBody>
          <a:bodyPr wrap="square">
            <a:spAutoFit/>
          </a:bodyPr>
          <a:lstStyle/>
          <a:p>
            <a:pPr algn="ctr">
              <a:defRPr sz="800" b="1">
                <a:solidFill>
                  <a:srgbClr val="FFFFFF"/>
                </a:solidFill>
                <a:latin typeface="Arial"/>
              </a:defRPr>
            </a:pPr>
            <a:r>
              <a:t>SP</a:t>
            </a:r>
          </a:p>
        </p:txBody>
      </p:sp>
      <p:sp>
        <p:nvSpPr>
          <p:cNvPr id="11" name="TextBox 10"/>
          <p:cNvSpPr txBox="1"/>
          <p:nvPr/>
        </p:nvSpPr>
        <p:spPr>
          <a:xfrm>
            <a:off x="1645920" y="1645920"/>
            <a:ext cx="1097280" cy="274320"/>
          </a:xfrm>
          <a:prstGeom prst="rect">
            <a:avLst/>
          </a:prstGeom>
          <a:noFill/>
        </p:spPr>
        <p:txBody>
          <a:bodyPr wrap="square">
            <a:spAutoFit/>
          </a:bodyPr>
          <a:lstStyle/>
          <a:p>
            <a:pPr>
              <a:defRPr sz="900" b="0">
                <a:solidFill>
                  <a:srgbClr val="1A1A1A"/>
                </a:solidFill>
                <a:latin typeface="Arial"/>
              </a:defRPr>
            </a:pPr>
            <a:r>
              <a:t>48.4k</a:t>
            </a:r>
          </a:p>
        </p:txBody>
      </p:sp>
      <p:sp>
        <p:nvSpPr>
          <p:cNvPr id="12" name="TextBox 11"/>
          <p:cNvSpPr txBox="1"/>
          <p:nvPr/>
        </p:nvSpPr>
        <p:spPr>
          <a:xfrm>
            <a:off x="2743200" y="1645920"/>
            <a:ext cx="731520" cy="274320"/>
          </a:xfrm>
          <a:prstGeom prst="rect">
            <a:avLst/>
          </a:prstGeom>
          <a:noFill/>
        </p:spPr>
        <p:txBody>
          <a:bodyPr wrap="square">
            <a:spAutoFit/>
          </a:bodyPr>
          <a:lstStyle/>
          <a:p>
            <a:pPr>
              <a:defRPr sz="900" b="0">
                <a:solidFill>
                  <a:srgbClr val="1A1A1A"/>
                </a:solidFill>
                <a:latin typeface="Arial"/>
              </a:defRPr>
            </a:pPr>
            <a:r>
              <a:t>32%</a:t>
            </a:r>
          </a:p>
        </p:txBody>
      </p:sp>
      <p:sp>
        <p:nvSpPr>
          <p:cNvPr id="13" name="Rounded Rectangle 12"/>
          <p:cNvSpPr/>
          <p:nvPr/>
        </p:nvSpPr>
        <p:spPr>
          <a:xfrm>
            <a:off x="3566160" y="1664208"/>
            <a:ext cx="1463040" cy="256032"/>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673352"/>
            <a:ext cx="1463040" cy="256032"/>
          </a:xfrm>
          <a:prstGeom prst="rect">
            <a:avLst/>
          </a:prstGeom>
          <a:noFill/>
        </p:spPr>
        <p:txBody>
          <a:bodyPr wrap="square">
            <a:spAutoFit/>
          </a:bodyPr>
          <a:lstStyle/>
          <a:p>
            <a:pPr algn="ctr">
              <a:defRPr sz="700" b="0">
                <a:solidFill>
                  <a:srgbClr val="059669"/>
                </a:solidFill>
                <a:latin typeface="Arial"/>
              </a:defRPr>
            </a:pPr>
            <a:r>
              <a:t>Alta Conectividade</a:t>
            </a:r>
          </a:p>
        </p:txBody>
      </p:sp>
      <p:sp>
        <p:nvSpPr>
          <p:cNvPr id="15" name="TextBox 14"/>
          <p:cNvSpPr txBox="1"/>
          <p:nvPr/>
        </p:nvSpPr>
        <p:spPr>
          <a:xfrm>
            <a:off x="457200" y="2011680"/>
            <a:ext cx="274320" cy="274320"/>
          </a:xfrm>
          <a:prstGeom prst="rect">
            <a:avLst/>
          </a:prstGeom>
          <a:noFill/>
        </p:spPr>
        <p:txBody>
          <a:bodyPr wrap="square">
            <a:spAutoFit/>
          </a:bodyPr>
          <a:lstStyle/>
          <a:p>
            <a:pPr>
              <a:defRPr sz="900" b="0">
                <a:solidFill>
                  <a:srgbClr val="6B7280"/>
                </a:solidFill>
                <a:latin typeface="Arial"/>
              </a:defRPr>
            </a:pPr>
            <a:r>
              <a:t>02</a:t>
            </a:r>
          </a:p>
        </p:txBody>
      </p:sp>
      <p:sp>
        <p:nvSpPr>
          <p:cNvPr id="16" name="Oval 15"/>
          <p:cNvSpPr/>
          <p:nvPr/>
        </p:nvSpPr>
        <p:spPr>
          <a:xfrm>
            <a:off x="868680" y="2029968"/>
            <a:ext cx="32004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039112"/>
            <a:ext cx="320040" cy="256032"/>
          </a:xfrm>
          <a:prstGeom prst="rect">
            <a:avLst/>
          </a:prstGeom>
          <a:noFill/>
        </p:spPr>
        <p:txBody>
          <a:bodyPr wrap="square">
            <a:spAutoFit/>
          </a:bodyPr>
          <a:lstStyle/>
          <a:p>
            <a:pPr algn="ctr">
              <a:defRPr sz="800" b="1">
                <a:solidFill>
                  <a:srgbClr val="FFFFFF"/>
                </a:solidFill>
                <a:latin typeface="Arial"/>
              </a:defRPr>
            </a:pPr>
            <a:r>
              <a:t>RJ</a:t>
            </a:r>
          </a:p>
        </p:txBody>
      </p:sp>
      <p:sp>
        <p:nvSpPr>
          <p:cNvPr id="18" name="TextBox 17"/>
          <p:cNvSpPr txBox="1"/>
          <p:nvPr/>
        </p:nvSpPr>
        <p:spPr>
          <a:xfrm>
            <a:off x="1645920" y="2011680"/>
            <a:ext cx="1097280" cy="274320"/>
          </a:xfrm>
          <a:prstGeom prst="rect">
            <a:avLst/>
          </a:prstGeom>
          <a:noFill/>
        </p:spPr>
        <p:txBody>
          <a:bodyPr wrap="square">
            <a:spAutoFit/>
          </a:bodyPr>
          <a:lstStyle/>
          <a:p>
            <a:pPr>
              <a:defRPr sz="900" b="0">
                <a:solidFill>
                  <a:srgbClr val="1A1A1A"/>
                </a:solidFill>
                <a:latin typeface="Arial"/>
              </a:defRPr>
            </a:pPr>
            <a:r>
              <a:t>19.6k</a:t>
            </a:r>
          </a:p>
        </p:txBody>
      </p:sp>
      <p:sp>
        <p:nvSpPr>
          <p:cNvPr id="19" name="TextBox 18"/>
          <p:cNvSpPr txBox="1"/>
          <p:nvPr/>
        </p:nvSpPr>
        <p:spPr>
          <a:xfrm>
            <a:off x="2743200" y="2011680"/>
            <a:ext cx="731520" cy="274320"/>
          </a:xfrm>
          <a:prstGeom prst="rect">
            <a:avLst/>
          </a:prstGeom>
          <a:noFill/>
        </p:spPr>
        <p:txBody>
          <a:bodyPr wrap="square">
            <a:spAutoFit/>
          </a:bodyPr>
          <a:lstStyle/>
          <a:p>
            <a:pPr>
              <a:defRPr sz="900" b="0">
                <a:solidFill>
                  <a:srgbClr val="1A1A1A"/>
                </a:solidFill>
                <a:latin typeface="Arial"/>
              </a:defRPr>
            </a:pPr>
            <a:r>
              <a:t>13%</a:t>
            </a:r>
          </a:p>
        </p:txBody>
      </p:sp>
      <p:sp>
        <p:nvSpPr>
          <p:cNvPr id="20" name="Rounded Rectangle 19"/>
          <p:cNvSpPr/>
          <p:nvPr/>
        </p:nvSpPr>
        <p:spPr>
          <a:xfrm>
            <a:off x="3566160" y="2029968"/>
            <a:ext cx="1463040" cy="256032"/>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2039112"/>
            <a:ext cx="1463040" cy="256032"/>
          </a:xfrm>
          <a:prstGeom prst="rect">
            <a:avLst/>
          </a:prstGeom>
          <a:noFill/>
        </p:spPr>
        <p:txBody>
          <a:bodyPr wrap="square">
            <a:spAutoFit/>
          </a:bodyPr>
          <a:lstStyle/>
          <a:p>
            <a:pPr algn="ctr">
              <a:defRPr sz="700" b="0">
                <a:solidFill>
                  <a:srgbClr val="059669"/>
                </a:solidFill>
                <a:latin typeface="Arial"/>
              </a:defRPr>
            </a:pPr>
            <a:r>
              <a:t>Busca Qualificada</a:t>
            </a:r>
          </a:p>
        </p:txBody>
      </p:sp>
      <p:sp>
        <p:nvSpPr>
          <p:cNvPr id="22" name="TextBox 21"/>
          <p:cNvSpPr txBox="1"/>
          <p:nvPr/>
        </p:nvSpPr>
        <p:spPr>
          <a:xfrm>
            <a:off x="457200" y="2377440"/>
            <a:ext cx="274320" cy="274320"/>
          </a:xfrm>
          <a:prstGeom prst="rect">
            <a:avLst/>
          </a:prstGeom>
          <a:noFill/>
        </p:spPr>
        <p:txBody>
          <a:bodyPr wrap="square">
            <a:spAutoFit/>
          </a:bodyPr>
          <a:lstStyle/>
          <a:p>
            <a:pPr>
              <a:defRPr sz="900" b="0">
                <a:solidFill>
                  <a:srgbClr val="6B7280"/>
                </a:solidFill>
                <a:latin typeface="Arial"/>
              </a:defRPr>
            </a:pPr>
            <a:r>
              <a:t>03</a:t>
            </a:r>
          </a:p>
        </p:txBody>
      </p:sp>
      <p:sp>
        <p:nvSpPr>
          <p:cNvPr id="23" name="Oval 22"/>
          <p:cNvSpPr/>
          <p:nvPr/>
        </p:nvSpPr>
        <p:spPr>
          <a:xfrm>
            <a:off x="868680" y="2395728"/>
            <a:ext cx="32004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2404872"/>
            <a:ext cx="320040" cy="256032"/>
          </a:xfrm>
          <a:prstGeom prst="rect">
            <a:avLst/>
          </a:prstGeom>
          <a:noFill/>
        </p:spPr>
        <p:txBody>
          <a:bodyPr wrap="square">
            <a:spAutoFit/>
          </a:bodyPr>
          <a:lstStyle/>
          <a:p>
            <a:pPr algn="ctr">
              <a:defRPr sz="800" b="1">
                <a:solidFill>
                  <a:srgbClr val="FFFFFF"/>
                </a:solidFill>
                <a:latin typeface="Arial"/>
              </a:defRPr>
            </a:pPr>
            <a:r>
              <a:t>MG</a:t>
            </a:r>
          </a:p>
        </p:txBody>
      </p:sp>
      <p:sp>
        <p:nvSpPr>
          <p:cNvPr id="25" name="TextBox 24"/>
          <p:cNvSpPr txBox="1"/>
          <p:nvPr/>
        </p:nvSpPr>
        <p:spPr>
          <a:xfrm>
            <a:off x="1645920" y="2377440"/>
            <a:ext cx="1097280" cy="274320"/>
          </a:xfrm>
          <a:prstGeom prst="rect">
            <a:avLst/>
          </a:prstGeom>
          <a:noFill/>
        </p:spPr>
        <p:txBody>
          <a:bodyPr wrap="square">
            <a:spAutoFit/>
          </a:bodyPr>
          <a:lstStyle/>
          <a:p>
            <a:pPr>
              <a:defRPr sz="900" b="0">
                <a:solidFill>
                  <a:srgbClr val="1A1A1A"/>
                </a:solidFill>
                <a:latin typeface="Arial"/>
              </a:defRPr>
            </a:pPr>
            <a:r>
              <a:t>18.1k</a:t>
            </a:r>
          </a:p>
        </p:txBody>
      </p:sp>
      <p:sp>
        <p:nvSpPr>
          <p:cNvPr id="26" name="TextBox 25"/>
          <p:cNvSpPr txBox="1"/>
          <p:nvPr/>
        </p:nvSpPr>
        <p:spPr>
          <a:xfrm>
            <a:off x="2743200" y="2377440"/>
            <a:ext cx="731520" cy="274320"/>
          </a:xfrm>
          <a:prstGeom prst="rect">
            <a:avLst/>
          </a:prstGeom>
          <a:noFill/>
        </p:spPr>
        <p:txBody>
          <a:bodyPr wrap="square">
            <a:spAutoFit/>
          </a:bodyPr>
          <a:lstStyle/>
          <a:p>
            <a:pPr>
              <a:defRPr sz="900" b="0">
                <a:solidFill>
                  <a:srgbClr val="1A1A1A"/>
                </a:solidFill>
                <a:latin typeface="Arial"/>
              </a:defRPr>
            </a:pPr>
            <a:r>
              <a:t>12%</a:t>
            </a:r>
          </a:p>
        </p:txBody>
      </p:sp>
      <p:sp>
        <p:nvSpPr>
          <p:cNvPr id="27" name="Rounded Rectangle 26"/>
          <p:cNvSpPr/>
          <p:nvPr/>
        </p:nvSpPr>
        <p:spPr>
          <a:xfrm>
            <a:off x="3566160" y="2395728"/>
            <a:ext cx="1463040" cy="256032"/>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66160" y="2404872"/>
            <a:ext cx="1463040" cy="256032"/>
          </a:xfrm>
          <a:prstGeom prst="rect">
            <a:avLst/>
          </a:prstGeom>
          <a:noFill/>
        </p:spPr>
        <p:txBody>
          <a:bodyPr wrap="square">
            <a:spAutoFit/>
          </a:bodyPr>
          <a:lstStyle/>
          <a:p>
            <a:pPr algn="ctr">
              <a:defRPr sz="700" b="0">
                <a:solidFill>
                  <a:srgbClr val="059669"/>
                </a:solidFill>
                <a:latin typeface="Arial"/>
              </a:defRPr>
            </a:pPr>
            <a:r>
              <a:t>Polo Universitário</a:t>
            </a:r>
          </a:p>
        </p:txBody>
      </p:sp>
      <p:sp>
        <p:nvSpPr>
          <p:cNvPr id="29" name="TextBox 28"/>
          <p:cNvSpPr txBox="1"/>
          <p:nvPr/>
        </p:nvSpPr>
        <p:spPr>
          <a:xfrm>
            <a:off x="457200" y="2743200"/>
            <a:ext cx="274320" cy="274320"/>
          </a:xfrm>
          <a:prstGeom prst="rect">
            <a:avLst/>
          </a:prstGeom>
          <a:noFill/>
        </p:spPr>
        <p:txBody>
          <a:bodyPr wrap="square">
            <a:spAutoFit/>
          </a:bodyPr>
          <a:lstStyle/>
          <a:p>
            <a:pPr>
              <a:defRPr sz="900" b="0">
                <a:solidFill>
                  <a:srgbClr val="6B7280"/>
                </a:solidFill>
                <a:latin typeface="Arial"/>
              </a:defRPr>
            </a:pPr>
            <a:r>
              <a:t>04</a:t>
            </a:r>
          </a:p>
        </p:txBody>
      </p:sp>
      <p:sp>
        <p:nvSpPr>
          <p:cNvPr id="30" name="Oval 29"/>
          <p:cNvSpPr/>
          <p:nvPr/>
        </p:nvSpPr>
        <p:spPr>
          <a:xfrm>
            <a:off x="868680" y="2761488"/>
            <a:ext cx="32004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2770632"/>
            <a:ext cx="320040" cy="256032"/>
          </a:xfrm>
          <a:prstGeom prst="rect">
            <a:avLst/>
          </a:prstGeom>
          <a:noFill/>
        </p:spPr>
        <p:txBody>
          <a:bodyPr wrap="square">
            <a:spAutoFit/>
          </a:bodyPr>
          <a:lstStyle/>
          <a:p>
            <a:pPr algn="ctr">
              <a:defRPr sz="800" b="1">
                <a:solidFill>
                  <a:srgbClr val="FFFFFF"/>
                </a:solidFill>
                <a:latin typeface="Arial"/>
              </a:defRPr>
            </a:pPr>
            <a:r>
              <a:t>RS</a:t>
            </a:r>
          </a:p>
        </p:txBody>
      </p:sp>
      <p:sp>
        <p:nvSpPr>
          <p:cNvPr id="32" name="TextBox 31"/>
          <p:cNvSpPr txBox="1"/>
          <p:nvPr/>
        </p:nvSpPr>
        <p:spPr>
          <a:xfrm>
            <a:off x="1645920" y="2743200"/>
            <a:ext cx="1097280" cy="274320"/>
          </a:xfrm>
          <a:prstGeom prst="rect">
            <a:avLst/>
          </a:prstGeom>
          <a:noFill/>
        </p:spPr>
        <p:txBody>
          <a:bodyPr wrap="square">
            <a:spAutoFit/>
          </a:bodyPr>
          <a:lstStyle/>
          <a:p>
            <a:pPr>
              <a:defRPr sz="900" b="0">
                <a:solidFill>
                  <a:srgbClr val="1A1A1A"/>
                </a:solidFill>
                <a:latin typeface="Arial"/>
              </a:defRPr>
            </a:pPr>
            <a:r>
              <a:t>15.1k</a:t>
            </a:r>
          </a:p>
        </p:txBody>
      </p:sp>
      <p:sp>
        <p:nvSpPr>
          <p:cNvPr id="33" name="TextBox 32"/>
          <p:cNvSpPr txBox="1"/>
          <p:nvPr/>
        </p:nvSpPr>
        <p:spPr>
          <a:xfrm>
            <a:off x="2743200" y="2743200"/>
            <a:ext cx="731520" cy="274320"/>
          </a:xfrm>
          <a:prstGeom prst="rect">
            <a:avLst/>
          </a:prstGeom>
          <a:noFill/>
        </p:spPr>
        <p:txBody>
          <a:bodyPr wrap="square">
            <a:spAutoFit/>
          </a:bodyPr>
          <a:lstStyle/>
          <a:p>
            <a:pPr>
              <a:defRPr sz="900" b="0">
                <a:solidFill>
                  <a:srgbClr val="1A1A1A"/>
                </a:solidFill>
                <a:latin typeface="Arial"/>
              </a:defRPr>
            </a:pPr>
            <a:r>
              <a:t>10%</a:t>
            </a:r>
          </a:p>
        </p:txBody>
      </p:sp>
      <p:sp>
        <p:nvSpPr>
          <p:cNvPr id="34" name="Rounded Rectangle 33"/>
          <p:cNvSpPr/>
          <p:nvPr/>
        </p:nvSpPr>
        <p:spPr>
          <a:xfrm>
            <a:off x="3566160" y="2761488"/>
            <a:ext cx="1463040" cy="256032"/>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60" y="2770632"/>
            <a:ext cx="1463040" cy="256032"/>
          </a:xfrm>
          <a:prstGeom prst="rect">
            <a:avLst/>
          </a:prstGeom>
          <a:noFill/>
        </p:spPr>
        <p:txBody>
          <a:bodyPr wrap="square">
            <a:spAutoFit/>
          </a:bodyPr>
          <a:lstStyle/>
          <a:p>
            <a:pPr algn="ctr">
              <a:defRPr sz="700" b="0">
                <a:solidFill>
                  <a:srgbClr val="059669"/>
                </a:solidFill>
                <a:latin typeface="Arial"/>
              </a:defRPr>
            </a:pPr>
            <a:r>
              <a:t>Consumidor Crítico</a:t>
            </a:r>
          </a:p>
        </p:txBody>
      </p:sp>
      <p:sp>
        <p:nvSpPr>
          <p:cNvPr id="36" name="TextBox 35"/>
          <p:cNvSpPr txBox="1"/>
          <p:nvPr/>
        </p:nvSpPr>
        <p:spPr>
          <a:xfrm>
            <a:off x="457200" y="3108960"/>
            <a:ext cx="274320" cy="274320"/>
          </a:xfrm>
          <a:prstGeom prst="rect">
            <a:avLst/>
          </a:prstGeom>
          <a:noFill/>
        </p:spPr>
        <p:txBody>
          <a:bodyPr wrap="square">
            <a:spAutoFit/>
          </a:bodyPr>
          <a:lstStyle/>
          <a:p>
            <a:pPr>
              <a:defRPr sz="900" b="0">
                <a:solidFill>
                  <a:srgbClr val="6B7280"/>
                </a:solidFill>
                <a:latin typeface="Arial"/>
              </a:defRPr>
            </a:pPr>
            <a:r>
              <a:t>05</a:t>
            </a:r>
          </a:p>
        </p:txBody>
      </p:sp>
      <p:sp>
        <p:nvSpPr>
          <p:cNvPr id="37" name="Oval 36"/>
          <p:cNvSpPr/>
          <p:nvPr/>
        </p:nvSpPr>
        <p:spPr>
          <a:xfrm>
            <a:off x="868680" y="3127248"/>
            <a:ext cx="320040" cy="2743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3136391"/>
            <a:ext cx="320040" cy="256032"/>
          </a:xfrm>
          <a:prstGeom prst="rect">
            <a:avLst/>
          </a:prstGeom>
          <a:noFill/>
        </p:spPr>
        <p:txBody>
          <a:bodyPr wrap="square">
            <a:spAutoFit/>
          </a:bodyPr>
          <a:lstStyle/>
          <a:p>
            <a:pPr algn="ctr">
              <a:defRPr sz="800" b="1">
                <a:solidFill>
                  <a:srgbClr val="FFFFFF"/>
                </a:solidFill>
                <a:latin typeface="Arial"/>
              </a:defRPr>
            </a:pPr>
            <a:r>
              <a:t>PR</a:t>
            </a:r>
          </a:p>
        </p:txBody>
      </p:sp>
      <p:sp>
        <p:nvSpPr>
          <p:cNvPr id="39" name="TextBox 38"/>
          <p:cNvSpPr txBox="1"/>
          <p:nvPr/>
        </p:nvSpPr>
        <p:spPr>
          <a:xfrm>
            <a:off x="1645920" y="3108960"/>
            <a:ext cx="1097280" cy="274320"/>
          </a:xfrm>
          <a:prstGeom prst="rect">
            <a:avLst/>
          </a:prstGeom>
          <a:noFill/>
        </p:spPr>
        <p:txBody>
          <a:bodyPr wrap="square">
            <a:spAutoFit/>
          </a:bodyPr>
          <a:lstStyle/>
          <a:p>
            <a:pPr>
              <a:defRPr sz="900" b="0">
                <a:solidFill>
                  <a:srgbClr val="1A1A1A"/>
                </a:solidFill>
                <a:latin typeface="Arial"/>
              </a:defRPr>
            </a:pPr>
            <a:r>
              <a:t>13.6k</a:t>
            </a:r>
          </a:p>
        </p:txBody>
      </p:sp>
      <p:sp>
        <p:nvSpPr>
          <p:cNvPr id="40" name="TextBox 39"/>
          <p:cNvSpPr txBox="1"/>
          <p:nvPr/>
        </p:nvSpPr>
        <p:spPr>
          <a:xfrm>
            <a:off x="2743200" y="3108960"/>
            <a:ext cx="731520" cy="274320"/>
          </a:xfrm>
          <a:prstGeom prst="rect">
            <a:avLst/>
          </a:prstGeom>
          <a:noFill/>
        </p:spPr>
        <p:txBody>
          <a:bodyPr wrap="square">
            <a:spAutoFit/>
          </a:bodyPr>
          <a:lstStyle/>
          <a:p>
            <a:pPr>
              <a:defRPr sz="900" b="0">
                <a:solidFill>
                  <a:srgbClr val="1A1A1A"/>
                </a:solidFill>
                <a:latin typeface="Arial"/>
              </a:defRPr>
            </a:pPr>
            <a:r>
              <a:t>9%</a:t>
            </a:r>
          </a:p>
        </p:txBody>
      </p:sp>
      <p:sp>
        <p:nvSpPr>
          <p:cNvPr id="41" name="Rounded Rectangle 40"/>
          <p:cNvSpPr/>
          <p:nvPr/>
        </p:nvSpPr>
        <p:spPr>
          <a:xfrm>
            <a:off x="3566160" y="3127248"/>
            <a:ext cx="1463040" cy="256032"/>
          </a:xfrm>
          <a:prstGeom prst="round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66160" y="3136391"/>
            <a:ext cx="1463040" cy="256032"/>
          </a:xfrm>
          <a:prstGeom prst="rect">
            <a:avLst/>
          </a:prstGeom>
          <a:noFill/>
        </p:spPr>
        <p:txBody>
          <a:bodyPr wrap="square">
            <a:spAutoFit/>
          </a:bodyPr>
          <a:lstStyle/>
          <a:p>
            <a:pPr algn="ctr">
              <a:defRPr sz="700" b="0">
                <a:solidFill>
                  <a:srgbClr val="059669"/>
                </a:solidFill>
                <a:latin typeface="Arial"/>
              </a:defRPr>
            </a:pPr>
            <a:r>
              <a:t>Pesquisa Ativa</a:t>
            </a:r>
          </a:p>
        </p:txBody>
      </p:sp>
      <p:sp>
        <p:nvSpPr>
          <p:cNvPr id="43" name="Rounded Rectangle 42"/>
          <p:cNvSpPr/>
          <p:nvPr/>
        </p:nvSpPr>
        <p:spPr>
          <a:xfrm>
            <a:off x="5943600" y="1280160"/>
            <a:ext cx="5486400" cy="1371600"/>
          </a:xfrm>
          <a:prstGeom prst="roundRect">
            <a:avLst/>
          </a:prstGeom>
          <a:solidFill>
            <a:srgbClr val="DCFCE7"/>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0" y="1325880"/>
            <a:ext cx="5303520" cy="228600"/>
          </a:xfrm>
          <a:prstGeom prst="rect">
            <a:avLst/>
          </a:prstGeom>
          <a:noFill/>
        </p:spPr>
        <p:txBody>
          <a:bodyPr wrap="square">
            <a:spAutoFit/>
          </a:bodyPr>
          <a:lstStyle/>
          <a:p>
            <a:pPr>
              <a:defRPr sz="900" b="1">
                <a:solidFill>
                  <a:srgbClr val="059669"/>
                </a:solidFill>
                <a:latin typeface="Arial"/>
              </a:defRPr>
            </a:pPr>
            <a:r>
              <a:t>💡 OPORTUNIDADE DE CONTENT MARKETING</a:t>
            </a:r>
          </a:p>
        </p:txBody>
      </p:sp>
      <p:sp>
        <p:nvSpPr>
          <p:cNvPr id="45" name="TextBox 44"/>
          <p:cNvSpPr txBox="1"/>
          <p:nvPr/>
        </p:nvSpPr>
        <p:spPr>
          <a:xfrm>
            <a:off x="6035040" y="1600200"/>
            <a:ext cx="5303520" cy="914400"/>
          </a:xfrm>
          <a:prstGeom prst="rect">
            <a:avLst/>
          </a:prstGeom>
          <a:noFill/>
        </p:spPr>
        <p:txBody>
          <a:bodyPr wrap="square">
            <a:spAutoFit/>
          </a:bodyPr>
          <a:lstStyle/>
          <a:p>
            <a:pPr>
              <a:defRPr sz="900" b="0">
                <a:solidFill>
                  <a:srgbClr val="1A1A1A"/>
                </a:solidFill>
                <a:latin typeface="Arial"/>
              </a:defRPr>
            </a:pPr>
            <a:r>
              <a:t>Estados Urbanos (SP+RJ+MG+RS+PR) representam 76% da demanda informacional. Nestes centros, o consumidor pesquisa "qual o melhor plano" antes de decidir. A ausência de conteúdo educativo da Hapvida nessas praças entrega a autoridade digital para comparadores e concorrentes.</a:t>
            </a:r>
          </a:p>
        </p:txBody>
      </p:sp>
      <p:sp>
        <p:nvSpPr>
          <p:cNvPr id="46" name="TextBox 45"/>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Modelagem baseada em: População Urbana, Acesso à Internet (PNAD), Escolaridade, Renda Regional.</a:t>
            </a:r>
          </a:p>
        </p:txBody>
      </p:sp>
      <p:sp>
        <p:nvSpPr>
          <p:cNvPr id="47" name="TextBox 46"/>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JORNADA DE TRÁFEGO DIGITAL — HAPVIDA</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Origens, Fluxo e Destinos de Conversão (Dez 2025)</a:t>
            </a:r>
          </a:p>
        </p:txBody>
      </p:sp>
      <p:sp>
        <p:nvSpPr>
          <p:cNvPr id="5" name="Rounded Rectangle 4"/>
          <p:cNvSpPr/>
          <p:nvPr/>
        </p:nvSpPr>
        <p:spPr>
          <a:xfrm>
            <a:off x="8686800" y="320040"/>
            <a:ext cx="164592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32520" y="347472"/>
            <a:ext cx="1554480" cy="182880"/>
          </a:xfrm>
          <a:prstGeom prst="rect">
            <a:avLst/>
          </a:prstGeom>
          <a:noFill/>
        </p:spPr>
        <p:txBody>
          <a:bodyPr wrap="square">
            <a:spAutoFit/>
          </a:bodyPr>
          <a:lstStyle/>
          <a:p>
            <a:pPr>
              <a:defRPr sz="700" b="0">
                <a:solidFill>
                  <a:srgbClr val="6B7280"/>
                </a:solidFill>
                <a:latin typeface="Arial"/>
              </a:defRPr>
            </a:pPr>
            <a:r>
              <a:t>TOTAL SESSIONS</a:t>
            </a:r>
          </a:p>
        </p:txBody>
      </p:sp>
      <p:sp>
        <p:nvSpPr>
          <p:cNvPr id="7" name="TextBox 6"/>
          <p:cNvSpPr txBox="1"/>
          <p:nvPr/>
        </p:nvSpPr>
        <p:spPr>
          <a:xfrm>
            <a:off x="8732520" y="502920"/>
            <a:ext cx="1554480" cy="457200"/>
          </a:xfrm>
          <a:prstGeom prst="rect">
            <a:avLst/>
          </a:prstGeom>
          <a:noFill/>
        </p:spPr>
        <p:txBody>
          <a:bodyPr wrap="square">
            <a:spAutoFit/>
          </a:bodyPr>
          <a:lstStyle/>
          <a:p>
            <a:pPr>
              <a:defRPr sz="1600" b="1">
                <a:solidFill>
                  <a:srgbClr val="1A3A6E"/>
                </a:solidFill>
                <a:latin typeface="Arial"/>
              </a:defRPr>
            </a:pPr>
            <a:r>
              <a:t>2.58M/mês</a:t>
            </a:r>
          </a:p>
        </p:txBody>
      </p:sp>
      <p:sp>
        <p:nvSpPr>
          <p:cNvPr id="8" name="Rounded Rectangle 7"/>
          <p:cNvSpPr/>
          <p:nvPr/>
        </p:nvSpPr>
        <p:spPr>
          <a:xfrm>
            <a:off x="10515600" y="320040"/>
            <a:ext cx="13716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61320" y="347472"/>
            <a:ext cx="1280160" cy="182880"/>
          </a:xfrm>
          <a:prstGeom prst="rect">
            <a:avLst/>
          </a:prstGeom>
          <a:noFill/>
        </p:spPr>
        <p:txBody>
          <a:bodyPr wrap="square">
            <a:spAutoFit/>
          </a:bodyPr>
          <a:lstStyle/>
          <a:p>
            <a:pPr>
              <a:defRPr sz="600" b="0">
                <a:solidFill>
                  <a:srgbClr val="6B7280"/>
                </a:solidFill>
                <a:latin typeface="Arial"/>
              </a:defRPr>
            </a:pPr>
            <a:r>
              <a:t>WHATSAPP SHARE</a:t>
            </a:r>
          </a:p>
        </p:txBody>
      </p:sp>
      <p:sp>
        <p:nvSpPr>
          <p:cNvPr id="10" name="TextBox 9"/>
          <p:cNvSpPr txBox="1"/>
          <p:nvPr/>
        </p:nvSpPr>
        <p:spPr>
          <a:xfrm>
            <a:off x="10561320" y="502920"/>
            <a:ext cx="1280160" cy="457200"/>
          </a:xfrm>
          <a:prstGeom prst="rect">
            <a:avLst/>
          </a:prstGeom>
          <a:noFill/>
        </p:spPr>
        <p:txBody>
          <a:bodyPr wrap="square">
            <a:spAutoFit/>
          </a:bodyPr>
          <a:lstStyle/>
          <a:p>
            <a:pPr>
              <a:defRPr sz="1600" b="1">
                <a:solidFill>
                  <a:srgbClr val="E87722"/>
                </a:solidFill>
                <a:latin typeface="Arial"/>
              </a:defRPr>
            </a:pPr>
            <a:r>
              <a:t>14.3%</a:t>
            </a:r>
          </a:p>
        </p:txBody>
      </p:sp>
      <p:sp>
        <p:nvSpPr>
          <p:cNvPr id="11" name="TextBox 10"/>
          <p:cNvSpPr txBox="1"/>
          <p:nvPr/>
        </p:nvSpPr>
        <p:spPr>
          <a:xfrm>
            <a:off x="457200" y="1234440"/>
            <a:ext cx="2743200" cy="228600"/>
          </a:xfrm>
          <a:prstGeom prst="rect">
            <a:avLst/>
          </a:prstGeom>
          <a:noFill/>
        </p:spPr>
        <p:txBody>
          <a:bodyPr wrap="square">
            <a:spAutoFit/>
          </a:bodyPr>
          <a:lstStyle/>
          <a:p>
            <a:pPr>
              <a:defRPr sz="800" b="1">
                <a:solidFill>
                  <a:srgbClr val="6B7280"/>
                </a:solidFill>
                <a:latin typeface="Arial"/>
              </a:defRPr>
            </a:pPr>
            <a:r>
              <a:t>■ ORIGENS DE TRÁFEGO</a:t>
            </a:r>
          </a:p>
        </p:txBody>
      </p:sp>
      <p:sp>
        <p:nvSpPr>
          <p:cNvPr id="12" name="TextBox 11"/>
          <p:cNvSpPr txBox="1"/>
          <p:nvPr/>
        </p:nvSpPr>
        <p:spPr>
          <a:xfrm>
            <a:off x="5029200" y="1234440"/>
            <a:ext cx="2743200" cy="228600"/>
          </a:xfrm>
          <a:prstGeom prst="rect">
            <a:avLst/>
          </a:prstGeom>
          <a:noFill/>
        </p:spPr>
        <p:txBody>
          <a:bodyPr wrap="square">
            <a:spAutoFit/>
          </a:bodyPr>
          <a:lstStyle/>
          <a:p>
            <a:pPr algn="ctr">
              <a:defRPr sz="800" b="1">
                <a:solidFill>
                  <a:srgbClr val="6B7280"/>
                </a:solidFill>
                <a:latin typeface="Arial"/>
              </a:defRPr>
            </a:pPr>
            <a:r>
              <a:t>PROPRIEDADE HAPVIDA</a:t>
            </a:r>
          </a:p>
        </p:txBody>
      </p:sp>
      <p:sp>
        <p:nvSpPr>
          <p:cNvPr id="13" name="TextBox 12"/>
          <p:cNvSpPr txBox="1"/>
          <p:nvPr/>
        </p:nvSpPr>
        <p:spPr>
          <a:xfrm>
            <a:off x="9601200" y="1234440"/>
            <a:ext cx="2286000" cy="228600"/>
          </a:xfrm>
          <a:prstGeom prst="rect">
            <a:avLst/>
          </a:prstGeom>
          <a:noFill/>
        </p:spPr>
        <p:txBody>
          <a:bodyPr wrap="square">
            <a:spAutoFit/>
          </a:bodyPr>
          <a:lstStyle/>
          <a:p>
            <a:pPr>
              <a:defRPr sz="800" b="1">
                <a:solidFill>
                  <a:srgbClr val="6B7280"/>
                </a:solidFill>
                <a:latin typeface="Arial"/>
              </a:defRPr>
            </a:pPr>
            <a:r>
              <a:t>CONVERSÃO &amp; SAÍDA</a:t>
            </a:r>
          </a:p>
        </p:txBody>
      </p:sp>
      <p:sp>
        <p:nvSpPr>
          <p:cNvPr id="14" name="Rounded Rectangle 13"/>
          <p:cNvSpPr/>
          <p:nvPr/>
        </p:nvSpPr>
        <p:spPr>
          <a:xfrm>
            <a:off x="4114800" y="1828800"/>
            <a:ext cx="3657600" cy="274320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560320"/>
            <a:ext cx="3474720" cy="365760"/>
          </a:xfrm>
          <a:prstGeom prst="rect">
            <a:avLst/>
          </a:prstGeom>
          <a:noFill/>
        </p:spPr>
        <p:txBody>
          <a:bodyPr wrap="square">
            <a:spAutoFit/>
          </a:bodyPr>
          <a:lstStyle/>
          <a:p>
            <a:pPr algn="ctr">
              <a:defRPr sz="1400" b="1">
                <a:solidFill>
                  <a:srgbClr val="FFFFFF"/>
                </a:solidFill>
                <a:latin typeface="Arial"/>
              </a:defRPr>
            </a:pPr>
            <a:r>
              <a:t>hapvida.com.br</a:t>
            </a:r>
          </a:p>
        </p:txBody>
      </p:sp>
      <p:sp>
        <p:nvSpPr>
          <p:cNvPr id="16" name="Rounded Rectangle 15"/>
          <p:cNvSpPr/>
          <p:nvPr/>
        </p:nvSpPr>
        <p:spPr>
          <a:xfrm>
            <a:off x="45720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937759"/>
            <a:ext cx="2560320" cy="274320"/>
          </a:xfrm>
          <a:prstGeom prst="rect">
            <a:avLst/>
          </a:prstGeom>
          <a:noFill/>
        </p:spPr>
        <p:txBody>
          <a:bodyPr wrap="square">
            <a:spAutoFit/>
          </a:bodyPr>
          <a:lstStyle/>
          <a:p>
            <a:pPr>
              <a:defRPr sz="900" b="1">
                <a:solidFill>
                  <a:srgbClr val="1A3A6E"/>
                </a:solidFill>
                <a:latin typeface="Arial"/>
              </a:defRPr>
            </a:pPr>
            <a:r>
              <a:t>📱 CANAL CRÍTICO</a:t>
            </a:r>
          </a:p>
        </p:txBody>
      </p:sp>
      <p:sp>
        <p:nvSpPr>
          <p:cNvPr id="18" name="TextBox 17"/>
          <p:cNvSpPr txBox="1"/>
          <p:nvPr/>
        </p:nvSpPr>
        <p:spPr>
          <a:xfrm>
            <a:off x="548640" y="5212080"/>
            <a:ext cx="2560320" cy="731520"/>
          </a:xfrm>
          <a:prstGeom prst="rect">
            <a:avLst/>
          </a:prstGeom>
          <a:noFill/>
        </p:spPr>
        <p:txBody>
          <a:bodyPr wrap="square">
            <a:spAutoFit/>
          </a:bodyPr>
          <a:lstStyle/>
          <a:p>
            <a:pPr>
              <a:defRPr sz="800" b="0">
                <a:solidFill>
                  <a:srgbClr val="6B7280"/>
                </a:solidFill>
                <a:latin typeface="Arial"/>
              </a:defRPr>
            </a:pPr>
            <a:r>
              <a:t>WhatsApp (14.3%) é pilar de retenção. 185k saídas mensais para atendimento direto via API.</a:t>
            </a:r>
          </a:p>
        </p:txBody>
      </p:sp>
      <p:sp>
        <p:nvSpPr>
          <p:cNvPr id="19" name="Rounded Rectangle 18"/>
          <p:cNvSpPr/>
          <p:nvPr/>
        </p:nvSpPr>
        <p:spPr>
          <a:xfrm>
            <a:off x="338328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4937759"/>
            <a:ext cx="2560320" cy="274320"/>
          </a:xfrm>
          <a:prstGeom prst="rect">
            <a:avLst/>
          </a:prstGeom>
          <a:noFill/>
        </p:spPr>
        <p:txBody>
          <a:bodyPr wrap="square">
            <a:spAutoFit/>
          </a:bodyPr>
          <a:lstStyle/>
          <a:p>
            <a:pPr>
              <a:defRPr sz="900" b="1">
                <a:solidFill>
                  <a:srgbClr val="1A3A6E"/>
                </a:solidFill>
                <a:latin typeface="Arial"/>
              </a:defRPr>
            </a:pPr>
            <a:r>
              <a:t>🎯 BRAND AWARENESS</a:t>
            </a:r>
          </a:p>
        </p:txBody>
      </p:sp>
      <p:sp>
        <p:nvSpPr>
          <p:cNvPr id="21" name="TextBox 20"/>
          <p:cNvSpPr txBox="1"/>
          <p:nvPr/>
        </p:nvSpPr>
        <p:spPr>
          <a:xfrm>
            <a:off x="3474720" y="5212080"/>
            <a:ext cx="2560320" cy="731520"/>
          </a:xfrm>
          <a:prstGeom prst="rect">
            <a:avLst/>
          </a:prstGeom>
          <a:noFill/>
        </p:spPr>
        <p:txBody>
          <a:bodyPr wrap="square">
            <a:spAutoFit/>
          </a:bodyPr>
          <a:lstStyle/>
          <a:p>
            <a:pPr>
              <a:defRPr sz="800" b="0">
                <a:solidFill>
                  <a:srgbClr val="6B7280"/>
                </a:solidFill>
                <a:latin typeface="Arial"/>
              </a:defRPr>
            </a:pPr>
            <a:r>
              <a:t>63.7% Tráfego Direto. Marca forte reduz CAC. Dependência de mídia paga é baixa na base instalada.</a:t>
            </a:r>
          </a:p>
        </p:txBody>
      </p:sp>
      <p:sp>
        <p:nvSpPr>
          <p:cNvPr id="22" name="Rounded Rectangle 21"/>
          <p:cNvSpPr/>
          <p:nvPr/>
        </p:nvSpPr>
        <p:spPr>
          <a:xfrm>
            <a:off x="630936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937759"/>
            <a:ext cx="2560320" cy="274320"/>
          </a:xfrm>
          <a:prstGeom prst="rect">
            <a:avLst/>
          </a:prstGeom>
          <a:noFill/>
        </p:spPr>
        <p:txBody>
          <a:bodyPr wrap="square">
            <a:spAutoFit/>
          </a:bodyPr>
          <a:lstStyle/>
          <a:p>
            <a:pPr>
              <a:defRPr sz="900" b="1">
                <a:solidFill>
                  <a:srgbClr val="1A3A6E"/>
                </a:solidFill>
                <a:latin typeface="Arial"/>
              </a:defRPr>
            </a:pPr>
            <a:r>
              <a:t>📈 ACELERAÇÃO PAID</a:t>
            </a:r>
          </a:p>
        </p:txBody>
      </p:sp>
      <p:sp>
        <p:nvSpPr>
          <p:cNvPr id="24" name="TextBox 23"/>
          <p:cNvSpPr txBox="1"/>
          <p:nvPr/>
        </p:nvSpPr>
        <p:spPr>
          <a:xfrm>
            <a:off x="6400800" y="5212080"/>
            <a:ext cx="2560320" cy="731520"/>
          </a:xfrm>
          <a:prstGeom prst="rect">
            <a:avLst/>
          </a:prstGeom>
          <a:noFill/>
        </p:spPr>
        <p:txBody>
          <a:bodyPr wrap="square">
            <a:spAutoFit/>
          </a:bodyPr>
          <a:lstStyle/>
          <a:p>
            <a:pPr>
              <a:defRPr sz="800" b="0">
                <a:solidFill>
                  <a:srgbClr val="6B7280"/>
                </a:solidFill>
                <a:latin typeface="Arial"/>
              </a:defRPr>
            </a:pPr>
            <a:r>
              <a:t>+995% em Paid Search. Movimento agressivo para capturar demanda transacional e fechar gap vs concorrência.</a:t>
            </a:r>
          </a:p>
        </p:txBody>
      </p:sp>
      <p:sp>
        <p:nvSpPr>
          <p:cNvPr id="25" name="Rounded Rectangle 24"/>
          <p:cNvSpPr/>
          <p:nvPr/>
        </p:nvSpPr>
        <p:spPr>
          <a:xfrm>
            <a:off x="923544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4937759"/>
            <a:ext cx="2560320" cy="274320"/>
          </a:xfrm>
          <a:prstGeom prst="rect">
            <a:avLst/>
          </a:prstGeom>
          <a:noFill/>
        </p:spPr>
        <p:txBody>
          <a:bodyPr wrap="square">
            <a:spAutoFit/>
          </a:bodyPr>
          <a:lstStyle/>
          <a:p>
            <a:pPr>
              <a:defRPr sz="900" b="1">
                <a:solidFill>
                  <a:srgbClr val="1A3A6E"/>
                </a:solidFill>
                <a:latin typeface="Arial"/>
              </a:defRPr>
            </a:pPr>
            <a:r>
              <a:t>💰 GATEWAY RECEITA</a:t>
            </a:r>
          </a:p>
        </p:txBody>
      </p:sp>
      <p:sp>
        <p:nvSpPr>
          <p:cNvPr id="27" name="TextBox 26"/>
          <p:cNvSpPr txBox="1"/>
          <p:nvPr/>
        </p:nvSpPr>
        <p:spPr>
          <a:xfrm>
            <a:off x="9326880" y="5212080"/>
            <a:ext cx="2560320" cy="731520"/>
          </a:xfrm>
          <a:prstGeom prst="rect">
            <a:avLst/>
          </a:prstGeom>
          <a:noFill/>
        </p:spPr>
        <p:txBody>
          <a:bodyPr wrap="square">
            <a:spAutoFit/>
          </a:bodyPr>
          <a:lstStyle/>
          <a:p>
            <a:pPr>
              <a:defRPr sz="800" b="0">
                <a:solidFill>
                  <a:srgbClr val="6B7280"/>
                </a:solidFill>
                <a:latin typeface="Arial"/>
              </a:defRPr>
            </a:pPr>
            <a:r>
              <a:t>XGEN (850k saídas) é o principal hub de monetização (boletos). Fluxo de receita claro e rastreável.</a:t>
            </a:r>
          </a:p>
        </p:txBody>
      </p:sp>
      <p:sp>
        <p:nvSpPr>
          <p:cNvPr id="28" name="TextBox 27"/>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Traffic Analytics (Dez/2025) • Análise de Outbound Links • BuiltWith • Wappalyzer</a:t>
            </a:r>
          </a:p>
        </p:txBody>
      </p:sp>
      <p:sp>
        <p:nvSpPr>
          <p:cNvPr id="29" name="TextBox 28"/>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JORNADA DE TRÁFEGO DIGITAL — AMIL</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Origens, Fluxo e Destinos de Conversão (Dez 2025)</a:t>
            </a:r>
          </a:p>
        </p:txBody>
      </p:sp>
      <p:sp>
        <p:nvSpPr>
          <p:cNvPr id="5" name="Rounded Rectangle 4"/>
          <p:cNvSpPr/>
          <p:nvPr/>
        </p:nvSpPr>
        <p:spPr>
          <a:xfrm>
            <a:off x="8686800" y="320040"/>
            <a:ext cx="164592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32520" y="347472"/>
            <a:ext cx="1554480" cy="182880"/>
          </a:xfrm>
          <a:prstGeom prst="rect">
            <a:avLst/>
          </a:prstGeom>
          <a:noFill/>
        </p:spPr>
        <p:txBody>
          <a:bodyPr wrap="square">
            <a:spAutoFit/>
          </a:bodyPr>
          <a:lstStyle/>
          <a:p>
            <a:pPr>
              <a:defRPr sz="700" b="0">
                <a:solidFill>
                  <a:srgbClr val="6B7280"/>
                </a:solidFill>
                <a:latin typeface="Arial"/>
              </a:defRPr>
            </a:pPr>
            <a:r>
              <a:t>TOTAL SESSIONS</a:t>
            </a:r>
          </a:p>
        </p:txBody>
      </p:sp>
      <p:sp>
        <p:nvSpPr>
          <p:cNvPr id="7" name="TextBox 6"/>
          <p:cNvSpPr txBox="1"/>
          <p:nvPr/>
        </p:nvSpPr>
        <p:spPr>
          <a:xfrm>
            <a:off x="8732520" y="502920"/>
            <a:ext cx="1554480" cy="457200"/>
          </a:xfrm>
          <a:prstGeom prst="rect">
            <a:avLst/>
          </a:prstGeom>
          <a:noFill/>
        </p:spPr>
        <p:txBody>
          <a:bodyPr wrap="square">
            <a:spAutoFit/>
          </a:bodyPr>
          <a:lstStyle/>
          <a:p>
            <a:pPr>
              <a:defRPr sz="1600" b="1">
                <a:solidFill>
                  <a:srgbClr val="1A3A6E"/>
                </a:solidFill>
                <a:latin typeface="Arial"/>
              </a:defRPr>
            </a:pPr>
            <a:r>
              <a:t>1.72M/mês</a:t>
            </a:r>
          </a:p>
        </p:txBody>
      </p:sp>
      <p:sp>
        <p:nvSpPr>
          <p:cNvPr id="8" name="Rounded Rectangle 7"/>
          <p:cNvSpPr/>
          <p:nvPr/>
        </p:nvSpPr>
        <p:spPr>
          <a:xfrm>
            <a:off x="10515600" y="320040"/>
            <a:ext cx="13716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61320" y="347472"/>
            <a:ext cx="1280160" cy="182880"/>
          </a:xfrm>
          <a:prstGeom prst="rect">
            <a:avLst/>
          </a:prstGeom>
          <a:noFill/>
        </p:spPr>
        <p:txBody>
          <a:bodyPr wrap="square">
            <a:spAutoFit/>
          </a:bodyPr>
          <a:lstStyle/>
          <a:p>
            <a:pPr>
              <a:defRPr sz="600" b="0">
                <a:solidFill>
                  <a:srgbClr val="6B7280"/>
                </a:solidFill>
                <a:latin typeface="Arial"/>
              </a:defRPr>
            </a:pPr>
            <a:r>
              <a:t>WHATSAPP SHARE</a:t>
            </a:r>
          </a:p>
        </p:txBody>
      </p:sp>
      <p:sp>
        <p:nvSpPr>
          <p:cNvPr id="10" name="TextBox 9"/>
          <p:cNvSpPr txBox="1"/>
          <p:nvPr/>
        </p:nvSpPr>
        <p:spPr>
          <a:xfrm>
            <a:off x="10561320" y="502920"/>
            <a:ext cx="1280160" cy="457200"/>
          </a:xfrm>
          <a:prstGeom prst="rect">
            <a:avLst/>
          </a:prstGeom>
          <a:noFill/>
        </p:spPr>
        <p:txBody>
          <a:bodyPr wrap="square">
            <a:spAutoFit/>
          </a:bodyPr>
          <a:lstStyle/>
          <a:p>
            <a:pPr>
              <a:defRPr sz="1600" b="1">
                <a:solidFill>
                  <a:srgbClr val="E87722"/>
                </a:solidFill>
                <a:latin typeface="Arial"/>
              </a:defRPr>
            </a:pPr>
            <a:r>
              <a:t>3.0%</a:t>
            </a:r>
          </a:p>
        </p:txBody>
      </p:sp>
      <p:sp>
        <p:nvSpPr>
          <p:cNvPr id="11" name="TextBox 10"/>
          <p:cNvSpPr txBox="1"/>
          <p:nvPr/>
        </p:nvSpPr>
        <p:spPr>
          <a:xfrm>
            <a:off x="457200" y="1234440"/>
            <a:ext cx="2743200" cy="228600"/>
          </a:xfrm>
          <a:prstGeom prst="rect">
            <a:avLst/>
          </a:prstGeom>
          <a:noFill/>
        </p:spPr>
        <p:txBody>
          <a:bodyPr wrap="square">
            <a:spAutoFit/>
          </a:bodyPr>
          <a:lstStyle/>
          <a:p>
            <a:pPr>
              <a:defRPr sz="800" b="1">
                <a:solidFill>
                  <a:srgbClr val="6B7280"/>
                </a:solidFill>
                <a:latin typeface="Arial"/>
              </a:defRPr>
            </a:pPr>
            <a:r>
              <a:t>■ ORIGENS DE TRÁFEGO</a:t>
            </a:r>
          </a:p>
        </p:txBody>
      </p:sp>
      <p:sp>
        <p:nvSpPr>
          <p:cNvPr id="12" name="TextBox 11"/>
          <p:cNvSpPr txBox="1"/>
          <p:nvPr/>
        </p:nvSpPr>
        <p:spPr>
          <a:xfrm>
            <a:off x="5029200" y="1234440"/>
            <a:ext cx="2743200" cy="228600"/>
          </a:xfrm>
          <a:prstGeom prst="rect">
            <a:avLst/>
          </a:prstGeom>
          <a:noFill/>
        </p:spPr>
        <p:txBody>
          <a:bodyPr wrap="square">
            <a:spAutoFit/>
          </a:bodyPr>
          <a:lstStyle/>
          <a:p>
            <a:pPr algn="ctr">
              <a:defRPr sz="800" b="1">
                <a:solidFill>
                  <a:srgbClr val="6B7280"/>
                </a:solidFill>
                <a:latin typeface="Arial"/>
              </a:defRPr>
            </a:pPr>
            <a:r>
              <a:t>PROPRIEDADE AMIL</a:t>
            </a:r>
          </a:p>
        </p:txBody>
      </p:sp>
      <p:sp>
        <p:nvSpPr>
          <p:cNvPr id="13" name="TextBox 12"/>
          <p:cNvSpPr txBox="1"/>
          <p:nvPr/>
        </p:nvSpPr>
        <p:spPr>
          <a:xfrm>
            <a:off x="9601200" y="1234440"/>
            <a:ext cx="2286000" cy="228600"/>
          </a:xfrm>
          <a:prstGeom prst="rect">
            <a:avLst/>
          </a:prstGeom>
          <a:noFill/>
        </p:spPr>
        <p:txBody>
          <a:bodyPr wrap="square">
            <a:spAutoFit/>
          </a:bodyPr>
          <a:lstStyle/>
          <a:p>
            <a:pPr>
              <a:defRPr sz="800" b="1">
                <a:solidFill>
                  <a:srgbClr val="6B7280"/>
                </a:solidFill>
                <a:latin typeface="Arial"/>
              </a:defRPr>
            </a:pPr>
            <a:r>
              <a:t>CONVERSÃO &amp; SAÍDA</a:t>
            </a:r>
          </a:p>
        </p:txBody>
      </p:sp>
      <p:sp>
        <p:nvSpPr>
          <p:cNvPr id="14" name="Rounded Rectangle 13"/>
          <p:cNvSpPr/>
          <p:nvPr/>
        </p:nvSpPr>
        <p:spPr>
          <a:xfrm>
            <a:off x="4114800" y="1828800"/>
            <a:ext cx="3657600" cy="274320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560320"/>
            <a:ext cx="3474720" cy="365760"/>
          </a:xfrm>
          <a:prstGeom prst="rect">
            <a:avLst/>
          </a:prstGeom>
          <a:noFill/>
        </p:spPr>
        <p:txBody>
          <a:bodyPr wrap="square">
            <a:spAutoFit/>
          </a:bodyPr>
          <a:lstStyle/>
          <a:p>
            <a:pPr algn="ctr">
              <a:defRPr sz="1400" b="1">
                <a:solidFill>
                  <a:srgbClr val="FFFFFF"/>
                </a:solidFill>
                <a:latin typeface="Arial"/>
              </a:defRPr>
            </a:pPr>
            <a:r>
              <a:t>amil.com.br</a:t>
            </a:r>
          </a:p>
        </p:txBody>
      </p:sp>
      <p:sp>
        <p:nvSpPr>
          <p:cNvPr id="16" name="Rounded Rectangle 15"/>
          <p:cNvSpPr/>
          <p:nvPr/>
        </p:nvSpPr>
        <p:spPr>
          <a:xfrm>
            <a:off x="45720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937759"/>
            <a:ext cx="2560320" cy="274320"/>
          </a:xfrm>
          <a:prstGeom prst="rect">
            <a:avLst/>
          </a:prstGeom>
          <a:noFill/>
        </p:spPr>
        <p:txBody>
          <a:bodyPr wrap="square">
            <a:spAutoFit/>
          </a:bodyPr>
          <a:lstStyle/>
          <a:p>
            <a:pPr>
              <a:defRPr sz="900" b="1">
                <a:solidFill>
                  <a:srgbClr val="1A3A6E"/>
                </a:solidFill>
                <a:latin typeface="Arial"/>
              </a:defRPr>
            </a:pPr>
            <a:r>
              <a:t>⚖️ MIX EQUILIBRADO</a:t>
            </a:r>
          </a:p>
        </p:txBody>
      </p:sp>
      <p:sp>
        <p:nvSpPr>
          <p:cNvPr id="18" name="TextBox 17"/>
          <p:cNvSpPr txBox="1"/>
          <p:nvPr/>
        </p:nvSpPr>
        <p:spPr>
          <a:xfrm>
            <a:off x="548640" y="5212080"/>
            <a:ext cx="2560320" cy="731520"/>
          </a:xfrm>
          <a:prstGeom prst="rect">
            <a:avLst/>
          </a:prstGeom>
          <a:noFill/>
        </p:spPr>
        <p:txBody>
          <a:bodyPr wrap="square">
            <a:spAutoFit/>
          </a:bodyPr>
          <a:lstStyle/>
          <a:p>
            <a:pPr>
              <a:defRPr sz="800" b="0">
                <a:solidFill>
                  <a:srgbClr val="6B7280"/>
                </a:solidFill>
                <a:latin typeface="Arial"/>
              </a:defRPr>
            </a:pPr>
            <a:r>
              <a:t>Direct + SEO + Paid sustentam aquisição de forma robusta. Dependência menor de um único canal vs concorrentes.</a:t>
            </a:r>
          </a:p>
        </p:txBody>
      </p:sp>
      <p:sp>
        <p:nvSpPr>
          <p:cNvPr id="19" name="Rounded Rectangle 18"/>
          <p:cNvSpPr/>
          <p:nvPr/>
        </p:nvSpPr>
        <p:spPr>
          <a:xfrm>
            <a:off x="338328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4937759"/>
            <a:ext cx="2560320" cy="274320"/>
          </a:xfrm>
          <a:prstGeom prst="rect">
            <a:avLst/>
          </a:prstGeom>
          <a:noFill/>
        </p:spPr>
        <p:txBody>
          <a:bodyPr wrap="square">
            <a:spAutoFit/>
          </a:bodyPr>
          <a:lstStyle/>
          <a:p>
            <a:pPr>
              <a:defRPr sz="900" b="1">
                <a:solidFill>
                  <a:srgbClr val="1A3A6E"/>
                </a:solidFill>
                <a:latin typeface="Arial"/>
              </a:defRPr>
            </a:pPr>
            <a:r>
              <a:t>📱 CANAL CRÍTICO</a:t>
            </a:r>
          </a:p>
        </p:txBody>
      </p:sp>
      <p:sp>
        <p:nvSpPr>
          <p:cNvPr id="21" name="TextBox 20"/>
          <p:cNvSpPr txBox="1"/>
          <p:nvPr/>
        </p:nvSpPr>
        <p:spPr>
          <a:xfrm>
            <a:off x="3474720" y="5212080"/>
            <a:ext cx="2560320" cy="731520"/>
          </a:xfrm>
          <a:prstGeom prst="rect">
            <a:avLst/>
          </a:prstGeom>
          <a:noFill/>
        </p:spPr>
        <p:txBody>
          <a:bodyPr wrap="square">
            <a:spAutoFit/>
          </a:bodyPr>
          <a:lstStyle/>
          <a:p>
            <a:pPr>
              <a:defRPr sz="800" b="0">
                <a:solidFill>
                  <a:srgbClr val="6B7280"/>
                </a:solidFill>
                <a:latin typeface="Arial"/>
              </a:defRPr>
            </a:pPr>
            <a:r>
              <a:t>WhatsApp 3004-1000 é hub central de autorizações e suporte, integrado diretamente à jornada do beneficiário.</a:t>
            </a:r>
          </a:p>
        </p:txBody>
      </p:sp>
      <p:sp>
        <p:nvSpPr>
          <p:cNvPr id="22" name="Rounded Rectangle 21"/>
          <p:cNvSpPr/>
          <p:nvPr/>
        </p:nvSpPr>
        <p:spPr>
          <a:xfrm>
            <a:off x="630936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937759"/>
            <a:ext cx="2560320" cy="274320"/>
          </a:xfrm>
          <a:prstGeom prst="rect">
            <a:avLst/>
          </a:prstGeom>
          <a:noFill/>
        </p:spPr>
        <p:txBody>
          <a:bodyPr wrap="square">
            <a:spAutoFit/>
          </a:bodyPr>
          <a:lstStyle/>
          <a:p>
            <a:pPr>
              <a:defRPr sz="900" b="1">
                <a:solidFill>
                  <a:srgbClr val="1A3A6E"/>
                </a:solidFill>
                <a:latin typeface="Arial"/>
              </a:defRPr>
            </a:pPr>
            <a:r>
              <a:t>⭐ SOCIAL FORTE</a:t>
            </a:r>
          </a:p>
        </p:txBody>
      </p:sp>
      <p:sp>
        <p:nvSpPr>
          <p:cNvPr id="24" name="TextBox 23"/>
          <p:cNvSpPr txBox="1"/>
          <p:nvPr/>
        </p:nvSpPr>
        <p:spPr>
          <a:xfrm>
            <a:off x="6400800" y="5212080"/>
            <a:ext cx="2560320" cy="731520"/>
          </a:xfrm>
          <a:prstGeom prst="rect">
            <a:avLst/>
          </a:prstGeom>
          <a:noFill/>
        </p:spPr>
        <p:txBody>
          <a:bodyPr wrap="square">
            <a:spAutoFit/>
          </a:bodyPr>
          <a:lstStyle/>
          <a:p>
            <a:pPr>
              <a:defRPr sz="800" b="0">
                <a:solidFill>
                  <a:srgbClr val="6B7280"/>
                </a:solidFill>
                <a:latin typeface="Arial"/>
              </a:defRPr>
            </a:pPr>
            <a:r>
              <a:t>Social 10% (172k) está acima da média do setor, indicando forte engajamento e presença de marca em redes sociais.</a:t>
            </a:r>
          </a:p>
        </p:txBody>
      </p:sp>
      <p:sp>
        <p:nvSpPr>
          <p:cNvPr id="25" name="Rounded Rectangle 24"/>
          <p:cNvSpPr/>
          <p:nvPr/>
        </p:nvSpPr>
        <p:spPr>
          <a:xfrm>
            <a:off x="923544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4937759"/>
            <a:ext cx="2560320" cy="274320"/>
          </a:xfrm>
          <a:prstGeom prst="rect">
            <a:avLst/>
          </a:prstGeom>
          <a:noFill/>
        </p:spPr>
        <p:txBody>
          <a:bodyPr wrap="square">
            <a:spAutoFit/>
          </a:bodyPr>
          <a:lstStyle/>
          <a:p>
            <a:pPr>
              <a:defRPr sz="900" b="1">
                <a:solidFill>
                  <a:srgbClr val="1A3A6E"/>
                </a:solidFill>
                <a:latin typeface="Arial"/>
              </a:defRPr>
            </a:pPr>
            <a:r>
              <a:t>💰 INVESTIMENTO PAID</a:t>
            </a:r>
          </a:p>
        </p:txBody>
      </p:sp>
      <p:sp>
        <p:nvSpPr>
          <p:cNvPr id="27" name="TextBox 26"/>
          <p:cNvSpPr txBox="1"/>
          <p:nvPr/>
        </p:nvSpPr>
        <p:spPr>
          <a:xfrm>
            <a:off x="9326880" y="5212080"/>
            <a:ext cx="2560320" cy="731520"/>
          </a:xfrm>
          <a:prstGeom prst="rect">
            <a:avLst/>
          </a:prstGeom>
          <a:noFill/>
        </p:spPr>
        <p:txBody>
          <a:bodyPr wrap="square">
            <a:spAutoFit/>
          </a:bodyPr>
          <a:lstStyle/>
          <a:p>
            <a:pPr>
              <a:defRPr sz="800" b="0">
                <a:solidFill>
                  <a:srgbClr val="6B7280"/>
                </a:solidFill>
                <a:latin typeface="Arial"/>
              </a:defRPr>
            </a:pPr>
            <a:r>
              <a:t>Paid Ads 18% mostra investimento balanceado para captura de demanda transacional, sem canibalizar orgânico.</a:t>
            </a:r>
          </a:p>
        </p:txBody>
      </p:sp>
      <p:sp>
        <p:nvSpPr>
          <p:cNvPr id="28" name="TextBox 27"/>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Traffic Analytics (Dez/2025) • Análise de Outbound Links • BuiltWith • Wappalyzer</a:t>
            </a:r>
          </a:p>
        </p:txBody>
      </p:sp>
      <p:sp>
        <p:nvSpPr>
          <p:cNvPr id="29" name="TextBox 28"/>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JORNADA DE TRÁFEGO DIGITAL — BRADESCO SAÚDE</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Origens, Fluxo e Destinos de Conversão (Dez 2025)</a:t>
            </a:r>
          </a:p>
        </p:txBody>
      </p:sp>
      <p:sp>
        <p:nvSpPr>
          <p:cNvPr id="5" name="Rounded Rectangle 4"/>
          <p:cNvSpPr/>
          <p:nvPr/>
        </p:nvSpPr>
        <p:spPr>
          <a:xfrm>
            <a:off x="8686800" y="320040"/>
            <a:ext cx="164592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32520" y="347472"/>
            <a:ext cx="1554480" cy="182880"/>
          </a:xfrm>
          <a:prstGeom prst="rect">
            <a:avLst/>
          </a:prstGeom>
          <a:noFill/>
        </p:spPr>
        <p:txBody>
          <a:bodyPr wrap="square">
            <a:spAutoFit/>
          </a:bodyPr>
          <a:lstStyle/>
          <a:p>
            <a:pPr>
              <a:defRPr sz="700" b="0">
                <a:solidFill>
                  <a:srgbClr val="6B7280"/>
                </a:solidFill>
                <a:latin typeface="Arial"/>
              </a:defRPr>
            </a:pPr>
            <a:r>
              <a:t>TOTAL SESSIONS</a:t>
            </a:r>
          </a:p>
        </p:txBody>
      </p:sp>
      <p:sp>
        <p:nvSpPr>
          <p:cNvPr id="7" name="TextBox 6"/>
          <p:cNvSpPr txBox="1"/>
          <p:nvPr/>
        </p:nvSpPr>
        <p:spPr>
          <a:xfrm>
            <a:off x="8732520" y="502920"/>
            <a:ext cx="1554480" cy="457200"/>
          </a:xfrm>
          <a:prstGeom prst="rect">
            <a:avLst/>
          </a:prstGeom>
          <a:noFill/>
        </p:spPr>
        <p:txBody>
          <a:bodyPr wrap="square">
            <a:spAutoFit/>
          </a:bodyPr>
          <a:lstStyle/>
          <a:p>
            <a:pPr>
              <a:defRPr sz="1600" b="1">
                <a:solidFill>
                  <a:srgbClr val="1A3A6E"/>
                </a:solidFill>
                <a:latin typeface="Arial"/>
              </a:defRPr>
            </a:pPr>
            <a:r>
              <a:t>912k/mês</a:t>
            </a:r>
          </a:p>
        </p:txBody>
      </p:sp>
      <p:sp>
        <p:nvSpPr>
          <p:cNvPr id="8" name="Rounded Rectangle 7"/>
          <p:cNvSpPr/>
          <p:nvPr/>
        </p:nvSpPr>
        <p:spPr>
          <a:xfrm>
            <a:off x="10515600" y="320040"/>
            <a:ext cx="13716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61320" y="347472"/>
            <a:ext cx="1280160" cy="182880"/>
          </a:xfrm>
          <a:prstGeom prst="rect">
            <a:avLst/>
          </a:prstGeom>
          <a:noFill/>
        </p:spPr>
        <p:txBody>
          <a:bodyPr wrap="square">
            <a:spAutoFit/>
          </a:bodyPr>
          <a:lstStyle/>
          <a:p>
            <a:pPr>
              <a:defRPr sz="600" b="0">
                <a:solidFill>
                  <a:srgbClr val="6B7280"/>
                </a:solidFill>
                <a:latin typeface="Arial"/>
              </a:defRPr>
            </a:pPr>
            <a:r>
              <a:t>DIRECT SHARE</a:t>
            </a:r>
          </a:p>
        </p:txBody>
      </p:sp>
      <p:sp>
        <p:nvSpPr>
          <p:cNvPr id="10" name="TextBox 9"/>
          <p:cNvSpPr txBox="1"/>
          <p:nvPr/>
        </p:nvSpPr>
        <p:spPr>
          <a:xfrm>
            <a:off x="10561320" y="502920"/>
            <a:ext cx="1280160" cy="457200"/>
          </a:xfrm>
          <a:prstGeom prst="rect">
            <a:avLst/>
          </a:prstGeom>
          <a:noFill/>
        </p:spPr>
        <p:txBody>
          <a:bodyPr wrap="square">
            <a:spAutoFit/>
          </a:bodyPr>
          <a:lstStyle/>
          <a:p>
            <a:pPr>
              <a:defRPr sz="1600" b="1">
                <a:solidFill>
                  <a:srgbClr val="E87722"/>
                </a:solidFill>
                <a:latin typeface="Arial"/>
              </a:defRPr>
            </a:pPr>
            <a:r>
              <a:t>52%</a:t>
            </a:r>
          </a:p>
        </p:txBody>
      </p:sp>
      <p:sp>
        <p:nvSpPr>
          <p:cNvPr id="11" name="TextBox 10"/>
          <p:cNvSpPr txBox="1"/>
          <p:nvPr/>
        </p:nvSpPr>
        <p:spPr>
          <a:xfrm>
            <a:off x="457200" y="1234440"/>
            <a:ext cx="2743200" cy="228600"/>
          </a:xfrm>
          <a:prstGeom prst="rect">
            <a:avLst/>
          </a:prstGeom>
          <a:noFill/>
        </p:spPr>
        <p:txBody>
          <a:bodyPr wrap="square">
            <a:spAutoFit/>
          </a:bodyPr>
          <a:lstStyle/>
          <a:p>
            <a:pPr>
              <a:defRPr sz="800" b="1">
                <a:solidFill>
                  <a:srgbClr val="6B7280"/>
                </a:solidFill>
                <a:latin typeface="Arial"/>
              </a:defRPr>
            </a:pPr>
            <a:r>
              <a:t>■ ORIGENS DE TRÁFEGO</a:t>
            </a:r>
          </a:p>
        </p:txBody>
      </p:sp>
      <p:sp>
        <p:nvSpPr>
          <p:cNvPr id="12" name="TextBox 11"/>
          <p:cNvSpPr txBox="1"/>
          <p:nvPr/>
        </p:nvSpPr>
        <p:spPr>
          <a:xfrm>
            <a:off x="5029200" y="1234440"/>
            <a:ext cx="2743200" cy="228600"/>
          </a:xfrm>
          <a:prstGeom prst="rect">
            <a:avLst/>
          </a:prstGeom>
          <a:noFill/>
        </p:spPr>
        <p:txBody>
          <a:bodyPr wrap="square">
            <a:spAutoFit/>
          </a:bodyPr>
          <a:lstStyle/>
          <a:p>
            <a:pPr algn="ctr">
              <a:defRPr sz="800" b="1">
                <a:solidFill>
                  <a:srgbClr val="6B7280"/>
                </a:solidFill>
                <a:latin typeface="Arial"/>
              </a:defRPr>
            </a:pPr>
            <a:r>
              <a:t>PROPRIEDADE BRADESCO SAÚDE</a:t>
            </a:r>
          </a:p>
        </p:txBody>
      </p:sp>
      <p:sp>
        <p:nvSpPr>
          <p:cNvPr id="13" name="TextBox 12"/>
          <p:cNvSpPr txBox="1"/>
          <p:nvPr/>
        </p:nvSpPr>
        <p:spPr>
          <a:xfrm>
            <a:off x="9601200" y="1234440"/>
            <a:ext cx="2286000" cy="228600"/>
          </a:xfrm>
          <a:prstGeom prst="rect">
            <a:avLst/>
          </a:prstGeom>
          <a:noFill/>
        </p:spPr>
        <p:txBody>
          <a:bodyPr wrap="square">
            <a:spAutoFit/>
          </a:bodyPr>
          <a:lstStyle/>
          <a:p>
            <a:pPr>
              <a:defRPr sz="800" b="1">
                <a:solidFill>
                  <a:srgbClr val="6B7280"/>
                </a:solidFill>
                <a:latin typeface="Arial"/>
              </a:defRPr>
            </a:pPr>
            <a:r>
              <a:t>CONVERSÃO &amp; SAÍDA</a:t>
            </a:r>
          </a:p>
        </p:txBody>
      </p:sp>
      <p:sp>
        <p:nvSpPr>
          <p:cNvPr id="14" name="Rounded Rectangle 13"/>
          <p:cNvSpPr/>
          <p:nvPr/>
        </p:nvSpPr>
        <p:spPr>
          <a:xfrm>
            <a:off x="4114800" y="1828800"/>
            <a:ext cx="3657600" cy="274320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560320"/>
            <a:ext cx="3474720" cy="365760"/>
          </a:xfrm>
          <a:prstGeom prst="rect">
            <a:avLst/>
          </a:prstGeom>
          <a:noFill/>
        </p:spPr>
        <p:txBody>
          <a:bodyPr wrap="square">
            <a:spAutoFit/>
          </a:bodyPr>
          <a:lstStyle/>
          <a:p>
            <a:pPr algn="ctr">
              <a:defRPr sz="1400" b="1">
                <a:solidFill>
                  <a:srgbClr val="FFFFFF"/>
                </a:solidFill>
                <a:latin typeface="Arial"/>
              </a:defRPr>
            </a:pPr>
            <a:r>
              <a:t>bradesco saúde.com.br</a:t>
            </a:r>
          </a:p>
        </p:txBody>
      </p:sp>
      <p:sp>
        <p:nvSpPr>
          <p:cNvPr id="16" name="Rounded Rectangle 15"/>
          <p:cNvSpPr/>
          <p:nvPr/>
        </p:nvSpPr>
        <p:spPr>
          <a:xfrm>
            <a:off x="45720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937759"/>
            <a:ext cx="2560320" cy="274320"/>
          </a:xfrm>
          <a:prstGeom prst="rect">
            <a:avLst/>
          </a:prstGeom>
          <a:noFill/>
        </p:spPr>
        <p:txBody>
          <a:bodyPr wrap="square">
            <a:spAutoFit/>
          </a:bodyPr>
          <a:lstStyle/>
          <a:p>
            <a:pPr>
              <a:defRPr sz="900" b="1">
                <a:solidFill>
                  <a:srgbClr val="1A3A6E"/>
                </a:solidFill>
                <a:latin typeface="Arial"/>
              </a:defRPr>
            </a:pPr>
            <a:r>
              <a:t>🎯 DIRECT DOMINANTE</a:t>
            </a:r>
          </a:p>
        </p:txBody>
      </p:sp>
      <p:sp>
        <p:nvSpPr>
          <p:cNvPr id="18" name="TextBox 17"/>
          <p:cNvSpPr txBox="1"/>
          <p:nvPr/>
        </p:nvSpPr>
        <p:spPr>
          <a:xfrm>
            <a:off x="548640" y="5212080"/>
            <a:ext cx="2560320" cy="731520"/>
          </a:xfrm>
          <a:prstGeom prst="rect">
            <a:avLst/>
          </a:prstGeom>
          <a:noFill/>
        </p:spPr>
        <p:txBody>
          <a:bodyPr wrap="square">
            <a:spAutoFit/>
          </a:bodyPr>
          <a:lstStyle/>
          <a:p>
            <a:pPr>
              <a:defRPr sz="800" b="0">
                <a:solidFill>
                  <a:srgbClr val="6B7280"/>
                </a:solidFill>
                <a:latin typeface="Arial"/>
              </a:defRPr>
            </a:pPr>
            <a:r>
              <a:t>52% Tráfego Direto. Marca Bradesco forte reduz drasticamente o CAC e dependência de mídia paga.</a:t>
            </a:r>
          </a:p>
        </p:txBody>
      </p:sp>
      <p:sp>
        <p:nvSpPr>
          <p:cNvPr id="19" name="Rounded Rectangle 18"/>
          <p:cNvSpPr/>
          <p:nvPr/>
        </p:nvSpPr>
        <p:spPr>
          <a:xfrm>
            <a:off x="338328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4937759"/>
            <a:ext cx="2560320" cy="274320"/>
          </a:xfrm>
          <a:prstGeom prst="rect">
            <a:avLst/>
          </a:prstGeom>
          <a:noFill/>
        </p:spPr>
        <p:txBody>
          <a:bodyPr wrap="square">
            <a:spAutoFit/>
          </a:bodyPr>
          <a:lstStyle/>
          <a:p>
            <a:pPr>
              <a:defRPr sz="900" b="1">
                <a:solidFill>
                  <a:srgbClr val="1A3A6E"/>
                </a:solidFill>
                <a:latin typeface="Arial"/>
              </a:defRPr>
            </a:pPr>
            <a:r>
              <a:t>🔍 SEO ROBUSTO</a:t>
            </a:r>
          </a:p>
        </p:txBody>
      </p:sp>
      <p:sp>
        <p:nvSpPr>
          <p:cNvPr id="21" name="TextBox 20"/>
          <p:cNvSpPr txBox="1"/>
          <p:nvPr/>
        </p:nvSpPr>
        <p:spPr>
          <a:xfrm>
            <a:off x="3474720" y="5212080"/>
            <a:ext cx="2560320" cy="731520"/>
          </a:xfrm>
          <a:prstGeom prst="rect">
            <a:avLst/>
          </a:prstGeom>
          <a:noFill/>
        </p:spPr>
        <p:txBody>
          <a:bodyPr wrap="square">
            <a:spAutoFit/>
          </a:bodyPr>
          <a:lstStyle/>
          <a:p>
            <a:pPr>
              <a:defRPr sz="800" b="0">
                <a:solidFill>
                  <a:srgbClr val="6B7280"/>
                </a:solidFill>
                <a:latin typeface="Arial"/>
              </a:defRPr>
            </a:pPr>
            <a:r>
              <a:t>22% Orgânico. Presença consolidada em buscas informacionais e de serviços, garantindo fluxo constante.</a:t>
            </a:r>
          </a:p>
        </p:txBody>
      </p:sp>
      <p:sp>
        <p:nvSpPr>
          <p:cNvPr id="22" name="Rounded Rectangle 21"/>
          <p:cNvSpPr/>
          <p:nvPr/>
        </p:nvSpPr>
        <p:spPr>
          <a:xfrm>
            <a:off x="630936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937759"/>
            <a:ext cx="2560320" cy="274320"/>
          </a:xfrm>
          <a:prstGeom prst="rect">
            <a:avLst/>
          </a:prstGeom>
          <a:noFill/>
        </p:spPr>
        <p:txBody>
          <a:bodyPr wrap="square">
            <a:spAutoFit/>
          </a:bodyPr>
          <a:lstStyle/>
          <a:p>
            <a:pPr>
              <a:defRPr sz="900" b="1">
                <a:solidFill>
                  <a:srgbClr val="1A3A6E"/>
                </a:solidFill>
                <a:latin typeface="Arial"/>
              </a:defRPr>
            </a:pPr>
            <a:r>
              <a:t>📱 APP ESTRATÉGICO</a:t>
            </a:r>
          </a:p>
        </p:txBody>
      </p:sp>
      <p:sp>
        <p:nvSpPr>
          <p:cNvPr id="24" name="TextBox 23"/>
          <p:cNvSpPr txBox="1"/>
          <p:nvPr/>
        </p:nvSpPr>
        <p:spPr>
          <a:xfrm>
            <a:off x="6400800" y="5212080"/>
            <a:ext cx="2560320" cy="731520"/>
          </a:xfrm>
          <a:prstGeom prst="rect">
            <a:avLst/>
          </a:prstGeom>
          <a:noFill/>
        </p:spPr>
        <p:txBody>
          <a:bodyPr wrap="square">
            <a:spAutoFit/>
          </a:bodyPr>
          <a:lstStyle/>
          <a:p>
            <a:pPr>
              <a:defRPr sz="800" b="0">
                <a:solidFill>
                  <a:srgbClr val="6B7280"/>
                </a:solidFill>
                <a:latin typeface="Arial"/>
              </a:defRPr>
            </a:pPr>
            <a:r>
              <a:t>300k Saídas para App. Atua como principal hub transacional, aumentando a retenção do beneficiário.</a:t>
            </a:r>
          </a:p>
        </p:txBody>
      </p:sp>
      <p:sp>
        <p:nvSpPr>
          <p:cNvPr id="25" name="Rounded Rectangle 24"/>
          <p:cNvSpPr/>
          <p:nvPr/>
        </p:nvSpPr>
        <p:spPr>
          <a:xfrm>
            <a:off x="923544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4937759"/>
            <a:ext cx="2560320" cy="274320"/>
          </a:xfrm>
          <a:prstGeom prst="rect">
            <a:avLst/>
          </a:prstGeom>
          <a:noFill/>
        </p:spPr>
        <p:txBody>
          <a:bodyPr wrap="square">
            <a:spAutoFit/>
          </a:bodyPr>
          <a:lstStyle/>
          <a:p>
            <a:pPr>
              <a:defRPr sz="900" b="1">
                <a:solidFill>
                  <a:srgbClr val="1A3A6E"/>
                </a:solidFill>
                <a:latin typeface="Arial"/>
              </a:defRPr>
            </a:pPr>
            <a:r>
              <a:t>🏥 TELEMEDICINA</a:t>
            </a:r>
          </a:p>
        </p:txBody>
      </p:sp>
      <p:sp>
        <p:nvSpPr>
          <p:cNvPr id="27" name="TextBox 26"/>
          <p:cNvSpPr txBox="1"/>
          <p:nvPr/>
        </p:nvSpPr>
        <p:spPr>
          <a:xfrm>
            <a:off x="9326880" y="5212080"/>
            <a:ext cx="2560320" cy="731520"/>
          </a:xfrm>
          <a:prstGeom prst="rect">
            <a:avLst/>
          </a:prstGeom>
          <a:noFill/>
        </p:spPr>
        <p:txBody>
          <a:bodyPr wrap="square">
            <a:spAutoFit/>
          </a:bodyPr>
          <a:lstStyle/>
          <a:p>
            <a:pPr>
              <a:defRPr sz="800" b="0">
                <a:solidFill>
                  <a:srgbClr val="6B7280"/>
                </a:solidFill>
                <a:latin typeface="Arial"/>
              </a:defRPr>
            </a:pPr>
            <a:r>
              <a:t>Saúde Digital (150k). Integração forte com serviços de telemedicina é um diferencial competitivo claro.</a:t>
            </a:r>
          </a:p>
        </p:txBody>
      </p:sp>
      <p:sp>
        <p:nvSpPr>
          <p:cNvPr id="28" name="TextBox 27"/>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Traffic Analytics (Dez/2025) • Análise de Outbound Links • BuiltWith • Wappalyzer</a:t>
            </a:r>
          </a:p>
        </p:txBody>
      </p:sp>
      <p:sp>
        <p:nvSpPr>
          <p:cNvPr id="29" name="TextBox 28"/>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JORNADA DE TRÁFEGO DIGITAL — SULAMÉRICA</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Origens, Fluxo e Destinos de Conversão (Dez 2025)</a:t>
            </a:r>
          </a:p>
        </p:txBody>
      </p:sp>
      <p:sp>
        <p:nvSpPr>
          <p:cNvPr id="5" name="Rounded Rectangle 4"/>
          <p:cNvSpPr/>
          <p:nvPr/>
        </p:nvSpPr>
        <p:spPr>
          <a:xfrm>
            <a:off x="8686800" y="320040"/>
            <a:ext cx="164592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32520" y="347472"/>
            <a:ext cx="1554480" cy="182880"/>
          </a:xfrm>
          <a:prstGeom prst="rect">
            <a:avLst/>
          </a:prstGeom>
          <a:noFill/>
        </p:spPr>
        <p:txBody>
          <a:bodyPr wrap="square">
            <a:spAutoFit/>
          </a:bodyPr>
          <a:lstStyle/>
          <a:p>
            <a:pPr>
              <a:defRPr sz="700" b="0">
                <a:solidFill>
                  <a:srgbClr val="6B7280"/>
                </a:solidFill>
                <a:latin typeface="Arial"/>
              </a:defRPr>
            </a:pPr>
            <a:r>
              <a:t>TOTAL SESSIONS</a:t>
            </a:r>
          </a:p>
        </p:txBody>
      </p:sp>
      <p:sp>
        <p:nvSpPr>
          <p:cNvPr id="7" name="TextBox 6"/>
          <p:cNvSpPr txBox="1"/>
          <p:nvPr/>
        </p:nvSpPr>
        <p:spPr>
          <a:xfrm>
            <a:off x="8732520" y="502920"/>
            <a:ext cx="1554480" cy="457200"/>
          </a:xfrm>
          <a:prstGeom prst="rect">
            <a:avLst/>
          </a:prstGeom>
          <a:noFill/>
        </p:spPr>
        <p:txBody>
          <a:bodyPr wrap="square">
            <a:spAutoFit/>
          </a:bodyPr>
          <a:lstStyle/>
          <a:p>
            <a:pPr>
              <a:defRPr sz="1600" b="1">
                <a:solidFill>
                  <a:srgbClr val="1A3A6E"/>
                </a:solidFill>
                <a:latin typeface="Arial"/>
              </a:defRPr>
            </a:pPr>
            <a:r>
              <a:t>694k/mês</a:t>
            </a:r>
          </a:p>
        </p:txBody>
      </p:sp>
      <p:sp>
        <p:nvSpPr>
          <p:cNvPr id="8" name="Rounded Rectangle 7"/>
          <p:cNvSpPr/>
          <p:nvPr/>
        </p:nvSpPr>
        <p:spPr>
          <a:xfrm>
            <a:off x="10515600" y="320040"/>
            <a:ext cx="1371600" cy="7315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61320" y="347472"/>
            <a:ext cx="1280160" cy="182880"/>
          </a:xfrm>
          <a:prstGeom prst="rect">
            <a:avLst/>
          </a:prstGeom>
          <a:noFill/>
        </p:spPr>
        <p:txBody>
          <a:bodyPr wrap="square">
            <a:spAutoFit/>
          </a:bodyPr>
          <a:lstStyle/>
          <a:p>
            <a:pPr>
              <a:defRPr sz="600" b="0">
                <a:solidFill>
                  <a:srgbClr val="6B7280"/>
                </a:solidFill>
                <a:latin typeface="Arial"/>
              </a:defRPr>
            </a:pPr>
            <a:r>
              <a:t>AI TRAFFIC</a:t>
            </a:r>
          </a:p>
        </p:txBody>
      </p:sp>
      <p:sp>
        <p:nvSpPr>
          <p:cNvPr id="10" name="TextBox 9"/>
          <p:cNvSpPr txBox="1"/>
          <p:nvPr/>
        </p:nvSpPr>
        <p:spPr>
          <a:xfrm>
            <a:off x="10561320" y="502920"/>
            <a:ext cx="1280160" cy="457200"/>
          </a:xfrm>
          <a:prstGeom prst="rect">
            <a:avLst/>
          </a:prstGeom>
          <a:noFill/>
        </p:spPr>
        <p:txBody>
          <a:bodyPr wrap="square">
            <a:spAutoFit/>
          </a:bodyPr>
          <a:lstStyle/>
          <a:p>
            <a:pPr>
              <a:defRPr sz="1600" b="1">
                <a:solidFill>
                  <a:srgbClr val="E87722"/>
                </a:solidFill>
                <a:latin typeface="Arial"/>
              </a:defRPr>
            </a:pPr>
            <a:r>
              <a:t>655</a:t>
            </a:r>
          </a:p>
        </p:txBody>
      </p:sp>
      <p:sp>
        <p:nvSpPr>
          <p:cNvPr id="11" name="TextBox 10"/>
          <p:cNvSpPr txBox="1"/>
          <p:nvPr/>
        </p:nvSpPr>
        <p:spPr>
          <a:xfrm>
            <a:off x="457200" y="1234440"/>
            <a:ext cx="2743200" cy="228600"/>
          </a:xfrm>
          <a:prstGeom prst="rect">
            <a:avLst/>
          </a:prstGeom>
          <a:noFill/>
        </p:spPr>
        <p:txBody>
          <a:bodyPr wrap="square">
            <a:spAutoFit/>
          </a:bodyPr>
          <a:lstStyle/>
          <a:p>
            <a:pPr>
              <a:defRPr sz="800" b="1">
                <a:solidFill>
                  <a:srgbClr val="6B7280"/>
                </a:solidFill>
                <a:latin typeface="Arial"/>
              </a:defRPr>
            </a:pPr>
            <a:r>
              <a:t>■ ORIGENS DE TRÁFEGO</a:t>
            </a:r>
          </a:p>
        </p:txBody>
      </p:sp>
      <p:sp>
        <p:nvSpPr>
          <p:cNvPr id="12" name="TextBox 11"/>
          <p:cNvSpPr txBox="1"/>
          <p:nvPr/>
        </p:nvSpPr>
        <p:spPr>
          <a:xfrm>
            <a:off x="5029200" y="1234440"/>
            <a:ext cx="2743200" cy="228600"/>
          </a:xfrm>
          <a:prstGeom prst="rect">
            <a:avLst/>
          </a:prstGeom>
          <a:noFill/>
        </p:spPr>
        <p:txBody>
          <a:bodyPr wrap="square">
            <a:spAutoFit/>
          </a:bodyPr>
          <a:lstStyle/>
          <a:p>
            <a:pPr algn="ctr">
              <a:defRPr sz="800" b="1">
                <a:solidFill>
                  <a:srgbClr val="6B7280"/>
                </a:solidFill>
                <a:latin typeface="Arial"/>
              </a:defRPr>
            </a:pPr>
            <a:r>
              <a:t>PROPRIEDADE SULAMÉRICA</a:t>
            </a:r>
          </a:p>
        </p:txBody>
      </p:sp>
      <p:sp>
        <p:nvSpPr>
          <p:cNvPr id="13" name="TextBox 12"/>
          <p:cNvSpPr txBox="1"/>
          <p:nvPr/>
        </p:nvSpPr>
        <p:spPr>
          <a:xfrm>
            <a:off x="9601200" y="1234440"/>
            <a:ext cx="2286000" cy="228600"/>
          </a:xfrm>
          <a:prstGeom prst="rect">
            <a:avLst/>
          </a:prstGeom>
          <a:noFill/>
        </p:spPr>
        <p:txBody>
          <a:bodyPr wrap="square">
            <a:spAutoFit/>
          </a:bodyPr>
          <a:lstStyle/>
          <a:p>
            <a:pPr>
              <a:defRPr sz="800" b="1">
                <a:solidFill>
                  <a:srgbClr val="6B7280"/>
                </a:solidFill>
                <a:latin typeface="Arial"/>
              </a:defRPr>
            </a:pPr>
            <a:r>
              <a:t>CONVERSÃO &amp; SAÍDA</a:t>
            </a:r>
          </a:p>
        </p:txBody>
      </p:sp>
      <p:sp>
        <p:nvSpPr>
          <p:cNvPr id="14" name="Rounded Rectangle 13"/>
          <p:cNvSpPr/>
          <p:nvPr/>
        </p:nvSpPr>
        <p:spPr>
          <a:xfrm>
            <a:off x="4114800" y="1828800"/>
            <a:ext cx="3657600" cy="274320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560320"/>
            <a:ext cx="3474720" cy="365760"/>
          </a:xfrm>
          <a:prstGeom prst="rect">
            <a:avLst/>
          </a:prstGeom>
          <a:noFill/>
        </p:spPr>
        <p:txBody>
          <a:bodyPr wrap="square">
            <a:spAutoFit/>
          </a:bodyPr>
          <a:lstStyle/>
          <a:p>
            <a:pPr algn="ctr">
              <a:defRPr sz="1400" b="1">
                <a:solidFill>
                  <a:srgbClr val="FFFFFF"/>
                </a:solidFill>
                <a:latin typeface="Arial"/>
              </a:defRPr>
            </a:pPr>
            <a:r>
              <a:t>sulamérica.com.br</a:t>
            </a:r>
          </a:p>
        </p:txBody>
      </p:sp>
      <p:sp>
        <p:nvSpPr>
          <p:cNvPr id="16" name="Rounded Rectangle 15"/>
          <p:cNvSpPr/>
          <p:nvPr/>
        </p:nvSpPr>
        <p:spPr>
          <a:xfrm>
            <a:off x="45720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937759"/>
            <a:ext cx="2560320" cy="274320"/>
          </a:xfrm>
          <a:prstGeom prst="rect">
            <a:avLst/>
          </a:prstGeom>
          <a:noFill/>
        </p:spPr>
        <p:txBody>
          <a:bodyPr wrap="square">
            <a:spAutoFit/>
          </a:bodyPr>
          <a:lstStyle/>
          <a:p>
            <a:pPr>
              <a:defRPr sz="900" b="1">
                <a:solidFill>
                  <a:srgbClr val="1A3A6E"/>
                </a:solidFill>
                <a:latin typeface="Arial"/>
              </a:defRPr>
            </a:pPr>
            <a:r>
              <a:t>🎯 BRAND STRENGTH</a:t>
            </a:r>
          </a:p>
        </p:txBody>
      </p:sp>
      <p:sp>
        <p:nvSpPr>
          <p:cNvPr id="18" name="TextBox 17"/>
          <p:cNvSpPr txBox="1"/>
          <p:nvPr/>
        </p:nvSpPr>
        <p:spPr>
          <a:xfrm>
            <a:off x="548640" y="5212080"/>
            <a:ext cx="2560320" cy="731520"/>
          </a:xfrm>
          <a:prstGeom prst="rect">
            <a:avLst/>
          </a:prstGeom>
          <a:noFill/>
        </p:spPr>
        <p:txBody>
          <a:bodyPr wrap="square">
            <a:spAutoFit/>
          </a:bodyPr>
          <a:lstStyle/>
          <a:p>
            <a:pPr>
              <a:defRPr sz="800" b="0">
                <a:solidFill>
                  <a:srgbClr val="6B7280"/>
                </a:solidFill>
                <a:latin typeface="Arial"/>
              </a:defRPr>
            </a:pPr>
            <a:r>
              <a:t>Direct Elevado (64%). Reconhecimento de marca forte reduz custo de aquisição (CAC) e dependência de canais pagos.</a:t>
            </a:r>
          </a:p>
        </p:txBody>
      </p:sp>
      <p:sp>
        <p:nvSpPr>
          <p:cNvPr id="19" name="Rounded Rectangle 18"/>
          <p:cNvSpPr/>
          <p:nvPr/>
        </p:nvSpPr>
        <p:spPr>
          <a:xfrm>
            <a:off x="338328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4937759"/>
            <a:ext cx="2560320" cy="274320"/>
          </a:xfrm>
          <a:prstGeom prst="rect">
            <a:avLst/>
          </a:prstGeom>
          <a:noFill/>
        </p:spPr>
        <p:txBody>
          <a:bodyPr wrap="square">
            <a:spAutoFit/>
          </a:bodyPr>
          <a:lstStyle/>
          <a:p>
            <a:pPr>
              <a:defRPr sz="900" b="1">
                <a:solidFill>
                  <a:srgbClr val="1A3A6E"/>
                </a:solidFill>
                <a:latin typeface="Arial"/>
              </a:defRPr>
            </a:pPr>
            <a:r>
              <a:t>📈 ACELERAÇÃO PAID</a:t>
            </a:r>
          </a:p>
        </p:txBody>
      </p:sp>
      <p:sp>
        <p:nvSpPr>
          <p:cNvPr id="21" name="TextBox 20"/>
          <p:cNvSpPr txBox="1"/>
          <p:nvPr/>
        </p:nvSpPr>
        <p:spPr>
          <a:xfrm>
            <a:off x="3474720" y="5212080"/>
            <a:ext cx="2560320" cy="731520"/>
          </a:xfrm>
          <a:prstGeom prst="rect">
            <a:avLst/>
          </a:prstGeom>
          <a:noFill/>
        </p:spPr>
        <p:txBody>
          <a:bodyPr wrap="square">
            <a:spAutoFit/>
          </a:bodyPr>
          <a:lstStyle/>
          <a:p>
            <a:pPr>
              <a:defRPr sz="800" b="0">
                <a:solidFill>
                  <a:srgbClr val="6B7280"/>
                </a:solidFill>
                <a:latin typeface="Arial"/>
              </a:defRPr>
            </a:pPr>
            <a:r>
              <a:t>+86.71% em Paid Search. Movimento tático agressivo de aquisição recente, representando 15% do mix total.</a:t>
            </a:r>
          </a:p>
        </p:txBody>
      </p:sp>
      <p:sp>
        <p:nvSpPr>
          <p:cNvPr id="22" name="Rounded Rectangle 21"/>
          <p:cNvSpPr/>
          <p:nvPr/>
        </p:nvSpPr>
        <p:spPr>
          <a:xfrm>
            <a:off x="630936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937759"/>
            <a:ext cx="2560320" cy="274320"/>
          </a:xfrm>
          <a:prstGeom prst="rect">
            <a:avLst/>
          </a:prstGeom>
          <a:noFill/>
        </p:spPr>
        <p:txBody>
          <a:bodyPr wrap="square">
            <a:spAutoFit/>
          </a:bodyPr>
          <a:lstStyle/>
          <a:p>
            <a:pPr>
              <a:defRPr sz="900" b="1">
                <a:solidFill>
                  <a:srgbClr val="1A3A6E"/>
                </a:solidFill>
                <a:latin typeface="Arial"/>
              </a:defRPr>
            </a:pPr>
            <a:r>
              <a:t>🤖 AI EMERGENTE</a:t>
            </a:r>
          </a:p>
        </p:txBody>
      </p:sp>
      <p:sp>
        <p:nvSpPr>
          <p:cNvPr id="24" name="TextBox 23"/>
          <p:cNvSpPr txBox="1"/>
          <p:nvPr/>
        </p:nvSpPr>
        <p:spPr>
          <a:xfrm>
            <a:off x="6400800" y="5212080"/>
            <a:ext cx="2560320" cy="731520"/>
          </a:xfrm>
          <a:prstGeom prst="rect">
            <a:avLst/>
          </a:prstGeom>
          <a:noFill/>
        </p:spPr>
        <p:txBody>
          <a:bodyPr wrap="square">
            <a:spAutoFit/>
          </a:bodyPr>
          <a:lstStyle/>
          <a:p>
            <a:pPr>
              <a:defRPr sz="800" b="0">
                <a:solidFill>
                  <a:srgbClr val="6B7280"/>
                </a:solidFill>
                <a:latin typeface="Arial"/>
              </a:defRPr>
            </a:pPr>
            <a:r>
              <a:t>655 Visitas via LLMs. Tráfego via ChatGPT e Perplexity ainda é marginal, mas mostra tendência de busca conversacional.</a:t>
            </a:r>
          </a:p>
        </p:txBody>
      </p:sp>
      <p:sp>
        <p:nvSpPr>
          <p:cNvPr id="25" name="Rounded Rectangle 24"/>
          <p:cNvSpPr/>
          <p:nvPr/>
        </p:nvSpPr>
        <p:spPr>
          <a:xfrm>
            <a:off x="9235440" y="4846320"/>
            <a:ext cx="2743200" cy="118872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4937759"/>
            <a:ext cx="2560320" cy="274320"/>
          </a:xfrm>
          <a:prstGeom prst="rect">
            <a:avLst/>
          </a:prstGeom>
          <a:noFill/>
        </p:spPr>
        <p:txBody>
          <a:bodyPr wrap="square">
            <a:spAutoFit/>
          </a:bodyPr>
          <a:lstStyle/>
          <a:p>
            <a:pPr>
              <a:defRPr sz="900" b="1">
                <a:solidFill>
                  <a:srgbClr val="1A3A6E"/>
                </a:solidFill>
                <a:latin typeface="Arial"/>
              </a:defRPr>
            </a:pPr>
            <a:r>
              <a:t>🏢 HUB INSTITUCIONAL</a:t>
            </a:r>
          </a:p>
        </p:txBody>
      </p:sp>
      <p:sp>
        <p:nvSpPr>
          <p:cNvPr id="27" name="TextBox 26"/>
          <p:cNvSpPr txBox="1"/>
          <p:nvPr/>
        </p:nvSpPr>
        <p:spPr>
          <a:xfrm>
            <a:off x="9326880" y="5212080"/>
            <a:ext cx="2560320" cy="731520"/>
          </a:xfrm>
          <a:prstGeom prst="rect">
            <a:avLst/>
          </a:prstGeom>
          <a:noFill/>
        </p:spPr>
        <p:txBody>
          <a:bodyPr wrap="square">
            <a:spAutoFit/>
          </a:bodyPr>
          <a:lstStyle/>
          <a:p>
            <a:pPr>
              <a:defRPr sz="800" b="0">
                <a:solidFill>
                  <a:srgbClr val="6B7280"/>
                </a:solidFill>
                <a:latin typeface="Arial"/>
              </a:defRPr>
            </a:pPr>
            <a:r>
              <a:t>Fluxo Corporativo. Diferente de concorrentes, principal saída (300k) é para o hub institucional sulamerica.com.br.</a:t>
            </a:r>
          </a:p>
        </p:txBody>
      </p:sp>
      <p:sp>
        <p:nvSpPr>
          <p:cNvPr id="28" name="TextBox 27"/>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Fontes: SEMrush Traffic Analytics (Dez/2025) • Análise de Outbound Links • BuiltWith • Wappalyzer</a:t>
            </a:r>
          </a:p>
        </p:txBody>
      </p:sp>
      <p:sp>
        <p:nvSpPr>
          <p:cNvPr id="29" name="TextBox 28"/>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8E4D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9144000" cy="548640"/>
          </a:xfrm>
          <a:prstGeom prst="rect">
            <a:avLst/>
          </a:prstGeom>
          <a:noFill/>
        </p:spPr>
        <p:txBody>
          <a:bodyPr wrap="square">
            <a:spAutoFit/>
          </a:bodyPr>
          <a:lstStyle/>
          <a:p>
            <a:pPr>
              <a:defRPr sz="2800" b="1">
                <a:solidFill>
                  <a:srgbClr val="1A3A6E"/>
                </a:solidFill>
                <a:latin typeface="Georgia"/>
              </a:defRPr>
            </a:pPr>
            <a:r>
              <a:t>ROADMAP DE IMPLEMENTAÇÃO Q1-Q4 2026</a:t>
            </a:r>
          </a:p>
        </p:txBody>
      </p:sp>
      <p:sp>
        <p:nvSpPr>
          <p:cNvPr id="4" name="TextBox 3"/>
          <p:cNvSpPr txBox="1"/>
          <p:nvPr/>
        </p:nvSpPr>
        <p:spPr>
          <a:xfrm>
            <a:off x="457200" y="777240"/>
            <a:ext cx="9144000" cy="365760"/>
          </a:xfrm>
          <a:prstGeom prst="rect">
            <a:avLst/>
          </a:prstGeom>
          <a:noFill/>
        </p:spPr>
        <p:txBody>
          <a:bodyPr wrap="square">
            <a:spAutoFit/>
          </a:bodyPr>
          <a:lstStyle/>
          <a:p>
            <a:pPr>
              <a:defRPr sz="1200" b="0">
                <a:solidFill>
                  <a:srgbClr val="6B7280"/>
                </a:solidFill>
                <a:latin typeface="Arial"/>
              </a:defRPr>
            </a:pPr>
            <a:r>
              <a:t>Plano Estratégico de Transformação Digital: Gaps → Oportunidades</a:t>
            </a:r>
          </a:p>
        </p:txBody>
      </p:sp>
      <p:sp>
        <p:nvSpPr>
          <p:cNvPr id="5" name="Rounded Rectangle 4"/>
          <p:cNvSpPr/>
          <p:nvPr/>
        </p:nvSpPr>
        <p:spPr>
          <a:xfrm>
            <a:off x="10515600" y="320040"/>
            <a:ext cx="1188720" cy="54864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61320" y="411480"/>
            <a:ext cx="1097280" cy="411480"/>
          </a:xfrm>
          <a:prstGeom prst="rect">
            <a:avLst/>
          </a:prstGeom>
          <a:noFill/>
        </p:spPr>
        <p:txBody>
          <a:bodyPr wrap="square">
            <a:spAutoFit/>
          </a:bodyPr>
          <a:lstStyle/>
          <a:p>
            <a:pPr algn="ctr">
              <a:defRPr sz="800" b="1">
                <a:solidFill>
                  <a:srgbClr val="FFFFFF"/>
                </a:solidFill>
                <a:latin typeface="Arial"/>
              </a:defRPr>
            </a:pPr>
            <a:r>
              <a:t>⚡ EXERCÍCIO 2026</a:t>
            </a:r>
          </a:p>
        </p:txBody>
      </p:sp>
      <p:sp>
        <p:nvSpPr>
          <p:cNvPr id="7" name="Rounded Rectangle 6"/>
          <p:cNvSpPr/>
          <p:nvPr/>
        </p:nvSpPr>
        <p:spPr>
          <a:xfrm>
            <a:off x="457200" y="1188720"/>
            <a:ext cx="2743200" cy="45720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34440"/>
            <a:ext cx="2560320" cy="365760"/>
          </a:xfrm>
          <a:prstGeom prst="rect">
            <a:avLst/>
          </a:prstGeom>
          <a:noFill/>
        </p:spPr>
        <p:txBody>
          <a:bodyPr wrap="square">
            <a:spAutoFit/>
          </a:bodyPr>
          <a:lstStyle/>
          <a:p>
            <a:pPr>
              <a:defRPr sz="1100" b="1">
                <a:solidFill>
                  <a:srgbClr val="FFFFFF"/>
                </a:solidFill>
                <a:latin typeface="Arial"/>
              </a:defRPr>
            </a:pPr>
            <a:r>
              <a:t>Q1 — FUNDAÇÃO</a:t>
            </a:r>
          </a:p>
        </p:txBody>
      </p:sp>
      <p:sp>
        <p:nvSpPr>
          <p:cNvPr id="9" name="TextBox 8"/>
          <p:cNvSpPr txBox="1"/>
          <p:nvPr/>
        </p:nvSpPr>
        <p:spPr>
          <a:xfrm>
            <a:off x="457200" y="1737360"/>
            <a:ext cx="2743200" cy="228600"/>
          </a:xfrm>
          <a:prstGeom prst="rect">
            <a:avLst/>
          </a:prstGeom>
          <a:noFill/>
        </p:spPr>
        <p:txBody>
          <a:bodyPr wrap="square">
            <a:spAutoFit/>
          </a:bodyPr>
          <a:lstStyle/>
          <a:p>
            <a:pPr>
              <a:defRPr sz="700" b="1">
                <a:solidFill>
                  <a:srgbClr val="6B7280"/>
                </a:solidFill>
                <a:latin typeface="Arial"/>
              </a:defRPr>
            </a:pPr>
            <a:r>
              <a:t>⚡ QUICK WINS</a:t>
            </a:r>
          </a:p>
        </p:txBody>
      </p:sp>
      <p:sp>
        <p:nvSpPr>
          <p:cNvPr id="10" name="TextBox 9"/>
          <p:cNvSpPr txBox="1"/>
          <p:nvPr/>
        </p:nvSpPr>
        <p:spPr>
          <a:xfrm>
            <a:off x="457200" y="1965960"/>
            <a:ext cx="2743200" cy="228600"/>
          </a:xfrm>
          <a:prstGeom prst="rect">
            <a:avLst/>
          </a:prstGeom>
          <a:noFill/>
        </p:spPr>
        <p:txBody>
          <a:bodyPr wrap="square">
            <a:spAutoFit/>
          </a:bodyPr>
          <a:lstStyle/>
          <a:p>
            <a:pPr>
              <a:defRPr sz="700" b="0">
                <a:solidFill>
                  <a:srgbClr val="1A1A1A"/>
                </a:solidFill>
                <a:latin typeface="Arial"/>
              </a:defRPr>
            </a:pPr>
            <a:r>
              <a:t>• Otimizar Funil XGEN (-28% abandono)</a:t>
            </a:r>
          </a:p>
        </p:txBody>
      </p:sp>
      <p:sp>
        <p:nvSpPr>
          <p:cNvPr id="11" name="TextBox 10"/>
          <p:cNvSpPr txBox="1"/>
          <p:nvPr/>
        </p:nvSpPr>
        <p:spPr>
          <a:xfrm>
            <a:off x="457200" y="2194560"/>
            <a:ext cx="2743200" cy="228600"/>
          </a:xfrm>
          <a:prstGeom prst="rect">
            <a:avLst/>
          </a:prstGeom>
          <a:noFill/>
        </p:spPr>
        <p:txBody>
          <a:bodyPr wrap="square">
            <a:spAutoFit/>
          </a:bodyPr>
          <a:lstStyle/>
          <a:p>
            <a:pPr>
              <a:defRPr sz="700" b="0">
                <a:solidFill>
                  <a:srgbClr val="1A1A1A"/>
                </a:solidFill>
                <a:latin typeface="Arial"/>
              </a:defRPr>
            </a:pPr>
            <a:r>
              <a:t>• Criar 10 páginas SEO transacionais</a:t>
            </a:r>
          </a:p>
        </p:txBody>
      </p:sp>
      <p:sp>
        <p:nvSpPr>
          <p:cNvPr id="12" name="TextBox 11"/>
          <p:cNvSpPr txBox="1"/>
          <p:nvPr/>
        </p:nvSpPr>
        <p:spPr>
          <a:xfrm>
            <a:off x="457200" y="2514600"/>
            <a:ext cx="2743200" cy="228600"/>
          </a:xfrm>
          <a:prstGeom prst="rect">
            <a:avLst/>
          </a:prstGeom>
          <a:noFill/>
        </p:spPr>
        <p:txBody>
          <a:bodyPr wrap="square">
            <a:spAutoFit/>
          </a:bodyPr>
          <a:lstStyle/>
          <a:p>
            <a:pPr>
              <a:defRPr sz="700" b="1">
                <a:solidFill>
                  <a:srgbClr val="6B7280"/>
                </a:solidFill>
                <a:latin typeface="Arial"/>
              </a:defRPr>
            </a:pPr>
            <a:r>
              <a:t>🎯 MILESTONES TÉCNICOS</a:t>
            </a:r>
          </a:p>
        </p:txBody>
      </p:sp>
      <p:sp>
        <p:nvSpPr>
          <p:cNvPr id="13" name="TextBox 12"/>
          <p:cNvSpPr txBox="1"/>
          <p:nvPr/>
        </p:nvSpPr>
        <p:spPr>
          <a:xfrm>
            <a:off x="457200" y="2743200"/>
            <a:ext cx="2743200" cy="228600"/>
          </a:xfrm>
          <a:prstGeom prst="rect">
            <a:avLst/>
          </a:prstGeom>
          <a:noFill/>
        </p:spPr>
        <p:txBody>
          <a:bodyPr wrap="square">
            <a:spAutoFit/>
          </a:bodyPr>
          <a:lstStyle/>
          <a:p>
            <a:pPr>
              <a:defRPr sz="700" b="0">
                <a:solidFill>
                  <a:srgbClr val="1A1A1A"/>
                </a:solidFill>
                <a:latin typeface="Arial"/>
              </a:defRPr>
            </a:pPr>
            <a:r>
              <a:t>• Integrar WhatsApp API + Salesforce</a:t>
            </a:r>
          </a:p>
        </p:txBody>
      </p:sp>
      <p:sp>
        <p:nvSpPr>
          <p:cNvPr id="14" name="TextBox 13"/>
          <p:cNvSpPr txBox="1"/>
          <p:nvPr/>
        </p:nvSpPr>
        <p:spPr>
          <a:xfrm>
            <a:off x="457200" y="2971800"/>
            <a:ext cx="2743200" cy="228600"/>
          </a:xfrm>
          <a:prstGeom prst="rect">
            <a:avLst/>
          </a:prstGeom>
          <a:noFill/>
        </p:spPr>
        <p:txBody>
          <a:bodyPr wrap="square">
            <a:spAutoFit/>
          </a:bodyPr>
          <a:lstStyle/>
          <a:p>
            <a:pPr>
              <a:defRPr sz="700" b="0">
                <a:solidFill>
                  <a:srgbClr val="1A1A1A"/>
                </a:solidFill>
                <a:latin typeface="Arial"/>
              </a:defRPr>
            </a:pPr>
            <a:r>
              <a:t>• Implementar GTM server-side</a:t>
            </a:r>
          </a:p>
        </p:txBody>
      </p:sp>
      <p:sp>
        <p:nvSpPr>
          <p:cNvPr id="15" name="TextBox 14"/>
          <p:cNvSpPr txBox="1"/>
          <p:nvPr/>
        </p:nvSpPr>
        <p:spPr>
          <a:xfrm>
            <a:off x="457200" y="3291840"/>
            <a:ext cx="2743200" cy="228600"/>
          </a:xfrm>
          <a:prstGeom prst="rect">
            <a:avLst/>
          </a:prstGeom>
          <a:noFill/>
        </p:spPr>
        <p:txBody>
          <a:bodyPr wrap="square">
            <a:spAutoFit/>
          </a:bodyPr>
          <a:lstStyle/>
          <a:p>
            <a:pPr>
              <a:defRPr sz="700" b="1">
                <a:solidFill>
                  <a:srgbClr val="6B7280"/>
                </a:solidFill>
                <a:latin typeface="Arial"/>
              </a:defRPr>
            </a:pPr>
            <a:r>
              <a:t>📊 KPIS META</a:t>
            </a:r>
          </a:p>
        </p:txBody>
      </p:sp>
      <p:sp>
        <p:nvSpPr>
          <p:cNvPr id="16" name="TextBox 15"/>
          <p:cNvSpPr txBox="1"/>
          <p:nvPr/>
        </p:nvSpPr>
        <p:spPr>
          <a:xfrm>
            <a:off x="457200" y="3520440"/>
            <a:ext cx="2743200" cy="228600"/>
          </a:xfrm>
          <a:prstGeom prst="rect">
            <a:avLst/>
          </a:prstGeom>
          <a:noFill/>
        </p:spPr>
        <p:txBody>
          <a:bodyPr wrap="square">
            <a:spAutoFit/>
          </a:bodyPr>
          <a:lstStyle/>
          <a:p>
            <a:pPr>
              <a:defRPr sz="700" b="0">
                <a:solidFill>
                  <a:srgbClr val="1A1A1A"/>
                </a:solidFill>
                <a:latin typeface="Arial"/>
              </a:defRPr>
            </a:pPr>
            <a:r>
              <a:t>• Paid Media: 5% → 8% Mix</a:t>
            </a:r>
          </a:p>
        </p:txBody>
      </p:sp>
      <p:sp>
        <p:nvSpPr>
          <p:cNvPr id="17" name="TextBox 16"/>
          <p:cNvSpPr txBox="1"/>
          <p:nvPr/>
        </p:nvSpPr>
        <p:spPr>
          <a:xfrm>
            <a:off x="457200" y="3749039"/>
            <a:ext cx="2743200" cy="228600"/>
          </a:xfrm>
          <a:prstGeom prst="rect">
            <a:avLst/>
          </a:prstGeom>
          <a:noFill/>
        </p:spPr>
        <p:txBody>
          <a:bodyPr wrap="square">
            <a:spAutoFit/>
          </a:bodyPr>
          <a:lstStyle/>
          <a:p>
            <a:pPr>
              <a:defRPr sz="700" b="0">
                <a:solidFill>
                  <a:srgbClr val="1A1A1A"/>
                </a:solidFill>
                <a:latin typeface="Arial"/>
              </a:defRPr>
            </a:pPr>
            <a:r>
              <a:t>• CAC: -10% via otimização</a:t>
            </a:r>
          </a:p>
        </p:txBody>
      </p:sp>
      <p:sp>
        <p:nvSpPr>
          <p:cNvPr id="18" name="Rounded Rectangle 17"/>
          <p:cNvSpPr/>
          <p:nvPr/>
        </p:nvSpPr>
        <p:spPr>
          <a:xfrm>
            <a:off x="457200" y="4023360"/>
            <a:ext cx="2743200" cy="457200"/>
          </a:xfrm>
          <a:prstGeom prst="roundRect">
            <a:avLst/>
          </a:prstGeom>
          <a:solidFill>
            <a:srgbClr val="1A3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69080"/>
            <a:ext cx="2743200" cy="365760"/>
          </a:xfrm>
          <a:prstGeom prst="rect">
            <a:avLst/>
          </a:prstGeom>
          <a:noFill/>
        </p:spPr>
        <p:txBody>
          <a:bodyPr wrap="square">
            <a:spAutoFit/>
          </a:bodyPr>
          <a:lstStyle/>
          <a:p>
            <a:pPr algn="ctr">
              <a:defRPr sz="900" b="1">
                <a:solidFill>
                  <a:srgbClr val="FFFFFF"/>
                </a:solidFill>
                <a:latin typeface="Arial"/>
              </a:defRPr>
            </a:pPr>
            <a:r>
              <a:t>INVESTIMENTO: R$ 2.5M</a:t>
            </a:r>
          </a:p>
        </p:txBody>
      </p:sp>
      <p:sp>
        <p:nvSpPr>
          <p:cNvPr id="20" name="Rounded Rectangle 19"/>
          <p:cNvSpPr/>
          <p:nvPr/>
        </p:nvSpPr>
        <p:spPr>
          <a:xfrm>
            <a:off x="3383280" y="1188720"/>
            <a:ext cx="2743200" cy="457200"/>
          </a:xfrm>
          <a:prstGeom prst="roundRect">
            <a:avLst/>
          </a:prstGeom>
          <a:solidFill>
            <a:srgbClr val="38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0" y="1234440"/>
            <a:ext cx="2560320" cy="365760"/>
          </a:xfrm>
          <a:prstGeom prst="rect">
            <a:avLst/>
          </a:prstGeom>
          <a:noFill/>
        </p:spPr>
        <p:txBody>
          <a:bodyPr wrap="square">
            <a:spAutoFit/>
          </a:bodyPr>
          <a:lstStyle/>
          <a:p>
            <a:pPr>
              <a:defRPr sz="1100" b="1">
                <a:solidFill>
                  <a:srgbClr val="FFFFFF"/>
                </a:solidFill>
                <a:latin typeface="Arial"/>
              </a:defRPr>
            </a:pPr>
            <a:r>
              <a:t>Q2 — ACELERAÇÃO</a:t>
            </a:r>
          </a:p>
        </p:txBody>
      </p:sp>
      <p:sp>
        <p:nvSpPr>
          <p:cNvPr id="22" name="TextBox 21"/>
          <p:cNvSpPr txBox="1"/>
          <p:nvPr/>
        </p:nvSpPr>
        <p:spPr>
          <a:xfrm>
            <a:off x="3383280" y="1737360"/>
            <a:ext cx="2743200" cy="228600"/>
          </a:xfrm>
          <a:prstGeom prst="rect">
            <a:avLst/>
          </a:prstGeom>
          <a:noFill/>
        </p:spPr>
        <p:txBody>
          <a:bodyPr wrap="square">
            <a:spAutoFit/>
          </a:bodyPr>
          <a:lstStyle/>
          <a:p>
            <a:pPr>
              <a:defRPr sz="700" b="1">
                <a:solidFill>
                  <a:srgbClr val="6B7280"/>
                </a:solidFill>
                <a:latin typeface="Arial"/>
              </a:defRPr>
            </a:pPr>
            <a:r>
              <a:t>⚡ QUICK WINS</a:t>
            </a:r>
          </a:p>
        </p:txBody>
      </p:sp>
      <p:sp>
        <p:nvSpPr>
          <p:cNvPr id="23" name="TextBox 22"/>
          <p:cNvSpPr txBox="1"/>
          <p:nvPr/>
        </p:nvSpPr>
        <p:spPr>
          <a:xfrm>
            <a:off x="3383280" y="1965960"/>
            <a:ext cx="2743200" cy="228600"/>
          </a:xfrm>
          <a:prstGeom prst="rect">
            <a:avLst/>
          </a:prstGeom>
          <a:noFill/>
        </p:spPr>
        <p:txBody>
          <a:bodyPr wrap="square">
            <a:spAutoFit/>
          </a:bodyPr>
          <a:lstStyle/>
          <a:p>
            <a:pPr>
              <a:defRPr sz="700" b="0">
                <a:solidFill>
                  <a:srgbClr val="1A1A1A"/>
                </a:solidFill>
                <a:latin typeface="Arial"/>
              </a:defRPr>
            </a:pPr>
            <a:r>
              <a:t>• Lançar 20 LPs keywords top</a:t>
            </a:r>
          </a:p>
        </p:txBody>
      </p:sp>
      <p:sp>
        <p:nvSpPr>
          <p:cNvPr id="24" name="TextBox 23"/>
          <p:cNvSpPr txBox="1"/>
          <p:nvPr/>
        </p:nvSpPr>
        <p:spPr>
          <a:xfrm>
            <a:off x="3383280" y="2194560"/>
            <a:ext cx="2743200" cy="228600"/>
          </a:xfrm>
          <a:prstGeom prst="rect">
            <a:avLst/>
          </a:prstGeom>
          <a:noFill/>
        </p:spPr>
        <p:txBody>
          <a:bodyPr wrap="square">
            <a:spAutoFit/>
          </a:bodyPr>
          <a:lstStyle/>
          <a:p>
            <a:pPr>
              <a:defRPr sz="700" b="0">
                <a:solidFill>
                  <a:srgbClr val="1A1A1A"/>
                </a:solidFill>
                <a:latin typeface="Arial"/>
              </a:defRPr>
            </a:pPr>
            <a:r>
              <a:t>• A/B testing checkout XGEN</a:t>
            </a:r>
          </a:p>
        </p:txBody>
      </p:sp>
      <p:sp>
        <p:nvSpPr>
          <p:cNvPr id="25" name="TextBox 24"/>
          <p:cNvSpPr txBox="1"/>
          <p:nvPr/>
        </p:nvSpPr>
        <p:spPr>
          <a:xfrm>
            <a:off x="3383280" y="2514600"/>
            <a:ext cx="2743200" cy="228600"/>
          </a:xfrm>
          <a:prstGeom prst="rect">
            <a:avLst/>
          </a:prstGeom>
          <a:noFill/>
        </p:spPr>
        <p:txBody>
          <a:bodyPr wrap="square">
            <a:spAutoFit/>
          </a:bodyPr>
          <a:lstStyle/>
          <a:p>
            <a:pPr>
              <a:defRPr sz="700" b="1">
                <a:solidFill>
                  <a:srgbClr val="6B7280"/>
                </a:solidFill>
                <a:latin typeface="Arial"/>
              </a:defRPr>
            </a:pPr>
            <a:r>
              <a:t>🎯 MILESTONES TÉCNICOS</a:t>
            </a:r>
          </a:p>
        </p:txBody>
      </p:sp>
      <p:sp>
        <p:nvSpPr>
          <p:cNvPr id="26" name="TextBox 25"/>
          <p:cNvSpPr txBox="1"/>
          <p:nvPr/>
        </p:nvSpPr>
        <p:spPr>
          <a:xfrm>
            <a:off x="3383280" y="2743200"/>
            <a:ext cx="2743200" cy="228600"/>
          </a:xfrm>
          <a:prstGeom prst="rect">
            <a:avLst/>
          </a:prstGeom>
          <a:noFill/>
        </p:spPr>
        <p:txBody>
          <a:bodyPr wrap="square">
            <a:spAutoFit/>
          </a:bodyPr>
          <a:lstStyle/>
          <a:p>
            <a:pPr>
              <a:defRPr sz="700" b="0">
                <a:solidFill>
                  <a:srgbClr val="1A1A1A"/>
                </a:solidFill>
                <a:latin typeface="Arial"/>
              </a:defRPr>
            </a:pPr>
            <a:r>
              <a:t>• MVP App Hapvida (iOS/Android)</a:t>
            </a:r>
          </a:p>
        </p:txBody>
      </p:sp>
      <p:sp>
        <p:nvSpPr>
          <p:cNvPr id="27" name="TextBox 26"/>
          <p:cNvSpPr txBox="1"/>
          <p:nvPr/>
        </p:nvSpPr>
        <p:spPr>
          <a:xfrm>
            <a:off x="3383280" y="2971800"/>
            <a:ext cx="2743200" cy="228600"/>
          </a:xfrm>
          <a:prstGeom prst="rect">
            <a:avLst/>
          </a:prstGeom>
          <a:noFill/>
        </p:spPr>
        <p:txBody>
          <a:bodyPr wrap="square">
            <a:spAutoFit/>
          </a:bodyPr>
          <a:lstStyle/>
          <a:p>
            <a:pPr>
              <a:defRPr sz="700" b="0">
                <a:solidFill>
                  <a:srgbClr val="1A1A1A"/>
                </a:solidFill>
                <a:latin typeface="Arial"/>
              </a:defRPr>
            </a:pPr>
            <a:r>
              <a:t>• Migrar GA4 Enhanced Commerce</a:t>
            </a:r>
          </a:p>
        </p:txBody>
      </p:sp>
      <p:sp>
        <p:nvSpPr>
          <p:cNvPr id="28" name="TextBox 27"/>
          <p:cNvSpPr txBox="1"/>
          <p:nvPr/>
        </p:nvSpPr>
        <p:spPr>
          <a:xfrm>
            <a:off x="3383280" y="3291840"/>
            <a:ext cx="2743200" cy="228600"/>
          </a:xfrm>
          <a:prstGeom prst="rect">
            <a:avLst/>
          </a:prstGeom>
          <a:noFill/>
        </p:spPr>
        <p:txBody>
          <a:bodyPr wrap="square">
            <a:spAutoFit/>
          </a:bodyPr>
          <a:lstStyle/>
          <a:p>
            <a:pPr>
              <a:defRPr sz="700" b="1">
                <a:solidFill>
                  <a:srgbClr val="6B7280"/>
                </a:solidFill>
                <a:latin typeface="Arial"/>
              </a:defRPr>
            </a:pPr>
            <a:r>
              <a:t>📊 KPIS META</a:t>
            </a:r>
          </a:p>
        </p:txBody>
      </p:sp>
      <p:sp>
        <p:nvSpPr>
          <p:cNvPr id="29" name="TextBox 28"/>
          <p:cNvSpPr txBox="1"/>
          <p:nvPr/>
        </p:nvSpPr>
        <p:spPr>
          <a:xfrm>
            <a:off x="3383280" y="3520440"/>
            <a:ext cx="2743200" cy="228600"/>
          </a:xfrm>
          <a:prstGeom prst="rect">
            <a:avLst/>
          </a:prstGeom>
          <a:noFill/>
        </p:spPr>
        <p:txBody>
          <a:bodyPr wrap="square">
            <a:spAutoFit/>
          </a:bodyPr>
          <a:lstStyle/>
          <a:p>
            <a:pPr>
              <a:defRPr sz="700" b="0">
                <a:solidFill>
                  <a:srgbClr val="1A1A1A"/>
                </a:solidFill>
                <a:latin typeface="Arial"/>
              </a:defRPr>
            </a:pPr>
            <a:r>
              <a:t>• App Downloads: 50k</a:t>
            </a:r>
          </a:p>
        </p:txBody>
      </p:sp>
      <p:sp>
        <p:nvSpPr>
          <p:cNvPr id="30" name="TextBox 29"/>
          <p:cNvSpPr txBox="1"/>
          <p:nvPr/>
        </p:nvSpPr>
        <p:spPr>
          <a:xfrm>
            <a:off x="3383280" y="3749039"/>
            <a:ext cx="2743200" cy="228600"/>
          </a:xfrm>
          <a:prstGeom prst="rect">
            <a:avLst/>
          </a:prstGeom>
          <a:noFill/>
        </p:spPr>
        <p:txBody>
          <a:bodyPr wrap="square">
            <a:spAutoFit/>
          </a:bodyPr>
          <a:lstStyle/>
          <a:p>
            <a:pPr>
              <a:defRPr sz="700" b="0">
                <a:solidFill>
                  <a:srgbClr val="1A1A1A"/>
                </a:solidFill>
                <a:latin typeface="Arial"/>
              </a:defRPr>
            </a:pPr>
            <a:r>
              <a:t>• CVR Transacional: +0.5pp</a:t>
            </a:r>
          </a:p>
        </p:txBody>
      </p:sp>
      <p:sp>
        <p:nvSpPr>
          <p:cNvPr id="31" name="Rounded Rectangle 30"/>
          <p:cNvSpPr/>
          <p:nvPr/>
        </p:nvSpPr>
        <p:spPr>
          <a:xfrm>
            <a:off x="3383280" y="4023360"/>
            <a:ext cx="2743200" cy="457200"/>
          </a:xfrm>
          <a:prstGeom prst="roundRect">
            <a:avLst/>
          </a:prstGeom>
          <a:solidFill>
            <a:srgbClr val="38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4069080"/>
            <a:ext cx="2743200" cy="365760"/>
          </a:xfrm>
          <a:prstGeom prst="rect">
            <a:avLst/>
          </a:prstGeom>
          <a:noFill/>
        </p:spPr>
        <p:txBody>
          <a:bodyPr wrap="square">
            <a:spAutoFit/>
          </a:bodyPr>
          <a:lstStyle/>
          <a:p>
            <a:pPr algn="ctr">
              <a:defRPr sz="900" b="1">
                <a:solidFill>
                  <a:srgbClr val="FFFFFF"/>
                </a:solidFill>
                <a:latin typeface="Arial"/>
              </a:defRPr>
            </a:pPr>
            <a:r>
              <a:t>INVESTIMENTO: R$ 4.8M</a:t>
            </a:r>
          </a:p>
        </p:txBody>
      </p:sp>
      <p:sp>
        <p:nvSpPr>
          <p:cNvPr id="33" name="Rounded Rectangle 32"/>
          <p:cNvSpPr/>
          <p:nvPr/>
        </p:nvSpPr>
        <p:spPr>
          <a:xfrm>
            <a:off x="6309360" y="1188720"/>
            <a:ext cx="2743200" cy="4572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1234440"/>
            <a:ext cx="2560320" cy="365760"/>
          </a:xfrm>
          <a:prstGeom prst="rect">
            <a:avLst/>
          </a:prstGeom>
          <a:noFill/>
        </p:spPr>
        <p:txBody>
          <a:bodyPr wrap="square">
            <a:spAutoFit/>
          </a:bodyPr>
          <a:lstStyle/>
          <a:p>
            <a:pPr>
              <a:defRPr sz="1100" b="1">
                <a:solidFill>
                  <a:srgbClr val="FFFFFF"/>
                </a:solidFill>
                <a:latin typeface="Arial"/>
              </a:defRPr>
            </a:pPr>
            <a:r>
              <a:t>Q3 — OTIMIZAÇÃO</a:t>
            </a:r>
          </a:p>
        </p:txBody>
      </p:sp>
      <p:sp>
        <p:nvSpPr>
          <p:cNvPr id="35" name="TextBox 34"/>
          <p:cNvSpPr txBox="1"/>
          <p:nvPr/>
        </p:nvSpPr>
        <p:spPr>
          <a:xfrm>
            <a:off x="6309360" y="1737360"/>
            <a:ext cx="2743200" cy="228600"/>
          </a:xfrm>
          <a:prstGeom prst="rect">
            <a:avLst/>
          </a:prstGeom>
          <a:noFill/>
        </p:spPr>
        <p:txBody>
          <a:bodyPr wrap="square">
            <a:spAutoFit/>
          </a:bodyPr>
          <a:lstStyle/>
          <a:p>
            <a:pPr>
              <a:defRPr sz="700" b="1">
                <a:solidFill>
                  <a:srgbClr val="6B7280"/>
                </a:solidFill>
                <a:latin typeface="Arial"/>
              </a:defRPr>
            </a:pPr>
            <a:r>
              <a:t>⚡ QUICK WINS</a:t>
            </a:r>
          </a:p>
        </p:txBody>
      </p:sp>
      <p:sp>
        <p:nvSpPr>
          <p:cNvPr id="36" name="TextBox 35"/>
          <p:cNvSpPr txBox="1"/>
          <p:nvPr/>
        </p:nvSpPr>
        <p:spPr>
          <a:xfrm>
            <a:off x="6309360" y="1965960"/>
            <a:ext cx="2743200" cy="228600"/>
          </a:xfrm>
          <a:prstGeom prst="rect">
            <a:avLst/>
          </a:prstGeom>
          <a:noFill/>
        </p:spPr>
        <p:txBody>
          <a:bodyPr wrap="square">
            <a:spAutoFit/>
          </a:bodyPr>
          <a:lstStyle/>
          <a:p>
            <a:pPr>
              <a:defRPr sz="700" b="0">
                <a:solidFill>
                  <a:srgbClr val="1A1A1A"/>
                </a:solidFill>
                <a:latin typeface="Arial"/>
              </a:defRPr>
            </a:pPr>
            <a:r>
              <a:t>• Criar 30 páginas informacionais</a:t>
            </a:r>
          </a:p>
        </p:txBody>
      </p:sp>
      <p:sp>
        <p:nvSpPr>
          <p:cNvPr id="37" name="TextBox 36"/>
          <p:cNvSpPr txBox="1"/>
          <p:nvPr/>
        </p:nvSpPr>
        <p:spPr>
          <a:xfrm>
            <a:off x="6309360" y="2194560"/>
            <a:ext cx="2743200" cy="228600"/>
          </a:xfrm>
          <a:prstGeom prst="rect">
            <a:avLst/>
          </a:prstGeom>
          <a:noFill/>
        </p:spPr>
        <p:txBody>
          <a:bodyPr wrap="square">
            <a:spAutoFit/>
          </a:bodyPr>
          <a:lstStyle/>
          <a:p>
            <a:pPr>
              <a:defRPr sz="700" b="0">
                <a:solidFill>
                  <a:srgbClr val="1A1A1A"/>
                </a:solidFill>
                <a:latin typeface="Arial"/>
              </a:defRPr>
            </a:pPr>
            <a:r>
              <a:t>• Chat proativo no site</a:t>
            </a:r>
          </a:p>
        </p:txBody>
      </p:sp>
      <p:sp>
        <p:nvSpPr>
          <p:cNvPr id="38" name="TextBox 37"/>
          <p:cNvSpPr txBox="1"/>
          <p:nvPr/>
        </p:nvSpPr>
        <p:spPr>
          <a:xfrm>
            <a:off x="6309360" y="2514600"/>
            <a:ext cx="2743200" cy="228600"/>
          </a:xfrm>
          <a:prstGeom prst="rect">
            <a:avLst/>
          </a:prstGeom>
          <a:noFill/>
        </p:spPr>
        <p:txBody>
          <a:bodyPr wrap="square">
            <a:spAutoFit/>
          </a:bodyPr>
          <a:lstStyle/>
          <a:p>
            <a:pPr>
              <a:defRPr sz="700" b="1">
                <a:solidFill>
                  <a:srgbClr val="6B7280"/>
                </a:solidFill>
                <a:latin typeface="Arial"/>
              </a:defRPr>
            </a:pPr>
            <a:r>
              <a:t>🎯 MILESTONES TÉCNICOS</a:t>
            </a:r>
          </a:p>
        </p:txBody>
      </p:sp>
      <p:sp>
        <p:nvSpPr>
          <p:cNvPr id="39" name="TextBox 38"/>
          <p:cNvSpPr txBox="1"/>
          <p:nvPr/>
        </p:nvSpPr>
        <p:spPr>
          <a:xfrm>
            <a:off x="6309360" y="2743200"/>
            <a:ext cx="2743200" cy="228600"/>
          </a:xfrm>
          <a:prstGeom prst="rect">
            <a:avLst/>
          </a:prstGeom>
          <a:noFill/>
        </p:spPr>
        <p:txBody>
          <a:bodyPr wrap="square">
            <a:spAutoFit/>
          </a:bodyPr>
          <a:lstStyle/>
          <a:p>
            <a:pPr>
              <a:defRPr sz="700" b="0">
                <a:solidFill>
                  <a:srgbClr val="1A1A1A"/>
                </a:solidFill>
                <a:latin typeface="Arial"/>
              </a:defRPr>
            </a:pPr>
            <a:r>
              <a:t>• Google Optimize360 (Personalização)</a:t>
            </a:r>
          </a:p>
        </p:txBody>
      </p:sp>
      <p:sp>
        <p:nvSpPr>
          <p:cNvPr id="40" name="TextBox 39"/>
          <p:cNvSpPr txBox="1"/>
          <p:nvPr/>
        </p:nvSpPr>
        <p:spPr>
          <a:xfrm>
            <a:off x="6309360" y="2971800"/>
            <a:ext cx="2743200" cy="228600"/>
          </a:xfrm>
          <a:prstGeom prst="rect">
            <a:avLst/>
          </a:prstGeom>
          <a:noFill/>
        </p:spPr>
        <p:txBody>
          <a:bodyPr wrap="square">
            <a:spAutoFit/>
          </a:bodyPr>
          <a:lstStyle/>
          <a:p>
            <a:pPr>
              <a:defRPr sz="700" b="0">
                <a:solidFill>
                  <a:srgbClr val="1A1A1A"/>
                </a:solidFill>
                <a:latin typeface="Arial"/>
              </a:defRPr>
            </a:pPr>
            <a:r>
              <a:t>• Salesforce Marketing Cloud</a:t>
            </a:r>
          </a:p>
        </p:txBody>
      </p:sp>
      <p:sp>
        <p:nvSpPr>
          <p:cNvPr id="41" name="TextBox 40"/>
          <p:cNvSpPr txBox="1"/>
          <p:nvPr/>
        </p:nvSpPr>
        <p:spPr>
          <a:xfrm>
            <a:off x="6309360" y="3291840"/>
            <a:ext cx="2743200" cy="228600"/>
          </a:xfrm>
          <a:prstGeom prst="rect">
            <a:avLst/>
          </a:prstGeom>
          <a:noFill/>
        </p:spPr>
        <p:txBody>
          <a:bodyPr wrap="square">
            <a:spAutoFit/>
          </a:bodyPr>
          <a:lstStyle/>
          <a:p>
            <a:pPr>
              <a:defRPr sz="700" b="1">
                <a:solidFill>
                  <a:srgbClr val="6B7280"/>
                </a:solidFill>
                <a:latin typeface="Arial"/>
              </a:defRPr>
            </a:pPr>
            <a:r>
              <a:t>📊 KPIS META</a:t>
            </a:r>
          </a:p>
        </p:txBody>
      </p:sp>
      <p:sp>
        <p:nvSpPr>
          <p:cNvPr id="42" name="TextBox 41"/>
          <p:cNvSpPr txBox="1"/>
          <p:nvPr/>
        </p:nvSpPr>
        <p:spPr>
          <a:xfrm>
            <a:off x="6309360" y="3520440"/>
            <a:ext cx="2743200" cy="228600"/>
          </a:xfrm>
          <a:prstGeom prst="rect">
            <a:avLst/>
          </a:prstGeom>
          <a:noFill/>
        </p:spPr>
        <p:txBody>
          <a:bodyPr wrap="square">
            <a:spAutoFit/>
          </a:bodyPr>
          <a:lstStyle/>
          <a:p>
            <a:pPr>
              <a:defRPr sz="700" b="0">
                <a:solidFill>
                  <a:srgbClr val="1A1A1A"/>
                </a:solidFill>
                <a:latin typeface="Arial"/>
              </a:defRPr>
            </a:pPr>
            <a:r>
              <a:t>• Personalização Reach: 40%</a:t>
            </a:r>
          </a:p>
        </p:txBody>
      </p:sp>
      <p:sp>
        <p:nvSpPr>
          <p:cNvPr id="43" name="TextBox 42"/>
          <p:cNvSpPr txBox="1"/>
          <p:nvPr/>
        </p:nvSpPr>
        <p:spPr>
          <a:xfrm>
            <a:off x="6309360" y="3749039"/>
            <a:ext cx="2743200" cy="228600"/>
          </a:xfrm>
          <a:prstGeom prst="rect">
            <a:avLst/>
          </a:prstGeom>
          <a:noFill/>
        </p:spPr>
        <p:txBody>
          <a:bodyPr wrap="square">
            <a:spAutoFit/>
          </a:bodyPr>
          <a:lstStyle/>
          <a:p>
            <a:pPr>
              <a:defRPr sz="700" b="0">
                <a:solidFill>
                  <a:srgbClr val="1A1A1A"/>
                </a:solidFill>
                <a:latin typeface="Arial"/>
              </a:defRPr>
            </a:pPr>
            <a:r>
              <a:t>• Email CVR: 1.5% → 2.5%</a:t>
            </a:r>
          </a:p>
        </p:txBody>
      </p:sp>
      <p:sp>
        <p:nvSpPr>
          <p:cNvPr id="44" name="Rounded Rectangle 43"/>
          <p:cNvSpPr/>
          <p:nvPr/>
        </p:nvSpPr>
        <p:spPr>
          <a:xfrm>
            <a:off x="6309360" y="4023360"/>
            <a:ext cx="2743200" cy="4572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9360" y="4069080"/>
            <a:ext cx="2743200" cy="365760"/>
          </a:xfrm>
          <a:prstGeom prst="rect">
            <a:avLst/>
          </a:prstGeom>
          <a:noFill/>
        </p:spPr>
        <p:txBody>
          <a:bodyPr wrap="square">
            <a:spAutoFit/>
          </a:bodyPr>
          <a:lstStyle/>
          <a:p>
            <a:pPr algn="ctr">
              <a:defRPr sz="900" b="1">
                <a:solidFill>
                  <a:srgbClr val="FFFFFF"/>
                </a:solidFill>
                <a:latin typeface="Arial"/>
              </a:defRPr>
            </a:pPr>
            <a:r>
              <a:t>INVESTIMENTO: R$ 3.2M</a:t>
            </a:r>
          </a:p>
        </p:txBody>
      </p:sp>
      <p:sp>
        <p:nvSpPr>
          <p:cNvPr id="46" name="Rounded Rectangle 45"/>
          <p:cNvSpPr/>
          <p:nvPr/>
        </p:nvSpPr>
        <p:spPr>
          <a:xfrm>
            <a:off x="9235440" y="1188720"/>
            <a:ext cx="2743200" cy="457200"/>
          </a:xfrm>
          <a:prstGeom prst="round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26880" y="1234440"/>
            <a:ext cx="2560320" cy="365760"/>
          </a:xfrm>
          <a:prstGeom prst="rect">
            <a:avLst/>
          </a:prstGeom>
          <a:noFill/>
        </p:spPr>
        <p:txBody>
          <a:bodyPr wrap="square">
            <a:spAutoFit/>
          </a:bodyPr>
          <a:lstStyle/>
          <a:p>
            <a:pPr>
              <a:defRPr sz="1100" b="1">
                <a:solidFill>
                  <a:srgbClr val="FFFFFF"/>
                </a:solidFill>
                <a:latin typeface="Arial"/>
              </a:defRPr>
            </a:pPr>
            <a:r>
              <a:t>Q4 — CONSOLIDAÇÃO</a:t>
            </a:r>
          </a:p>
        </p:txBody>
      </p:sp>
      <p:sp>
        <p:nvSpPr>
          <p:cNvPr id="48" name="TextBox 47"/>
          <p:cNvSpPr txBox="1"/>
          <p:nvPr/>
        </p:nvSpPr>
        <p:spPr>
          <a:xfrm>
            <a:off x="9235440" y="1737360"/>
            <a:ext cx="2743200" cy="228600"/>
          </a:xfrm>
          <a:prstGeom prst="rect">
            <a:avLst/>
          </a:prstGeom>
          <a:noFill/>
        </p:spPr>
        <p:txBody>
          <a:bodyPr wrap="square">
            <a:spAutoFit/>
          </a:bodyPr>
          <a:lstStyle/>
          <a:p>
            <a:pPr>
              <a:defRPr sz="700" b="1">
                <a:solidFill>
                  <a:srgbClr val="6B7280"/>
                </a:solidFill>
                <a:latin typeface="Arial"/>
              </a:defRPr>
            </a:pPr>
            <a:r>
              <a:t>⚡ QUICK WINS</a:t>
            </a:r>
          </a:p>
        </p:txBody>
      </p:sp>
      <p:sp>
        <p:nvSpPr>
          <p:cNvPr id="49" name="TextBox 48"/>
          <p:cNvSpPr txBox="1"/>
          <p:nvPr/>
        </p:nvSpPr>
        <p:spPr>
          <a:xfrm>
            <a:off x="9235440" y="1965960"/>
            <a:ext cx="2743200" cy="228600"/>
          </a:xfrm>
          <a:prstGeom prst="rect">
            <a:avLst/>
          </a:prstGeom>
          <a:noFill/>
        </p:spPr>
        <p:txBody>
          <a:bodyPr wrap="square">
            <a:spAutoFit/>
          </a:bodyPr>
          <a:lstStyle/>
          <a:p>
            <a:pPr>
              <a:defRPr sz="700" b="0">
                <a:solidFill>
                  <a:srgbClr val="1A1A1A"/>
                </a:solidFill>
                <a:latin typeface="Arial"/>
              </a:defRPr>
            </a:pPr>
            <a:r>
              <a:t>• Programa Fidelidade WhatsApp</a:t>
            </a:r>
          </a:p>
        </p:txBody>
      </p:sp>
      <p:sp>
        <p:nvSpPr>
          <p:cNvPr id="50" name="TextBox 49"/>
          <p:cNvSpPr txBox="1"/>
          <p:nvPr/>
        </p:nvSpPr>
        <p:spPr>
          <a:xfrm>
            <a:off x="9235440" y="2194560"/>
            <a:ext cx="2743200" cy="228600"/>
          </a:xfrm>
          <a:prstGeom prst="rect">
            <a:avLst/>
          </a:prstGeom>
          <a:noFill/>
        </p:spPr>
        <p:txBody>
          <a:bodyPr wrap="square">
            <a:spAutoFit/>
          </a:bodyPr>
          <a:lstStyle/>
          <a:p>
            <a:pPr>
              <a:defRPr sz="700" b="0">
                <a:solidFill>
                  <a:srgbClr val="1A1A1A"/>
                </a:solidFill>
                <a:latin typeface="Arial"/>
              </a:defRPr>
            </a:pPr>
            <a:r>
              <a:t>• Hub Educacional (Blog)</a:t>
            </a:r>
          </a:p>
        </p:txBody>
      </p:sp>
      <p:sp>
        <p:nvSpPr>
          <p:cNvPr id="51" name="TextBox 50"/>
          <p:cNvSpPr txBox="1"/>
          <p:nvPr/>
        </p:nvSpPr>
        <p:spPr>
          <a:xfrm>
            <a:off x="9235440" y="2514600"/>
            <a:ext cx="2743200" cy="228600"/>
          </a:xfrm>
          <a:prstGeom prst="rect">
            <a:avLst/>
          </a:prstGeom>
          <a:noFill/>
        </p:spPr>
        <p:txBody>
          <a:bodyPr wrap="square">
            <a:spAutoFit/>
          </a:bodyPr>
          <a:lstStyle/>
          <a:p>
            <a:pPr>
              <a:defRPr sz="700" b="1">
                <a:solidFill>
                  <a:srgbClr val="6B7280"/>
                </a:solidFill>
                <a:latin typeface="Arial"/>
              </a:defRPr>
            </a:pPr>
            <a:r>
              <a:t>🎯 MILESTONES TÉCNICOS</a:t>
            </a:r>
          </a:p>
        </p:txBody>
      </p:sp>
      <p:sp>
        <p:nvSpPr>
          <p:cNvPr id="52" name="TextBox 51"/>
          <p:cNvSpPr txBox="1"/>
          <p:nvPr/>
        </p:nvSpPr>
        <p:spPr>
          <a:xfrm>
            <a:off x="9235440" y="2743200"/>
            <a:ext cx="2743200" cy="228600"/>
          </a:xfrm>
          <a:prstGeom prst="rect">
            <a:avLst/>
          </a:prstGeom>
          <a:noFill/>
        </p:spPr>
        <p:txBody>
          <a:bodyPr wrap="square">
            <a:spAutoFit/>
          </a:bodyPr>
          <a:lstStyle/>
          <a:p>
            <a:pPr>
              <a:defRPr sz="700" b="0">
                <a:solidFill>
                  <a:srgbClr val="1A1A1A"/>
                </a:solidFill>
                <a:latin typeface="Arial"/>
              </a:defRPr>
            </a:pPr>
            <a:r>
              <a:t>• Gateway Pagamento Interno</a:t>
            </a:r>
          </a:p>
        </p:txBody>
      </p:sp>
      <p:sp>
        <p:nvSpPr>
          <p:cNvPr id="53" name="TextBox 52"/>
          <p:cNvSpPr txBox="1"/>
          <p:nvPr/>
        </p:nvSpPr>
        <p:spPr>
          <a:xfrm>
            <a:off x="9235440" y="2971800"/>
            <a:ext cx="2743200" cy="228600"/>
          </a:xfrm>
          <a:prstGeom prst="rect">
            <a:avLst/>
          </a:prstGeom>
          <a:noFill/>
        </p:spPr>
        <p:txBody>
          <a:bodyPr wrap="square">
            <a:spAutoFit/>
          </a:bodyPr>
          <a:lstStyle/>
          <a:p>
            <a:pPr>
              <a:defRPr sz="700" b="0">
                <a:solidFill>
                  <a:srgbClr val="1A1A1A"/>
                </a:solidFill>
                <a:latin typeface="Arial"/>
              </a:defRPr>
            </a:pPr>
            <a:r>
              <a:t>• Dynatrace APM (Performance)</a:t>
            </a:r>
          </a:p>
        </p:txBody>
      </p:sp>
      <p:sp>
        <p:nvSpPr>
          <p:cNvPr id="54" name="TextBox 53"/>
          <p:cNvSpPr txBox="1"/>
          <p:nvPr/>
        </p:nvSpPr>
        <p:spPr>
          <a:xfrm>
            <a:off x="9235440" y="3291840"/>
            <a:ext cx="2743200" cy="228600"/>
          </a:xfrm>
          <a:prstGeom prst="rect">
            <a:avLst/>
          </a:prstGeom>
          <a:noFill/>
        </p:spPr>
        <p:txBody>
          <a:bodyPr wrap="square">
            <a:spAutoFit/>
          </a:bodyPr>
          <a:lstStyle/>
          <a:p>
            <a:pPr>
              <a:defRPr sz="700" b="1">
                <a:solidFill>
                  <a:srgbClr val="6B7280"/>
                </a:solidFill>
                <a:latin typeface="Arial"/>
              </a:defRPr>
            </a:pPr>
            <a:r>
              <a:t>📊 KPIS META</a:t>
            </a:r>
          </a:p>
        </p:txBody>
      </p:sp>
      <p:sp>
        <p:nvSpPr>
          <p:cNvPr id="55" name="TextBox 54"/>
          <p:cNvSpPr txBox="1"/>
          <p:nvPr/>
        </p:nvSpPr>
        <p:spPr>
          <a:xfrm>
            <a:off x="9235440" y="3520440"/>
            <a:ext cx="2743200" cy="228600"/>
          </a:xfrm>
          <a:prstGeom prst="rect">
            <a:avLst/>
          </a:prstGeom>
          <a:noFill/>
        </p:spPr>
        <p:txBody>
          <a:bodyPr wrap="square">
            <a:spAutoFit/>
          </a:bodyPr>
          <a:lstStyle/>
          <a:p>
            <a:pPr>
              <a:defRPr sz="700" b="0">
                <a:solidFill>
                  <a:srgbClr val="1A1A1A"/>
                </a:solidFill>
                <a:latin typeface="Arial"/>
              </a:defRPr>
            </a:pPr>
            <a:r>
              <a:t>• Gateway Interno: 100% live</a:t>
            </a:r>
          </a:p>
        </p:txBody>
      </p:sp>
      <p:sp>
        <p:nvSpPr>
          <p:cNvPr id="56" name="TextBox 55"/>
          <p:cNvSpPr txBox="1"/>
          <p:nvPr/>
        </p:nvSpPr>
        <p:spPr>
          <a:xfrm>
            <a:off x="9235440" y="3749039"/>
            <a:ext cx="2743200" cy="228600"/>
          </a:xfrm>
          <a:prstGeom prst="rect">
            <a:avLst/>
          </a:prstGeom>
          <a:noFill/>
        </p:spPr>
        <p:txBody>
          <a:bodyPr wrap="square">
            <a:spAutoFit/>
          </a:bodyPr>
          <a:lstStyle/>
          <a:p>
            <a:pPr>
              <a:defRPr sz="700" b="0">
                <a:solidFill>
                  <a:srgbClr val="1A1A1A"/>
                </a:solidFill>
                <a:latin typeface="Arial"/>
              </a:defRPr>
            </a:pPr>
            <a:r>
              <a:t>• WhatsApp Ativo: 25%</a:t>
            </a:r>
          </a:p>
        </p:txBody>
      </p:sp>
      <p:sp>
        <p:nvSpPr>
          <p:cNvPr id="57" name="Rounded Rectangle 56"/>
          <p:cNvSpPr/>
          <p:nvPr/>
        </p:nvSpPr>
        <p:spPr>
          <a:xfrm>
            <a:off x="9235440" y="4023360"/>
            <a:ext cx="2743200" cy="457200"/>
          </a:xfrm>
          <a:prstGeom prst="round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235440" y="4069080"/>
            <a:ext cx="2743200" cy="365760"/>
          </a:xfrm>
          <a:prstGeom prst="rect">
            <a:avLst/>
          </a:prstGeom>
          <a:noFill/>
        </p:spPr>
        <p:txBody>
          <a:bodyPr wrap="square">
            <a:spAutoFit/>
          </a:bodyPr>
          <a:lstStyle/>
          <a:p>
            <a:pPr algn="ctr">
              <a:defRPr sz="900" b="1">
                <a:solidFill>
                  <a:srgbClr val="FFFFFF"/>
                </a:solidFill>
                <a:latin typeface="Arial"/>
              </a:defRPr>
            </a:pPr>
            <a:r>
              <a:t>INVESTIMENTO: R$ 5.5M</a:t>
            </a:r>
          </a:p>
        </p:txBody>
      </p:sp>
      <p:sp>
        <p:nvSpPr>
          <p:cNvPr id="59" name="Rounded Rectangle 58"/>
          <p:cNvSpPr/>
          <p:nvPr/>
        </p:nvSpPr>
        <p:spPr>
          <a:xfrm>
            <a:off x="457200" y="4663440"/>
            <a:ext cx="11247120" cy="1097280"/>
          </a:xfrm>
          <a:prstGeom prst="roundRect">
            <a:avLst/>
          </a:prstGeom>
          <a:solidFill>
            <a:srgbClr val="FFFFFF"/>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4709160"/>
            <a:ext cx="2743200" cy="228600"/>
          </a:xfrm>
          <a:prstGeom prst="rect">
            <a:avLst/>
          </a:prstGeom>
          <a:noFill/>
        </p:spPr>
        <p:txBody>
          <a:bodyPr wrap="square">
            <a:spAutoFit/>
          </a:bodyPr>
          <a:lstStyle/>
          <a:p>
            <a:pPr>
              <a:defRPr sz="900" b="1">
                <a:solidFill>
                  <a:srgbClr val="1A3A6E"/>
                </a:solidFill>
                <a:latin typeface="Arial"/>
              </a:defRPr>
            </a:pPr>
            <a:r>
              <a:t>📋 Resumo Financeiro 2026</a:t>
            </a:r>
          </a:p>
        </p:txBody>
      </p:sp>
      <p:sp>
        <p:nvSpPr>
          <p:cNvPr id="61" name="TextBox 60"/>
          <p:cNvSpPr txBox="1"/>
          <p:nvPr/>
        </p:nvSpPr>
        <p:spPr>
          <a:xfrm>
            <a:off x="548640" y="4937760"/>
            <a:ext cx="2743200" cy="182880"/>
          </a:xfrm>
          <a:prstGeom prst="rect">
            <a:avLst/>
          </a:prstGeom>
          <a:noFill/>
        </p:spPr>
        <p:txBody>
          <a:bodyPr wrap="square">
            <a:spAutoFit/>
          </a:bodyPr>
          <a:lstStyle/>
          <a:p>
            <a:pPr>
              <a:defRPr sz="700" b="0">
                <a:solidFill>
                  <a:srgbClr val="6B7280"/>
                </a:solidFill>
                <a:latin typeface="Arial"/>
              </a:defRPr>
            </a:pPr>
            <a:r>
              <a:t>Estimativas baseadas em benchmarks</a:t>
            </a:r>
          </a:p>
        </p:txBody>
      </p:sp>
      <p:sp>
        <p:nvSpPr>
          <p:cNvPr id="62" name="TextBox 61"/>
          <p:cNvSpPr txBox="1"/>
          <p:nvPr/>
        </p:nvSpPr>
        <p:spPr>
          <a:xfrm>
            <a:off x="3657600" y="4709160"/>
            <a:ext cx="1828800" cy="182880"/>
          </a:xfrm>
          <a:prstGeom prst="rect">
            <a:avLst/>
          </a:prstGeom>
          <a:noFill/>
        </p:spPr>
        <p:txBody>
          <a:bodyPr wrap="square">
            <a:spAutoFit/>
          </a:bodyPr>
          <a:lstStyle/>
          <a:p>
            <a:pPr>
              <a:defRPr sz="700" b="0">
                <a:solidFill>
                  <a:srgbClr val="6B7280"/>
                </a:solidFill>
                <a:latin typeface="Arial"/>
              </a:defRPr>
            </a:pPr>
            <a:r>
              <a:t>INVESTIMENTO TOTAL</a:t>
            </a:r>
          </a:p>
        </p:txBody>
      </p:sp>
      <p:sp>
        <p:nvSpPr>
          <p:cNvPr id="63" name="TextBox 62"/>
          <p:cNvSpPr txBox="1"/>
          <p:nvPr/>
        </p:nvSpPr>
        <p:spPr>
          <a:xfrm>
            <a:off x="3657600" y="4892040"/>
            <a:ext cx="1828800" cy="365760"/>
          </a:xfrm>
          <a:prstGeom prst="rect">
            <a:avLst/>
          </a:prstGeom>
          <a:noFill/>
        </p:spPr>
        <p:txBody>
          <a:bodyPr wrap="square">
            <a:spAutoFit/>
          </a:bodyPr>
          <a:lstStyle/>
          <a:p>
            <a:pPr>
              <a:defRPr sz="1600" b="1">
                <a:solidFill>
                  <a:srgbClr val="1A3A6E"/>
                </a:solidFill>
                <a:latin typeface="Arial"/>
              </a:defRPr>
            </a:pPr>
            <a:r>
              <a:t>R$ 16.0M</a:t>
            </a:r>
          </a:p>
        </p:txBody>
      </p:sp>
      <p:sp>
        <p:nvSpPr>
          <p:cNvPr id="64" name="TextBox 63"/>
          <p:cNvSpPr txBox="1"/>
          <p:nvPr/>
        </p:nvSpPr>
        <p:spPr>
          <a:xfrm>
            <a:off x="5943600" y="4709160"/>
            <a:ext cx="1371600" cy="182880"/>
          </a:xfrm>
          <a:prstGeom prst="rect">
            <a:avLst/>
          </a:prstGeom>
          <a:noFill/>
        </p:spPr>
        <p:txBody>
          <a:bodyPr wrap="square">
            <a:spAutoFit/>
          </a:bodyPr>
          <a:lstStyle/>
          <a:p>
            <a:pPr>
              <a:defRPr sz="700" b="0">
                <a:solidFill>
                  <a:srgbClr val="6B7280"/>
                </a:solidFill>
                <a:latin typeface="Arial"/>
              </a:defRPr>
            </a:pPr>
            <a:r>
              <a:t>ROI ESPERADO</a:t>
            </a:r>
          </a:p>
        </p:txBody>
      </p:sp>
      <p:sp>
        <p:nvSpPr>
          <p:cNvPr id="65" name="TextBox 64"/>
          <p:cNvSpPr txBox="1"/>
          <p:nvPr/>
        </p:nvSpPr>
        <p:spPr>
          <a:xfrm>
            <a:off x="5943600" y="4892040"/>
            <a:ext cx="1371600" cy="365760"/>
          </a:xfrm>
          <a:prstGeom prst="rect">
            <a:avLst/>
          </a:prstGeom>
          <a:noFill/>
        </p:spPr>
        <p:txBody>
          <a:bodyPr wrap="square">
            <a:spAutoFit/>
          </a:bodyPr>
          <a:lstStyle/>
          <a:p>
            <a:pPr>
              <a:defRPr sz="1200" b="1">
                <a:solidFill>
                  <a:srgbClr val="059669"/>
                </a:solidFill>
                <a:latin typeface="Arial"/>
              </a:defRPr>
            </a:pPr>
            <a:r>
              <a:t>2.8x (18 meses)</a:t>
            </a:r>
          </a:p>
        </p:txBody>
      </p:sp>
      <p:sp>
        <p:nvSpPr>
          <p:cNvPr id="66" name="TextBox 65"/>
          <p:cNvSpPr txBox="1"/>
          <p:nvPr/>
        </p:nvSpPr>
        <p:spPr>
          <a:xfrm>
            <a:off x="7772400" y="4709160"/>
            <a:ext cx="1371600" cy="182880"/>
          </a:xfrm>
          <a:prstGeom prst="rect">
            <a:avLst/>
          </a:prstGeom>
          <a:noFill/>
        </p:spPr>
        <p:txBody>
          <a:bodyPr wrap="square">
            <a:spAutoFit/>
          </a:bodyPr>
          <a:lstStyle/>
          <a:p>
            <a:pPr>
              <a:defRPr sz="700" b="0">
                <a:solidFill>
                  <a:srgbClr val="6B7280"/>
                </a:solidFill>
                <a:latin typeface="Arial"/>
              </a:defRPr>
            </a:pPr>
            <a:r>
              <a:t>PAYBACK PERIOD</a:t>
            </a:r>
          </a:p>
        </p:txBody>
      </p:sp>
      <p:sp>
        <p:nvSpPr>
          <p:cNvPr id="67" name="TextBox 66"/>
          <p:cNvSpPr txBox="1"/>
          <p:nvPr/>
        </p:nvSpPr>
        <p:spPr>
          <a:xfrm>
            <a:off x="7772400" y="4892040"/>
            <a:ext cx="1371600" cy="365760"/>
          </a:xfrm>
          <a:prstGeom prst="rect">
            <a:avLst/>
          </a:prstGeom>
          <a:noFill/>
        </p:spPr>
        <p:txBody>
          <a:bodyPr wrap="square">
            <a:spAutoFit/>
          </a:bodyPr>
          <a:lstStyle/>
          <a:p>
            <a:pPr>
              <a:defRPr sz="1200" b="1">
                <a:solidFill>
                  <a:srgbClr val="3882F6"/>
                </a:solidFill>
                <a:latin typeface="Arial"/>
              </a:defRPr>
            </a:pPr>
            <a:r>
              <a:t>Q4 2027</a:t>
            </a:r>
          </a:p>
        </p:txBody>
      </p:sp>
      <p:sp>
        <p:nvSpPr>
          <p:cNvPr id="68" name="Rounded Rectangle 67"/>
          <p:cNvSpPr/>
          <p:nvPr/>
        </p:nvSpPr>
        <p:spPr>
          <a:xfrm>
            <a:off x="9418320" y="4663440"/>
            <a:ext cx="2286000" cy="1097280"/>
          </a:xfrm>
          <a:prstGeom prst="roundRect">
            <a:avLst/>
          </a:prstGeom>
          <a:solidFill>
            <a:srgbClr val="DCFCE7"/>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509760" y="4709160"/>
            <a:ext cx="2103120" cy="182880"/>
          </a:xfrm>
          <a:prstGeom prst="rect">
            <a:avLst/>
          </a:prstGeom>
          <a:noFill/>
        </p:spPr>
        <p:txBody>
          <a:bodyPr wrap="square">
            <a:spAutoFit/>
          </a:bodyPr>
          <a:lstStyle/>
          <a:p>
            <a:pPr>
              <a:defRPr sz="700" b="1">
                <a:solidFill>
                  <a:srgbClr val="059669"/>
                </a:solidFill>
                <a:latin typeface="Arial"/>
              </a:defRPr>
            </a:pPr>
            <a:r>
              <a:t>PRINCIPAIS DRIVERS DE VALOR</a:t>
            </a:r>
          </a:p>
        </p:txBody>
      </p:sp>
      <p:sp>
        <p:nvSpPr>
          <p:cNvPr id="70" name="TextBox 69"/>
          <p:cNvSpPr txBox="1"/>
          <p:nvPr/>
        </p:nvSpPr>
        <p:spPr>
          <a:xfrm>
            <a:off x="9509760" y="4937760"/>
            <a:ext cx="2103120" cy="228600"/>
          </a:xfrm>
          <a:prstGeom prst="rect">
            <a:avLst/>
          </a:prstGeom>
          <a:noFill/>
        </p:spPr>
        <p:txBody>
          <a:bodyPr wrap="square">
            <a:spAutoFit/>
          </a:bodyPr>
          <a:lstStyle/>
          <a:p>
            <a:pPr>
              <a:defRPr sz="800" b="0">
                <a:solidFill>
                  <a:srgbClr val="1A1A1A"/>
                </a:solidFill>
                <a:latin typeface="Arial"/>
              </a:defRPr>
            </a:pPr>
            <a:r>
              <a:t>↑ CAC -20% (R$ 12M/ano)</a:t>
            </a:r>
          </a:p>
        </p:txBody>
      </p:sp>
      <p:sp>
        <p:nvSpPr>
          <p:cNvPr id="71" name="TextBox 70"/>
          <p:cNvSpPr txBox="1"/>
          <p:nvPr/>
        </p:nvSpPr>
        <p:spPr>
          <a:xfrm>
            <a:off x="9509760" y="5166360"/>
            <a:ext cx="2103120" cy="228600"/>
          </a:xfrm>
          <a:prstGeom prst="rect">
            <a:avLst/>
          </a:prstGeom>
          <a:noFill/>
        </p:spPr>
        <p:txBody>
          <a:bodyPr wrap="square">
            <a:spAutoFit/>
          </a:bodyPr>
          <a:lstStyle/>
          <a:p>
            <a:pPr>
              <a:defRPr sz="800" b="0">
                <a:solidFill>
                  <a:srgbClr val="1A1A1A"/>
                </a:solidFill>
                <a:latin typeface="Arial"/>
              </a:defRPr>
            </a:pPr>
            <a:r>
              <a:t>↑ CVR +1.5pp (R$ 32M/ano)</a:t>
            </a:r>
          </a:p>
        </p:txBody>
      </p:sp>
      <p:sp>
        <p:nvSpPr>
          <p:cNvPr id="72" name="TextBox 71"/>
          <p:cNvSpPr txBox="1"/>
          <p:nvPr/>
        </p:nvSpPr>
        <p:spPr>
          <a:xfrm>
            <a:off x="457200" y="6400800"/>
            <a:ext cx="9144000" cy="274320"/>
          </a:xfrm>
          <a:prstGeom prst="rect">
            <a:avLst/>
          </a:prstGeom>
          <a:noFill/>
        </p:spPr>
        <p:txBody>
          <a:bodyPr wrap="square">
            <a:spAutoFit/>
          </a:bodyPr>
          <a:lstStyle/>
          <a:p>
            <a:pPr>
              <a:defRPr sz="800" b="0">
                <a:solidFill>
                  <a:srgbClr val="6B7280"/>
                </a:solidFill>
                <a:latin typeface="Arial"/>
              </a:defRPr>
            </a:pPr>
            <a:r>
              <a:t>📋 Premissas: Benchmarks de mercado + gaps identificados (Slides 5-22). Nota: Prazos e custos sujeitos à validação detalhada.</a:t>
            </a:r>
          </a:p>
        </p:txBody>
      </p:sp>
      <p:sp>
        <p:nvSpPr>
          <p:cNvPr id="73" name="TextBox 72"/>
          <p:cNvSpPr txBox="1"/>
          <p:nvPr/>
        </p:nvSpPr>
        <p:spPr>
          <a:xfrm>
            <a:off x="11430000" y="6400800"/>
            <a:ext cx="457200" cy="274320"/>
          </a:xfrm>
          <a:prstGeom prst="rect">
            <a:avLst/>
          </a:prstGeom>
          <a:noFill/>
        </p:spPr>
        <p:txBody>
          <a:bodyPr wrap="square">
            <a:spAutoFit/>
          </a:bodyPr>
          <a:lstStyle/>
          <a:p>
            <a:pPr algn="r">
              <a:defRPr sz="800" b="0">
                <a:solidFill>
                  <a:srgbClr val="6B7280"/>
                </a:solidFill>
                <a:latin typeface="Arial"/>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