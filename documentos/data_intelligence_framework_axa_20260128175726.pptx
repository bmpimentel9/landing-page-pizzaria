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533095"/>
            <a:ext cx="33659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- Projeto de Data Intelligence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840687"/>
            <a:ext cx="5372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0" b="1" spc="-67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83%</a:t>
            </a:r>
            <a:endParaRPr lang="en-US" sz="135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3631082"/>
            <a:ext cx="528889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budget de mídia é otimizado com dados incompletos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09905" y="4803343"/>
            <a:ext cx="38405" cy="7141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5995" y="4879238"/>
            <a:ext cx="49917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 • Foco: fundação de dados confiável para alimentar mídia com sinais de alta qualidade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362456"/>
            <a:ext cx="5181905" cy="4629607"/>
          </a:xfrm>
          <a:prstGeom prst="roundRect">
            <a:avLst>
              <a:gd name="adj" fmla="val 488"/>
            </a:avLst>
          </a:prstGeom>
          <a:solidFill>
            <a:srgbClr val="F9FAFB">
              <a:alpha val="30000"/>
            </a:srgbClr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6903" r="-6903" t="0" b="0"/>
          <a:stretch/>
        </p:blipFill>
        <p:spPr>
          <a:xfrm>
            <a:off x="6715354" y="1676095"/>
            <a:ext cx="4552798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1305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• Data Intelligence Framework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98864" y="418795"/>
            <a:ext cx="114300" cy="114300"/>
          </a:xfrm>
          <a:prstGeom prst="ellipse">
            <a:avLst/>
          </a:prstGeom>
          <a:solidFill>
            <a:srgbClr val="0A24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89059" y="381305"/>
            <a:ext cx="9939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 atual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447020" y="418795"/>
            <a:ext cx="114300" cy="114300"/>
          </a:xfrm>
          <a:prstGeom prst="ellipse">
            <a:avLst/>
          </a:prstGeom>
          <a:solidFill>
            <a:srgbClr val="00B07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37215" y="381305"/>
            <a:ext cx="1244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B0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 desejado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724205"/>
            <a:ext cx="11392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 de Maturidade de Dados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104595"/>
            <a:ext cx="11392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Matriz 2x2: Integração (eixo X) vs Qualidade/Confiabilidade (eixo Y)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74574" y="1561795"/>
            <a:ext cx="7810805" cy="49533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684057" y="1561795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Mensagem-chave: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84057" y="1828800"/>
            <a:ext cx="313456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transição para “Data Intelligence” reduz desperdício e eleva a eficiência de mídia.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684057" y="3353105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interpretar: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84057" y="3657600"/>
            <a:ext cx="31345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Chaos → dados dispersos, decisões lentas.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684057" y="4114800"/>
            <a:ext cx="31345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Structured → dados padronizados, pouca integração.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684057" y="4572000"/>
            <a:ext cx="31345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Integrated → visão unificada, ativações consistentes.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684057" y="5029200"/>
            <a:ext cx="31345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Intelligence → sinais confiáveis otimizando a mídia.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684057" y="6133795"/>
            <a:ext cx="31345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Nota: posição “Atual” é ilustrativa para esta proposta e será validada na Fase 1.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1305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• Data Intelligence Framework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"/>
            <a:ext cx="11392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Efeito Cascata de Dados Fragmentados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2" b="-32"/>
          <a:stretch/>
        </p:blipFill>
        <p:spPr>
          <a:xfrm>
            <a:off x="457200" y="1440180"/>
            <a:ext cx="7410298" cy="48198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47888" y="2679192"/>
            <a:ext cx="3610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Mensagem-chave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47888" y="2945282"/>
            <a:ext cx="357256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Fragmentação gera efeito cascata que reduz ROAS e eleva CAC.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47888" y="3645713"/>
            <a:ext cx="3610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Sequência: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47888" y="3950208"/>
            <a:ext cx="35725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Mídia ineficiente → Atribuição falha → Budget desperdiçado → Decisões lentas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47888" y="4598518"/>
            <a:ext cx="35725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Diretriz: priorizar a integridade e integração dos dados para cortar o ciclo de desperdício.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1305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• Data Intelligence Framework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"/>
            <a:ext cx="11468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Visão Geral — Data Intelligence Framework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67105"/>
            <a:ext cx="11392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Arquitetura em 4 camadas: da fundação de tracking à inteligência de otimização.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1277295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2238451"/>
            <a:ext cx="418795" cy="41879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819302" y="2371954"/>
            <a:ext cx="171907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66444" y="2219249"/>
            <a:ext cx="2843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4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266444" y="2409444"/>
            <a:ext cx="32534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Intelligence (Optimization)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016398" y="2333549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700370" y="2333549"/>
            <a:ext cx="124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821985" y="2333549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Experimentação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151522" y="2333549"/>
            <a:ext cx="124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273138" y="2333549"/>
            <a:ext cx="972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952598"/>
            <a:ext cx="11277295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4944" y="3133649"/>
            <a:ext cx="418795" cy="41879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838505" y="3267151"/>
            <a:ext cx="133502" cy="152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66444" y="3114446"/>
            <a:ext cx="3029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3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266444" y="3305556"/>
            <a:ext cx="342168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Activation (Media Platforms)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016398" y="3228746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Audiences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5892394" y="3228746"/>
            <a:ext cx="124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014009" y="3228746"/>
            <a:ext cx="1043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Conversions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013448" y="3228746"/>
            <a:ext cx="124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7135063" y="3228746"/>
            <a:ext cx="1420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Bidding Signals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57200" y="3847795"/>
            <a:ext cx="11277295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028846"/>
            <a:ext cx="418795" cy="41879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838505" y="4162349"/>
            <a:ext cx="133502" cy="15270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266444" y="4009644"/>
            <a:ext cx="3086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2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1266444" y="4200754"/>
            <a:ext cx="35323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 (CRM + Analytics)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5016398" y="4123944"/>
            <a:ext cx="9473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Unificação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5895137" y="4123944"/>
            <a:ext cx="124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6016752" y="4123944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Qualidade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6883603" y="4123944"/>
            <a:ext cx="124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7005218" y="4123944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Identidades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457200" y="4743907"/>
            <a:ext cx="11277295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94944" y="4924044"/>
            <a:ext cx="418795" cy="41879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8446" y="5057546"/>
            <a:ext cx="152705" cy="15270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266444" y="4905756"/>
            <a:ext cx="23481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1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1266444" y="5095951"/>
            <a:ext cx="257129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 (Tracking)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5016398" y="5020056"/>
            <a:ext cx="409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GA4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5417820" y="5020056"/>
            <a:ext cx="124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5539435" y="5020056"/>
            <a:ext cx="1438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Tag Management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6975958" y="5020056"/>
            <a:ext cx="124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7097573" y="5020056"/>
            <a:ext cx="9473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47" name="Shape 41"/>
          <p:cNvSpPr/>
          <p:nvPr/>
        </p:nvSpPr>
        <p:spPr>
          <a:xfrm>
            <a:off x="457200" y="5734202"/>
            <a:ext cx="75895" cy="75895"/>
          </a:xfrm>
          <a:prstGeom prst="ellipse">
            <a:avLst/>
          </a:prstGeom>
          <a:solidFill>
            <a:srgbClr val="0A24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609905" y="5676595"/>
            <a:ext cx="8011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Camadas empilhadas: dados confiáveis alimentam ativação e inteligência — base para performance escalável.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37998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• Data Intelligence Framework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577633" y="381305"/>
            <a:ext cx="457200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1874" y="457200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107070" y="381305"/>
            <a:ext cx="1162202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12226" y="457200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GTM Server-Side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336024" y="381305"/>
            <a:ext cx="1047902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41180" y="457200"/>
            <a:ext cx="9144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 Mode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455250" y="381305"/>
            <a:ext cx="1285646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60406" y="457200"/>
            <a:ext cx="127833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Architecture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761695"/>
            <a:ext cx="11392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Pilar 1 — Behavioral Tracking Excellence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143000"/>
            <a:ext cx="11392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Coleta de comportamento com precisão e privacidade, pronta para ativação em mídia.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30" b="-130"/>
          <a:stretch/>
        </p:blipFill>
        <p:spPr>
          <a:xfrm>
            <a:off x="457200" y="2603297"/>
            <a:ext cx="4657954" cy="245790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494630" y="1524305"/>
            <a:ext cx="27249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Qualidade da coleta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94630" y="1828800"/>
            <a:ext cx="26956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Projetada para precisão, governança e conformidade (LGPD).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94630" y="2361895"/>
            <a:ext cx="152705" cy="1527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761634" y="2361895"/>
            <a:ext cx="2446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Taxonomia de eventos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761634" y="2553005"/>
            <a:ext cx="24295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Padrões de naming, intenções, micro e macro conversões.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94630" y="3010205"/>
            <a:ext cx="152705" cy="152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761634" y="3010205"/>
            <a:ext cx="2446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 Mode aplicado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5761634" y="3200400"/>
            <a:ext cx="24295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Coleta respeitando preferências e minimizando vieses.</a:t>
            </a:r>
            <a:endParaRPr lang="en-US" sz="10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94630" y="3657600"/>
            <a:ext cx="152705" cy="152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761634" y="3657600"/>
            <a:ext cx="2446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Server-Side GTM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761634" y="3847795"/>
            <a:ext cx="24295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Menos bloqueios, melhor controle, deduplicação de sinais.</a:t>
            </a:r>
            <a:endParaRPr lang="en-US" sz="10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94630" y="4304995"/>
            <a:ext cx="152705" cy="1527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761634" y="4304995"/>
            <a:ext cx="2446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QA e observabilidade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5761634" y="4496105"/>
            <a:ext cx="24295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contínua e versionamento do data layer.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8495690" y="1752905"/>
            <a:ext cx="3363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Indicadores (metas):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8495690" y="2057400"/>
            <a:ext cx="1573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Precisão de eventos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10949026" y="2057400"/>
            <a:ext cx="8668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≥ 95%</a:t>
            </a:r>
            <a:endParaRPr lang="en-US" sz="10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-202" r="-202" t="0" b="0"/>
          <a:stretch/>
        </p:blipFill>
        <p:spPr>
          <a:xfrm>
            <a:off x="8495690" y="2247595"/>
            <a:ext cx="3239719" cy="75895"/>
          </a:xfrm>
          <a:prstGeom prst="rect">
            <a:avLst/>
          </a:prstGeom>
        </p:spPr>
      </p:pic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-206" r="-206" t="0" b="0"/>
          <a:stretch/>
        </p:blipFill>
        <p:spPr>
          <a:xfrm>
            <a:off x="8495690" y="2247595"/>
            <a:ext cx="2332634" cy="7589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495690" y="2438705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Cobertura de consentimento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10935310" y="2438705"/>
            <a:ext cx="876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≥ 90%</a:t>
            </a:r>
            <a:endParaRPr lang="en-US" sz="10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-202" r="-202" t="0" b="0"/>
          <a:stretch/>
        </p:blipFill>
        <p:spPr>
          <a:xfrm>
            <a:off x="8495690" y="2628900"/>
            <a:ext cx="3239719" cy="75895"/>
          </a:xfrm>
          <a:prstGeom prst="rect">
            <a:avLst/>
          </a:prstGeom>
        </p:spPr>
      </p:pic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-197" r="-197" t="0" b="0"/>
          <a:stretch/>
        </p:blipFill>
        <p:spPr>
          <a:xfrm>
            <a:off x="8495690" y="2628900"/>
            <a:ext cx="2202790" cy="75895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495690" y="2819095"/>
            <a:ext cx="21570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Deduplicação de conversões</a:t>
            </a:r>
            <a:endParaRPr lang="en-US" sz="1000" dirty="0"/>
          </a:p>
        </p:txBody>
      </p:sp>
      <p:sp>
        <p:nvSpPr>
          <p:cNvPr id="40" name="Text 29"/>
          <p:cNvSpPr txBox="1"/>
          <p:nvPr/>
        </p:nvSpPr>
        <p:spPr>
          <a:xfrm>
            <a:off x="10915193" y="2819095"/>
            <a:ext cx="913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= 100%</a:t>
            </a:r>
            <a:endParaRPr lang="en-US" sz="10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rcRect l="-202" r="-202" t="0" b="0"/>
          <a:stretch/>
        </p:blipFill>
        <p:spPr>
          <a:xfrm>
            <a:off x="8495690" y="3010205"/>
            <a:ext cx="3239719" cy="75895"/>
          </a:xfrm>
          <a:prstGeom prst="rect">
            <a:avLst/>
          </a:prstGeom>
        </p:spPr>
      </p:pic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rcRect l="-209" r="-209" t="0" b="0"/>
          <a:stretch/>
        </p:blipFill>
        <p:spPr>
          <a:xfrm>
            <a:off x="8495690" y="3010205"/>
            <a:ext cx="1944014" cy="75895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8495690" y="3161995"/>
            <a:ext cx="33247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Observação: valores mostrados são ilustrações de referência e serão calibrados na Fase 1.</a:t>
            </a:r>
            <a:endParaRPr lang="en-US" sz="900" dirty="0"/>
          </a:p>
        </p:txBody>
      </p:sp>
      <p:sp>
        <p:nvSpPr>
          <p:cNvPr id="44" name="Text 31"/>
          <p:cNvSpPr txBox="1"/>
          <p:nvPr/>
        </p:nvSpPr>
        <p:spPr>
          <a:xfrm>
            <a:off x="457200" y="6286500"/>
            <a:ext cx="11392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de tracking: Usuário → Site/App → Data Layer → GTM (Server-Side) → GA4.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1305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• Data Intelligence Framework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"/>
            <a:ext cx="11392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Pilar 2 — CRM Intelligence Layer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8700"/>
            <a:ext cx="11392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 de comportamento + transação + contexto para construir Customer 360° e ativar sinais de valor.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" b="-20"/>
          <a:stretch/>
        </p:blipFill>
        <p:spPr>
          <a:xfrm>
            <a:off x="457200" y="1793138"/>
            <a:ext cx="6543446" cy="39620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76465" y="1410005"/>
            <a:ext cx="4476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Identidades e Matching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7376465" y="1790395"/>
            <a:ext cx="133502" cy="152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24267" y="1790395"/>
            <a:ext cx="3572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Chaves de matching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7624267" y="1981505"/>
            <a:ext cx="4091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Hashed email/phone, ID de cliente, Device/CRM IDs.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76465" y="2247595"/>
            <a:ext cx="15270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642555" y="2247595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Consentimento e finalidade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7642555" y="2438705"/>
            <a:ext cx="46753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Respeito à LGPD com Consent Mode e políticas de retenção.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7376465" y="3200400"/>
            <a:ext cx="4476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Governança • LGPD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7376465" y="3581705"/>
            <a:ext cx="133502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624267" y="3581705"/>
            <a:ext cx="3781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Dicionário de dados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7624267" y="3771900"/>
            <a:ext cx="43315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Taxonomia e glossário unificados para CRM e Analytics.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76465" y="4038905"/>
            <a:ext cx="15270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642555" y="4038905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 de atualização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7642555" y="4229100"/>
            <a:ext cx="40142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Frequência e latência definidas para dados críticos.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76465" y="4496105"/>
            <a:ext cx="152705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642555" y="4496105"/>
            <a:ext cx="288310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Rastreabilidade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7642555" y="4686300"/>
            <a:ext cx="32991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Logs e lineage para auditoria e qualidade.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7376465" y="5447995"/>
            <a:ext cx="4476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Sinais de valor (para ativação)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376465" y="5829300"/>
            <a:ext cx="418795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7865669" y="5829300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776411" y="5829300"/>
            <a:ext cx="828446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9676181" y="5829300"/>
            <a:ext cx="1276502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57200" y="6286500"/>
            <a:ext cx="11964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Resultado: visão única do cliente (Customer 360°) conectando CRM e Analytics, pronta para alimentar audiências, conversões e lances nas plataformas de mídia.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7480706" y="5905195"/>
            <a:ext cx="286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LTV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7969910" y="5905195"/>
            <a:ext cx="71140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Risk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8880653" y="5905195"/>
            <a:ext cx="6958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Propensão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9780422" y="5905195"/>
            <a:ext cx="1143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Segmento/Estágio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1305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• Data Intelligence Framework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"/>
            <a:ext cx="11392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Pilar 3 — Media Activation Bridge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8700"/>
            <a:ext cx="11392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de dados do hub central para plataformas de mídia com sinais confiáveis.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457200" y="1410005"/>
            <a:ext cx="7467905" cy="37334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3199" y="1410005"/>
            <a:ext cx="36292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Sinais ativados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80" b="-180"/>
          <a:stretch/>
        </p:blipFill>
        <p:spPr>
          <a:xfrm>
            <a:off x="8223199" y="1790395"/>
            <a:ext cx="190195" cy="152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28609" y="1790395"/>
            <a:ext cx="25365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Audiências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528609" y="1981505"/>
            <a:ext cx="29023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Segmentos de alto valor e exclusões.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3199" y="2247595"/>
            <a:ext cx="15270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90204" y="2247595"/>
            <a:ext cx="23774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Conversões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8490204" y="2438705"/>
            <a:ext cx="27203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Eventos deduplicados e validados.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33" r="-33" t="0" b="0"/>
          <a:stretch/>
        </p:blipFill>
        <p:spPr>
          <a:xfrm>
            <a:off x="8223199" y="2704795"/>
            <a:ext cx="171907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509406" y="2704795"/>
            <a:ext cx="2358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Atribuição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8509406" y="2895905"/>
            <a:ext cx="26983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Coerência entre Analytics e mídia.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23199" y="3161995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490204" y="3161995"/>
            <a:ext cx="2149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Bidding signals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8490204" y="3353105"/>
            <a:ext cx="24597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Sinais de valor para algoritmos.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8223199" y="4454957"/>
            <a:ext cx="36292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Feeds enviados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223199" y="4835347"/>
            <a:ext cx="866851" cy="304495"/>
          </a:xfrm>
          <a:prstGeom prst="roundRect">
            <a:avLst>
              <a:gd name="adj" fmla="val 300300"/>
            </a:avLst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62288" y="4835347"/>
            <a:ext cx="1181405" cy="304495"/>
          </a:xfrm>
          <a:prstGeom prst="roundRect">
            <a:avLst>
              <a:gd name="adj" fmla="val 300300"/>
            </a:avLst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10415930" y="4835347"/>
            <a:ext cx="1238098" cy="304495"/>
          </a:xfrm>
          <a:prstGeom prst="roundRect">
            <a:avLst>
              <a:gd name="adj" fmla="val 300300"/>
            </a:avLst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8328355" y="4912157"/>
            <a:ext cx="734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Conversões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9267444" y="4912157"/>
            <a:ext cx="115671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Listas de clientes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0521086" y="4912157"/>
            <a:ext cx="120700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Eventos validados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5257800"/>
            <a:ext cx="11392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Indicador de valor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57200" y="5524805"/>
            <a:ext cx="11277295" cy="1200607"/>
          </a:xfrm>
          <a:prstGeom prst="roundRect">
            <a:avLst>
              <a:gd name="adj" fmla="val 7253"/>
            </a:avLst>
          </a:prstGeom>
          <a:noFill/>
          <a:ln w="12700">
            <a:solidFill>
              <a:srgbClr val="C9CBD1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94944" y="5781751"/>
            <a:ext cx="9756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 (índice)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6382512" y="5781751"/>
            <a:ext cx="1802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vs Após ativação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694944" y="6086246"/>
            <a:ext cx="991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</a:t>
            </a:r>
            <a:endParaRPr lang="en-US" sz="9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723644" y="6105449"/>
            <a:ext cx="5600700" cy="1143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438644" y="6086246"/>
            <a:ext cx="534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694944" y="6314846"/>
            <a:ext cx="991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endParaRPr lang="en-US" sz="9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723644" y="6334049"/>
            <a:ext cx="5600700" cy="114300"/>
          </a:xfrm>
          <a:prstGeom prst="rect">
            <a:avLst/>
          </a:prstGeom>
        </p:spPr>
      </p:pic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5" b="-5"/>
          <a:stretch/>
        </p:blipFill>
        <p:spPr>
          <a:xfrm>
            <a:off x="1723644" y="6334049"/>
            <a:ext cx="4592117" cy="1143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7438644" y="6314846"/>
            <a:ext cx="534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82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8124444" y="5686654"/>
            <a:ext cx="3486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Redução de CAC (meta ilustrativa)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8124444" y="5915254"/>
            <a:ext cx="34866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0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-18%</a:t>
            </a:r>
            <a:endParaRPr lang="en-US" sz="1800" dirty="0"/>
          </a:p>
        </p:txBody>
      </p:sp>
      <p:sp>
        <p:nvSpPr>
          <p:cNvPr id="41" name="Text 31"/>
          <p:cNvSpPr txBox="1"/>
          <p:nvPr/>
        </p:nvSpPr>
        <p:spPr>
          <a:xfrm>
            <a:off x="8124444" y="6258154"/>
            <a:ext cx="34482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Valores ilustrativos para apresentação. Metas finais serão definidas na Fase 1.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1305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• Data Intelligence Framework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"/>
            <a:ext cx="11392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Nossa Metodologia Proprietária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8700"/>
            <a:ext cx="11392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Abordagem iterativa em 4 fases para construir uma fundação de dados confiável e orientada a performance.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0005"/>
            <a:ext cx="972007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2571" r="-2571" t="0" b="0"/>
          <a:stretch/>
        </p:blipFill>
        <p:spPr>
          <a:xfrm>
            <a:off x="580644" y="1505102"/>
            <a:ext cx="105156" cy="1143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1695" y="1410005"/>
            <a:ext cx="6007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Data-first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36192" y="1410005"/>
            <a:ext cx="1466698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59636" y="1505102"/>
            <a:ext cx="114300" cy="1143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49831" y="1410005"/>
            <a:ext cx="10863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Privacy-by-design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108046" y="1410005"/>
            <a:ext cx="1524305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3232404" y="1505102"/>
            <a:ext cx="105156" cy="1143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13455" y="1410005"/>
            <a:ext cx="11530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contínua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9" b="-109"/>
          <a:stretch/>
        </p:blipFill>
        <p:spPr>
          <a:xfrm>
            <a:off x="457200" y="1994306"/>
            <a:ext cx="11277295" cy="339059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57200" y="5658307"/>
            <a:ext cx="11277295" cy="514807"/>
          </a:xfrm>
          <a:prstGeom prst="roundRect">
            <a:avLst>
              <a:gd name="adj" fmla="val 39471"/>
            </a:avLst>
          </a:prstGeom>
          <a:noFill/>
          <a:ln w="12700">
            <a:solidFill>
              <a:srgbClr val="C9CBD1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694944" y="5838444"/>
            <a:ext cx="133502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2746" y="5820156"/>
            <a:ext cx="13697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Rituais semanais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2218334" y="5820156"/>
            <a:ext cx="1837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• demo • retro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204411" y="5838444"/>
            <a:ext cx="152705" cy="1527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471416" y="5820156"/>
            <a:ext cx="15407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Backlog priorizado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5878678" y="5820156"/>
            <a:ext cx="19613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critérios de aceite e SLAs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7968996" y="5838444"/>
            <a:ext cx="133502" cy="15270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216798" y="5820156"/>
            <a:ext cx="162580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Definição de pronto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9699041" y="5820156"/>
            <a:ext cx="214243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aceite conjunto AXA + time</a:t>
            </a:r>
            <a:endParaRPr lang="en-US" sz="1000" dirty="0"/>
          </a:p>
        </p:txBody>
      </p:sp>
      <p:sp>
        <p:nvSpPr>
          <p:cNvPr id="27" name="Text 18"/>
          <p:cNvSpPr txBox="1"/>
          <p:nvPr/>
        </p:nvSpPr>
        <p:spPr>
          <a:xfrm>
            <a:off x="457200" y="6286500"/>
            <a:ext cx="11392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fases são iterativas e incrementais, garantindo qualidade de dados, conformidade e aprendizado contínuo.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37998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• Data Intelligence Framework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767060" y="381305"/>
            <a:ext cx="972007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90504" y="448056"/>
            <a:ext cx="8001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Semanas 1–2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61695"/>
            <a:ext cx="11392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1 — Discovery &amp; Audit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143000"/>
            <a:ext cx="113925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Diagnóstico técnico e de qualidade de dados para definir a arquitetura e o plano priorizado.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38605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24205" y="1580998"/>
            <a:ext cx="143652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fazemos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000707"/>
            <a:ext cx="171907" cy="171907"/>
          </a:xfrm>
          <a:prstGeom prst="ellipse">
            <a:avLst/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490118" y="2029054"/>
            <a:ext cx="105156" cy="1143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3407" y="2000707"/>
            <a:ext cx="3124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Audit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3407" y="2229307"/>
            <a:ext cx="35762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GA4 / GTM (incl. Server-Side) / pixels de mídia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526487"/>
            <a:ext cx="171907" cy="171907"/>
          </a:xfrm>
          <a:prstGeom prst="ellipse">
            <a:avLst/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490118" y="2554834"/>
            <a:ext cx="105156" cy="1143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43407" y="2526487"/>
            <a:ext cx="4391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Quality Assessment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743407" y="2755087"/>
            <a:ext cx="4963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Precisão de eventos, deduplicação, cobertura de consentimento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053182"/>
            <a:ext cx="171907" cy="171907"/>
          </a:xfrm>
          <a:prstGeom prst="ellipse">
            <a:avLst/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490118" y="3081528"/>
            <a:ext cx="105156" cy="1143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3407" y="3053182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 Analysis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43407" y="3281782"/>
            <a:ext cx="36859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Desvios entre estado atual e melhores práticas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578962"/>
            <a:ext cx="171907" cy="171907"/>
          </a:xfrm>
          <a:prstGeom prst="ellipse">
            <a:avLst/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490118" y="3607308"/>
            <a:ext cx="105156" cy="1143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3407" y="3578962"/>
            <a:ext cx="3514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Stakeholder Workshops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43407" y="3807562"/>
            <a:ext cx="4025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Alinhamento de escopo, metas e critérios de aceite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57200" y="4181551"/>
            <a:ext cx="5333695" cy="847649"/>
          </a:xfrm>
          <a:prstGeom prst="roundRect">
            <a:avLst>
              <a:gd name="adj" fmla="val 14545"/>
            </a:avLst>
          </a:prstGeom>
          <a:noFill/>
          <a:ln w="12700">
            <a:solidFill>
              <a:srgbClr val="C9CBD1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9049" y="4324198"/>
            <a:ext cx="152705" cy="15270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47649" y="4304995"/>
            <a:ext cx="1067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Conformidade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619049" y="4533595"/>
            <a:ext cx="50868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Auditoria considera privacy-by-design e LGPD (consentimento e finalidade).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090818" y="1580998"/>
            <a:ext cx="9144" cy="4562856"/>
          </a:xfrm>
          <a:prstGeom prst="rect">
            <a:avLst/>
          </a:prstGeom>
          <a:solidFill>
            <a:srgbClr val="C9CBD1"/>
          </a:solidFill>
          <a:ln w="12700">
            <a:solidFill>
              <a:srgbClr val="C9CBD1">
                <a:alpha val="0"/>
              </a:srgbClr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80" b="-180"/>
          <a:stretch/>
        </p:blipFill>
        <p:spPr>
          <a:xfrm>
            <a:off x="6405372" y="1638605"/>
            <a:ext cx="190195" cy="1527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710782" y="1580998"/>
            <a:ext cx="187452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você recebe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6405372" y="2000707"/>
            <a:ext cx="171907" cy="171907"/>
          </a:xfrm>
          <a:prstGeom prst="ellipse">
            <a:avLst/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6439205" y="2029054"/>
            <a:ext cx="105156" cy="1143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691579" y="2000707"/>
            <a:ext cx="4391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Report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6691579" y="2229307"/>
            <a:ext cx="4391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Sumário executivo com riscos, impacto e recomendações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11077042" y="2000707"/>
            <a:ext cx="666598" cy="342900"/>
          </a:xfrm>
          <a:prstGeom prst="roundRect">
            <a:avLst>
              <a:gd name="adj" fmla="val 59259"/>
            </a:avLst>
          </a:prstGeom>
          <a:solidFill>
            <a:srgbClr val="F7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11331245" y="2076602"/>
            <a:ext cx="3749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PDF</a:t>
            </a:r>
            <a:endParaRPr lang="en-US" sz="10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-2512" r="-2512" t="0" b="0"/>
          <a:stretch/>
        </p:blipFill>
        <p:spPr>
          <a:xfrm>
            <a:off x="11191342" y="2102206"/>
            <a:ext cx="105156" cy="13350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6405372" y="2526487"/>
            <a:ext cx="171907" cy="171907"/>
          </a:xfrm>
          <a:prstGeom prst="ellipse">
            <a:avLst/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6439205" y="2554834"/>
            <a:ext cx="105156" cy="11430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691579" y="2526487"/>
            <a:ext cx="3972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Architecture Blueprint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6691579" y="2755087"/>
            <a:ext cx="39346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Desenho de tracking, data layer e integrações (CRM + Analytics)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10655503" y="2526487"/>
            <a:ext cx="1086307" cy="342900"/>
          </a:xfrm>
          <a:prstGeom prst="roundRect">
            <a:avLst>
              <a:gd name="adj" fmla="val 59259"/>
            </a:avLst>
          </a:prstGeom>
          <a:solidFill>
            <a:srgbClr val="F7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4"/>
          <p:cNvSpPr txBox="1"/>
          <p:nvPr/>
        </p:nvSpPr>
        <p:spPr>
          <a:xfrm>
            <a:off x="10957255" y="2602382"/>
            <a:ext cx="7461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Diagrama</a:t>
            </a:r>
            <a:endParaRPr lang="en-US" sz="100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rcRect l="-837" r="-837" t="0" b="0"/>
          <a:stretch/>
        </p:blipFill>
        <p:spPr>
          <a:xfrm>
            <a:off x="10769803" y="2628900"/>
            <a:ext cx="152705" cy="13350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6405372" y="3236062"/>
            <a:ext cx="171907" cy="171907"/>
          </a:xfrm>
          <a:prstGeom prst="ellipse">
            <a:avLst/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6439205" y="3264408"/>
            <a:ext cx="105156" cy="114300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6691579" y="323606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Prioritization Matrix</a:t>
            </a:r>
            <a:endParaRPr lang="en-US" sz="1200" dirty="0"/>
          </a:p>
        </p:txBody>
      </p:sp>
      <p:sp>
        <p:nvSpPr>
          <p:cNvPr id="51" name="Text 37"/>
          <p:cNvSpPr txBox="1"/>
          <p:nvPr/>
        </p:nvSpPr>
        <p:spPr>
          <a:xfrm>
            <a:off x="6691579" y="3464662"/>
            <a:ext cx="40773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Backlog de ações por impacto x esforço com critérios de aceite</a:t>
            </a:r>
            <a:endParaRPr lang="en-US" sz="1000" dirty="0"/>
          </a:p>
        </p:txBody>
      </p:sp>
      <p:sp>
        <p:nvSpPr>
          <p:cNvPr id="52" name="Shape 38"/>
          <p:cNvSpPr/>
          <p:nvPr/>
        </p:nvSpPr>
        <p:spPr>
          <a:xfrm>
            <a:off x="10797235" y="3236062"/>
            <a:ext cx="942746" cy="342900"/>
          </a:xfrm>
          <a:prstGeom prst="roundRect">
            <a:avLst>
              <a:gd name="adj" fmla="val 59259"/>
            </a:avLst>
          </a:prstGeom>
          <a:solidFill>
            <a:srgbClr val="F7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9"/>
          <p:cNvSpPr txBox="1"/>
          <p:nvPr/>
        </p:nvSpPr>
        <p:spPr>
          <a:xfrm>
            <a:off x="11079785" y="3311957"/>
            <a:ext cx="622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Planilha</a:t>
            </a:r>
            <a:endParaRPr lang="en-US" sz="1000" dirty="0"/>
          </a:p>
        </p:txBody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0911535" y="3338474"/>
            <a:ext cx="133502" cy="133502"/>
          </a:xfrm>
          <a:prstGeom prst="rect">
            <a:avLst/>
          </a:prstGeom>
        </p:spPr>
      </p:pic>
      <p:sp>
        <p:nvSpPr>
          <p:cNvPr id="55" name="Shape 40"/>
          <p:cNvSpPr/>
          <p:nvPr/>
        </p:nvSpPr>
        <p:spPr>
          <a:xfrm>
            <a:off x="6405372" y="4021531"/>
            <a:ext cx="5333695" cy="666598"/>
          </a:xfrm>
          <a:prstGeom prst="roundRect">
            <a:avLst>
              <a:gd name="adj" fmla="val 23516"/>
            </a:avLst>
          </a:prstGeom>
          <a:noFill/>
          <a:ln w="12700">
            <a:solidFill>
              <a:srgbClr val="C9CBD1"/>
            </a:solidFill>
            <a:prstDash val="solid"/>
          </a:ln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3" b="-43"/>
          <a:stretch/>
        </p:blipFill>
        <p:spPr>
          <a:xfrm>
            <a:off x="6567221" y="4165092"/>
            <a:ext cx="133502" cy="152705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6776618" y="4145890"/>
            <a:ext cx="14511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 da fase</a:t>
            </a:r>
            <a:endParaRPr lang="en-US" sz="1000" dirty="0"/>
          </a:p>
        </p:txBody>
      </p:sp>
      <p:sp>
        <p:nvSpPr>
          <p:cNvPr id="58" name="Text 42"/>
          <p:cNvSpPr txBox="1"/>
          <p:nvPr/>
        </p:nvSpPr>
        <p:spPr>
          <a:xfrm>
            <a:off x="10957255" y="4165092"/>
            <a:ext cx="7370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1 de 4</a:t>
            </a:r>
            <a:endParaRPr lang="en-US" sz="900" dirty="0"/>
          </a:p>
        </p:txBody>
      </p:sp>
      <p:sp>
        <p:nvSpPr>
          <p:cNvPr id="59" name="Text 43"/>
          <p:cNvSpPr txBox="1"/>
          <p:nvPr/>
        </p:nvSpPr>
        <p:spPr>
          <a:xfrm>
            <a:off x="6567221" y="4374490"/>
            <a:ext cx="5696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Diagnóstico validado e roteiro priorizado para implementação na Fase 2.</a:t>
            </a:r>
            <a:endParaRPr lang="en-US" sz="1000" dirty="0"/>
          </a:p>
        </p:txBody>
      </p:sp>
      <p:sp>
        <p:nvSpPr>
          <p:cNvPr id="60" name="Text 44"/>
          <p:cNvSpPr txBox="1"/>
          <p:nvPr/>
        </p:nvSpPr>
        <p:spPr>
          <a:xfrm>
            <a:off x="457200" y="6293815"/>
            <a:ext cx="11392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 passo: iniciar Foundation Build (taxonomia de eventos, tracking e integração CRM) com sprints semanais.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37998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• Data Intelligence Framework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412834" y="381305"/>
            <a:ext cx="1000354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36278" y="448056"/>
            <a:ext cx="8293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Semanas 3–5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80853" y="406908"/>
            <a:ext cx="1257300" cy="256946"/>
          </a:xfrm>
          <a:prstGeom prst="roundRect">
            <a:avLst>
              <a:gd name="adj" fmla="val 355872"/>
            </a:avLst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86009" y="454457"/>
            <a:ext cx="12371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Sprints de 1 semana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761695"/>
            <a:ext cx="11392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2 — Foundation Build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143000"/>
            <a:ext cx="11392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Construção da fundação de dados com validação contínua e co-criação AXA + nosso time.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57200" y="1600200"/>
            <a:ext cx="5524805" cy="230520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33" r="-33" t="0" b="0"/>
          <a:stretch/>
        </p:blipFill>
        <p:spPr>
          <a:xfrm>
            <a:off x="657454" y="1876349"/>
            <a:ext cx="171907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42746" y="1819656"/>
            <a:ext cx="23198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Taxonomy Design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033418" y="1800454"/>
            <a:ext cx="1752905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156862" y="1867205"/>
            <a:ext cx="170627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Owners: AXA + Nosso time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57454" y="2219249"/>
            <a:ext cx="52011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Definição de intenções, eventos e parâmetros com naming conventions e dicionário de dados.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57454" y="2762402"/>
            <a:ext cx="9189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Mini-timeline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480560" y="2752344"/>
            <a:ext cx="171907" cy="171907"/>
          </a:xfrm>
          <a:prstGeom prst="ellipse">
            <a:avLst/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4513478" y="2781605"/>
            <a:ext cx="105156" cy="1143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689958" y="2762402"/>
            <a:ext cx="12783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contínua</a:t>
            </a:r>
            <a:endParaRPr lang="en-US" sz="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-78" r="-78" t="0" b="0"/>
          <a:stretch/>
        </p:blipFill>
        <p:spPr>
          <a:xfrm>
            <a:off x="657454" y="3000146"/>
            <a:ext cx="5124298" cy="95098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657454" y="3000146"/>
            <a:ext cx="1708099" cy="9509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57454" y="3133649"/>
            <a:ext cx="277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W3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3122676" y="3133649"/>
            <a:ext cx="277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W4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5590642" y="3133649"/>
            <a:ext cx="277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W5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657454" y="3400654"/>
            <a:ext cx="2000707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780898" y="3467405"/>
            <a:ext cx="205922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Glossário &amp; Data Layer schema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2767889" y="3400654"/>
            <a:ext cx="1276502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2891333" y="3467405"/>
            <a:ext cx="12243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Critérios de aceite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" b="-1"/>
          <a:stretch/>
        </p:blipFill>
        <p:spPr>
          <a:xfrm>
            <a:off x="6210605" y="1600200"/>
            <a:ext cx="5524805" cy="2305202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409944" y="1876349"/>
            <a:ext cx="152705" cy="15270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676949" y="1819656"/>
            <a:ext cx="25365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Tracking Implementation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9786823" y="1800454"/>
            <a:ext cx="1752905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9910267" y="1867205"/>
            <a:ext cx="170627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Owners: AXA + Nosso time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6409944" y="2219249"/>
            <a:ext cx="52011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no GTM (incl. Server-Side), Consent Mode e mapeamento de eventos ao GA4.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6409944" y="2762402"/>
            <a:ext cx="9189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Mini-timeline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10603382" y="2752344"/>
            <a:ext cx="171907" cy="171907"/>
          </a:xfrm>
          <a:prstGeom prst="ellipse">
            <a:avLst/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10636301" y="2781605"/>
            <a:ext cx="105156" cy="1143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0812780" y="2762402"/>
            <a:ext cx="800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QA contínuo</a:t>
            </a:r>
            <a:endParaRPr lang="en-US" sz="9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-78" r="-78" t="0" b="0"/>
          <a:stretch/>
        </p:blipFill>
        <p:spPr>
          <a:xfrm>
            <a:off x="6409944" y="3000146"/>
            <a:ext cx="5124298" cy="95098"/>
          </a:xfrm>
          <a:prstGeom prst="rect">
            <a:avLst/>
          </a:prstGeom>
        </p:spPr>
      </p:pic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rcRect l="-80" r="-80" t="0" b="0"/>
          <a:stretch/>
        </p:blipFill>
        <p:spPr>
          <a:xfrm>
            <a:off x="6409944" y="3000146"/>
            <a:ext cx="3416198" cy="95098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6409944" y="3133649"/>
            <a:ext cx="277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W3</a:t>
            </a:r>
            <a:endParaRPr lang="en-US" sz="900" dirty="0"/>
          </a:p>
        </p:txBody>
      </p:sp>
      <p:sp>
        <p:nvSpPr>
          <p:cNvPr id="43" name="Text 31"/>
          <p:cNvSpPr txBox="1"/>
          <p:nvPr/>
        </p:nvSpPr>
        <p:spPr>
          <a:xfrm>
            <a:off x="8876081" y="3133649"/>
            <a:ext cx="277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W4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11344046" y="3133649"/>
            <a:ext cx="277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W5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6409944" y="3400654"/>
            <a:ext cx="1343254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46" name="Text 34"/>
          <p:cNvSpPr txBox="1"/>
          <p:nvPr/>
        </p:nvSpPr>
        <p:spPr>
          <a:xfrm>
            <a:off x="6534302" y="3467405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Consent-by-design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7860182" y="3400654"/>
            <a:ext cx="1047902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48" name="Text 36"/>
          <p:cNvSpPr txBox="1"/>
          <p:nvPr/>
        </p:nvSpPr>
        <p:spPr>
          <a:xfrm>
            <a:off x="7984541" y="3467405"/>
            <a:ext cx="876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Deduplicação</a:t>
            </a:r>
            <a:endParaRPr lang="en-US" sz="90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" b="-1"/>
          <a:stretch/>
        </p:blipFill>
        <p:spPr>
          <a:xfrm>
            <a:off x="457200" y="4134002"/>
            <a:ext cx="5524805" cy="2305202"/>
          </a:xfrm>
          <a:prstGeom prst="rect">
            <a:avLst/>
          </a:prstGeom>
        </p:spPr>
      </p:pic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00" b="-100"/>
          <a:stretch/>
        </p:blipFill>
        <p:spPr>
          <a:xfrm>
            <a:off x="657454" y="4410151"/>
            <a:ext cx="114300" cy="15270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886054" y="4352544"/>
            <a:ext cx="23143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Integration Setup</a:t>
            </a:r>
            <a:endParaRPr lang="en-US" sz="1300" dirty="0"/>
          </a:p>
        </p:txBody>
      </p:sp>
      <p:sp>
        <p:nvSpPr>
          <p:cNvPr id="52" name="Shape 38"/>
          <p:cNvSpPr/>
          <p:nvPr/>
        </p:nvSpPr>
        <p:spPr>
          <a:xfrm>
            <a:off x="4033418" y="4334256"/>
            <a:ext cx="1752905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53" name="Text 39"/>
          <p:cNvSpPr txBox="1"/>
          <p:nvPr/>
        </p:nvSpPr>
        <p:spPr>
          <a:xfrm>
            <a:off x="4156862" y="4401007"/>
            <a:ext cx="170627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Owners: AXA + Nosso time</a:t>
            </a:r>
            <a:endParaRPr lang="en-US" sz="900" dirty="0"/>
          </a:p>
        </p:txBody>
      </p:sp>
      <p:sp>
        <p:nvSpPr>
          <p:cNvPr id="54" name="Text 40"/>
          <p:cNvSpPr txBox="1"/>
          <p:nvPr/>
        </p:nvSpPr>
        <p:spPr>
          <a:xfrm>
            <a:off x="657454" y="4753051"/>
            <a:ext cx="52011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Chaves de matching (hashed email/phone), mapeamento de atributos e definição de SLAs de atualização.</a:t>
            </a:r>
            <a:endParaRPr lang="en-US" sz="1000" dirty="0"/>
          </a:p>
        </p:txBody>
      </p:sp>
      <p:sp>
        <p:nvSpPr>
          <p:cNvPr id="55" name="Text 41"/>
          <p:cNvSpPr txBox="1"/>
          <p:nvPr/>
        </p:nvSpPr>
        <p:spPr>
          <a:xfrm>
            <a:off x="657454" y="5296205"/>
            <a:ext cx="9189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Mini-timeline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4965192" y="5286146"/>
            <a:ext cx="171907" cy="171907"/>
          </a:xfrm>
          <a:prstGeom prst="ellipse">
            <a:avLst/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4998110" y="5315407"/>
            <a:ext cx="105156" cy="114300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5174590" y="5296205"/>
            <a:ext cx="7104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Co-criação</a:t>
            </a:r>
            <a:endParaRPr lang="en-US" sz="900" dirty="0"/>
          </a:p>
        </p:txBody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rcRect l="-78" r="-78" t="0" b="0"/>
          <a:stretch/>
        </p:blipFill>
        <p:spPr>
          <a:xfrm>
            <a:off x="657454" y="5533949"/>
            <a:ext cx="5124298" cy="95098"/>
          </a:xfrm>
          <a:prstGeom prst="rect">
            <a:avLst/>
          </a:prstGeom>
        </p:spPr>
      </p:pic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rcRect l="-80" r="-80" t="0" b="0"/>
          <a:stretch/>
        </p:blipFill>
        <p:spPr>
          <a:xfrm>
            <a:off x="657454" y="5533949"/>
            <a:ext cx="3416198" cy="95098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657454" y="5667451"/>
            <a:ext cx="277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W3</a:t>
            </a:r>
            <a:endParaRPr lang="en-US" sz="900" dirty="0"/>
          </a:p>
        </p:txBody>
      </p:sp>
      <p:sp>
        <p:nvSpPr>
          <p:cNvPr id="62" name="Text 45"/>
          <p:cNvSpPr txBox="1"/>
          <p:nvPr/>
        </p:nvSpPr>
        <p:spPr>
          <a:xfrm>
            <a:off x="3122676" y="5667451"/>
            <a:ext cx="277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W4</a:t>
            </a:r>
            <a:endParaRPr lang="en-US" sz="900" dirty="0"/>
          </a:p>
        </p:txBody>
      </p:sp>
      <p:sp>
        <p:nvSpPr>
          <p:cNvPr id="63" name="Text 46"/>
          <p:cNvSpPr txBox="1"/>
          <p:nvPr/>
        </p:nvSpPr>
        <p:spPr>
          <a:xfrm>
            <a:off x="5590642" y="5667451"/>
            <a:ext cx="277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W5</a:t>
            </a:r>
            <a:endParaRPr lang="en-US" sz="900" dirty="0"/>
          </a:p>
        </p:txBody>
      </p:sp>
      <p:sp>
        <p:nvSpPr>
          <p:cNvPr id="64" name="Shape 47"/>
          <p:cNvSpPr/>
          <p:nvPr/>
        </p:nvSpPr>
        <p:spPr>
          <a:xfrm>
            <a:off x="657454" y="5934456"/>
            <a:ext cx="1285646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65" name="Text 48"/>
          <p:cNvSpPr txBox="1"/>
          <p:nvPr/>
        </p:nvSpPr>
        <p:spPr>
          <a:xfrm>
            <a:off x="780898" y="6001207"/>
            <a:ext cx="12079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LGPD &amp; finalidade</a:t>
            </a:r>
            <a:endParaRPr lang="en-US" sz="900" dirty="0"/>
          </a:p>
        </p:txBody>
      </p:sp>
      <p:sp>
        <p:nvSpPr>
          <p:cNvPr id="66" name="Shape 49"/>
          <p:cNvSpPr/>
          <p:nvPr/>
        </p:nvSpPr>
        <p:spPr>
          <a:xfrm>
            <a:off x="2051914" y="5934456"/>
            <a:ext cx="1742846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67" name="Text 50"/>
          <p:cNvSpPr txBox="1"/>
          <p:nvPr/>
        </p:nvSpPr>
        <p:spPr>
          <a:xfrm>
            <a:off x="2176272" y="6001207"/>
            <a:ext cx="16376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Mapping CRM ↔ Analytics</a:t>
            </a:r>
            <a:endParaRPr lang="en-US" sz="900" dirty="0"/>
          </a:p>
        </p:txBody>
      </p:sp>
      <p:pic>
        <p:nvPicPr>
          <p:cNvPr id="68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" b="-1"/>
          <a:stretch/>
        </p:blipFill>
        <p:spPr>
          <a:xfrm>
            <a:off x="6210605" y="4134002"/>
            <a:ext cx="5524805" cy="2305202"/>
          </a:xfrm>
          <a:prstGeom prst="rect">
            <a:avLst/>
          </a:prstGeom>
        </p:spPr>
      </p:pic>
      <p:pic>
        <p:nvPicPr>
          <p:cNvPr id="69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6409944" y="4410151"/>
            <a:ext cx="152705" cy="152705"/>
          </a:xfrm>
          <a:prstGeom prst="rect">
            <a:avLst/>
          </a:prstGeom>
        </p:spPr>
      </p:pic>
      <p:sp>
        <p:nvSpPr>
          <p:cNvPr id="70" name="Text 51"/>
          <p:cNvSpPr txBox="1"/>
          <p:nvPr/>
        </p:nvSpPr>
        <p:spPr>
          <a:xfrm>
            <a:off x="6676949" y="4352544"/>
            <a:ext cx="214243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 &amp; Validation</a:t>
            </a:r>
            <a:endParaRPr lang="en-US" sz="1300" dirty="0"/>
          </a:p>
        </p:txBody>
      </p:sp>
      <p:sp>
        <p:nvSpPr>
          <p:cNvPr id="71" name="Shape 52"/>
          <p:cNvSpPr/>
          <p:nvPr/>
        </p:nvSpPr>
        <p:spPr>
          <a:xfrm>
            <a:off x="9786823" y="4334256"/>
            <a:ext cx="1752905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72" name="Text 53"/>
          <p:cNvSpPr txBox="1"/>
          <p:nvPr/>
        </p:nvSpPr>
        <p:spPr>
          <a:xfrm>
            <a:off x="9910267" y="4401007"/>
            <a:ext cx="170627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Owners: AXA + Nosso time</a:t>
            </a:r>
            <a:endParaRPr lang="en-US" sz="900" dirty="0"/>
          </a:p>
        </p:txBody>
      </p:sp>
      <p:sp>
        <p:nvSpPr>
          <p:cNvPr id="73" name="Text 54"/>
          <p:cNvSpPr txBox="1"/>
          <p:nvPr/>
        </p:nvSpPr>
        <p:spPr>
          <a:xfrm>
            <a:off x="6409944" y="4753051"/>
            <a:ext cx="52011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Planos de teste, observabilidade de eventos e critérios de aceite para go-live confiável.</a:t>
            </a:r>
            <a:endParaRPr lang="en-US" sz="1000" dirty="0"/>
          </a:p>
        </p:txBody>
      </p:sp>
      <p:sp>
        <p:nvSpPr>
          <p:cNvPr id="74" name="Text 55"/>
          <p:cNvSpPr txBox="1"/>
          <p:nvPr/>
        </p:nvSpPr>
        <p:spPr>
          <a:xfrm>
            <a:off x="6409944" y="5296205"/>
            <a:ext cx="9189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Mini-timeline</a:t>
            </a:r>
            <a:endParaRPr lang="en-US" sz="900" dirty="0"/>
          </a:p>
        </p:txBody>
      </p:sp>
      <p:sp>
        <p:nvSpPr>
          <p:cNvPr id="75" name="Shape 56"/>
          <p:cNvSpPr/>
          <p:nvPr/>
        </p:nvSpPr>
        <p:spPr>
          <a:xfrm>
            <a:off x="10259568" y="5286146"/>
            <a:ext cx="171907" cy="171907"/>
          </a:xfrm>
          <a:prstGeom prst="ellipse">
            <a:avLst/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pic>
        <p:nvPicPr>
          <p:cNvPr id="76" name="Image 17" descr="preencoded.png">    </p:cNvPr>
          <p:cNvPicPr>
            <a:picLocks noChangeAspect="1"/>
          </p:cNvPicPr>
          <p:nvPr/>
        </p:nvPicPr>
        <p:blipFill>
          <a:blip r:embed="rId18"/>
          <a:srcRect l="-2571" r="-2571" t="0" b="0"/>
          <a:stretch/>
        </p:blipFill>
        <p:spPr>
          <a:xfrm>
            <a:off x="10293401" y="5315407"/>
            <a:ext cx="105156" cy="114300"/>
          </a:xfrm>
          <a:prstGeom prst="rect">
            <a:avLst/>
          </a:prstGeom>
        </p:spPr>
      </p:pic>
      <p:sp>
        <p:nvSpPr>
          <p:cNvPr id="77" name="Text 57"/>
          <p:cNvSpPr txBox="1"/>
          <p:nvPr/>
        </p:nvSpPr>
        <p:spPr>
          <a:xfrm>
            <a:off x="10468966" y="5296205"/>
            <a:ext cx="12088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 de aprovação</a:t>
            </a:r>
            <a:endParaRPr lang="en-US" sz="900" dirty="0"/>
          </a:p>
        </p:txBody>
      </p:sp>
      <p:pic>
        <p:nvPicPr>
          <p:cNvPr id="78" name="Image 18" descr="preencoded.png">    </p:cNvPr>
          <p:cNvPicPr>
            <a:picLocks noChangeAspect="1"/>
          </p:cNvPicPr>
          <p:nvPr/>
        </p:nvPicPr>
        <p:blipFill>
          <a:blip r:embed="rId19"/>
          <a:srcRect l="-78" r="-78" t="0" b="0"/>
          <a:stretch/>
        </p:blipFill>
        <p:spPr>
          <a:xfrm>
            <a:off x="6409944" y="5533949"/>
            <a:ext cx="5124298" cy="95098"/>
          </a:xfrm>
          <a:prstGeom prst="rect">
            <a:avLst/>
          </a:prstGeom>
        </p:spPr>
      </p:pic>
      <p:pic>
        <p:nvPicPr>
          <p:cNvPr id="79" name="Image 19" descr="preencoded.png">    </p:cNvPr>
          <p:cNvPicPr>
            <a:picLocks noChangeAspect="1"/>
          </p:cNvPicPr>
          <p:nvPr/>
        </p:nvPicPr>
        <p:blipFill>
          <a:blip r:embed="rId20"/>
          <a:srcRect l="-78" r="-78" t="0" b="0"/>
          <a:stretch/>
        </p:blipFill>
        <p:spPr>
          <a:xfrm>
            <a:off x="6409944" y="5533949"/>
            <a:ext cx="5124298" cy="95098"/>
          </a:xfrm>
          <a:prstGeom prst="rect">
            <a:avLst/>
          </a:prstGeom>
        </p:spPr>
      </p:pic>
      <p:sp>
        <p:nvSpPr>
          <p:cNvPr id="80" name="Text 58"/>
          <p:cNvSpPr txBox="1"/>
          <p:nvPr/>
        </p:nvSpPr>
        <p:spPr>
          <a:xfrm>
            <a:off x="6409944" y="5667451"/>
            <a:ext cx="277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W3</a:t>
            </a:r>
            <a:endParaRPr lang="en-US" sz="900" dirty="0"/>
          </a:p>
        </p:txBody>
      </p:sp>
      <p:sp>
        <p:nvSpPr>
          <p:cNvPr id="81" name="Text 59"/>
          <p:cNvSpPr txBox="1"/>
          <p:nvPr/>
        </p:nvSpPr>
        <p:spPr>
          <a:xfrm>
            <a:off x="8876081" y="5667451"/>
            <a:ext cx="277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W4</a:t>
            </a:r>
            <a:endParaRPr lang="en-US" sz="900" dirty="0"/>
          </a:p>
        </p:txBody>
      </p:sp>
      <p:sp>
        <p:nvSpPr>
          <p:cNvPr id="82" name="Text 60"/>
          <p:cNvSpPr txBox="1"/>
          <p:nvPr/>
        </p:nvSpPr>
        <p:spPr>
          <a:xfrm>
            <a:off x="11344046" y="5667451"/>
            <a:ext cx="277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W5</a:t>
            </a:r>
            <a:endParaRPr lang="en-US" sz="900" dirty="0"/>
          </a:p>
        </p:txBody>
      </p:sp>
      <p:sp>
        <p:nvSpPr>
          <p:cNvPr id="83" name="Shape 61"/>
          <p:cNvSpPr/>
          <p:nvPr/>
        </p:nvSpPr>
        <p:spPr>
          <a:xfrm>
            <a:off x="6409944" y="5934456"/>
            <a:ext cx="990295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84" name="Text 62"/>
          <p:cNvSpPr txBox="1"/>
          <p:nvPr/>
        </p:nvSpPr>
        <p:spPr>
          <a:xfrm>
            <a:off x="6534302" y="6001207"/>
            <a:ext cx="8531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QA funcional</a:t>
            </a:r>
            <a:endParaRPr lang="en-US" sz="900" dirty="0"/>
          </a:p>
        </p:txBody>
      </p:sp>
      <p:sp>
        <p:nvSpPr>
          <p:cNvPr id="85" name="Shape 63"/>
          <p:cNvSpPr/>
          <p:nvPr/>
        </p:nvSpPr>
        <p:spPr>
          <a:xfrm>
            <a:off x="7512710" y="5934456"/>
            <a:ext cx="1190549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86" name="Text 64"/>
          <p:cNvSpPr txBox="1"/>
          <p:nvPr/>
        </p:nvSpPr>
        <p:spPr>
          <a:xfrm>
            <a:off x="7637069" y="6001207"/>
            <a:ext cx="1067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Observabilidade</a:t>
            </a:r>
            <a:endParaRPr lang="en-US" sz="900" dirty="0"/>
          </a:p>
        </p:txBody>
      </p:sp>
      <p:sp>
        <p:nvSpPr>
          <p:cNvPr id="87" name="Text 65"/>
          <p:cNvSpPr txBox="1"/>
          <p:nvPr/>
        </p:nvSpPr>
        <p:spPr>
          <a:xfrm>
            <a:off x="457200" y="6590995"/>
            <a:ext cx="11392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Co-criação AXA + nosso time com rituais semanais (planning, demo, retro) e critérios de aceite para cada sprint.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37998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• Data Intelligence Framework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766146" y="381305"/>
            <a:ext cx="972007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71302" y="448056"/>
            <a:ext cx="838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Semanas 6–8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61695"/>
            <a:ext cx="11392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3 — Integration &amp; Activation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143000"/>
            <a:ext cx="11392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 entre Data Layer, GA4 e CRM, alimentando plataformas de mídia com sinais confiáveis.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1" b="-51"/>
          <a:stretch/>
        </p:blipFill>
        <p:spPr>
          <a:xfrm>
            <a:off x="457200" y="1561795"/>
            <a:ext cx="7467905" cy="41724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199" y="1561795"/>
            <a:ext cx="36292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Integrações desta fase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-33" r="-33" t="0" b="0"/>
          <a:stretch/>
        </p:blipFill>
        <p:spPr>
          <a:xfrm>
            <a:off x="8223199" y="1943100"/>
            <a:ext cx="171907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509406" y="1943100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Conexões habilitadas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8509406" y="2133295"/>
            <a:ext cx="33055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Layer ↔ GA4 ↔ CRM ↔ Plataformas de mídia.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8223199" y="2590495"/>
            <a:ext cx="190195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28609" y="2590495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Sinais publicados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8528609" y="2781605"/>
            <a:ext cx="34555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Audiências, conversões e eventos validados.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8223199" y="3047695"/>
            <a:ext cx="190195" cy="1527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8609" y="3047695"/>
            <a:ext cx="25658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Atribuição coerente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8528609" y="3238805"/>
            <a:ext cx="2936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Alinhamento entre Analytics e mídia.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8223199" y="5207508"/>
            <a:ext cx="36292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Evolução de status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8223199" y="5474513"/>
            <a:ext cx="619049" cy="256946"/>
          </a:xfrm>
          <a:prstGeom prst="roundRect">
            <a:avLst>
              <a:gd name="adj" fmla="val 355872"/>
            </a:avLst>
          </a:prstGeom>
          <a:solidFill>
            <a:srgbClr val="FFF2EC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328355" y="5531206"/>
            <a:ext cx="4864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8913571" y="5505602"/>
            <a:ext cx="191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101023" y="5474513"/>
            <a:ext cx="437998" cy="256946"/>
          </a:xfrm>
          <a:prstGeom prst="roundRect">
            <a:avLst>
              <a:gd name="adj" fmla="val 355872"/>
            </a:avLst>
          </a:prstGeom>
          <a:solidFill>
            <a:srgbClr val="E8EDF8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206179" y="5531206"/>
            <a:ext cx="3054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9609430" y="5505602"/>
            <a:ext cx="191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9796882" y="5474513"/>
            <a:ext cx="790956" cy="256946"/>
          </a:xfrm>
          <a:prstGeom prst="roundRect">
            <a:avLst>
              <a:gd name="adj" fmla="val 355872"/>
            </a:avLst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902038" y="5531206"/>
            <a:ext cx="6574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Optimized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457200" y="5878678"/>
            <a:ext cx="11277295" cy="809244"/>
          </a:xfrm>
          <a:prstGeom prst="roundRect">
            <a:avLst>
              <a:gd name="adj" fmla="val 15952"/>
            </a:avLst>
          </a:prstGeom>
          <a:noFill/>
          <a:ln w="12700">
            <a:solidFill>
              <a:srgbClr val="C9CBD1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694944" y="6090818"/>
            <a:ext cx="133502" cy="1527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42746" y="6071616"/>
            <a:ext cx="5056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Marco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10277856" y="6040526"/>
            <a:ext cx="1218895" cy="256946"/>
          </a:xfrm>
          <a:prstGeom prst="roundRect">
            <a:avLst>
              <a:gd name="adj" fmla="val 355872"/>
            </a:avLst>
          </a:prstGeom>
          <a:solidFill>
            <a:srgbClr val="E8EDF8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10382098" y="6088990"/>
            <a:ext cx="1201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Go-live controlado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694944" y="6331306"/>
            <a:ext cx="10916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Primeira campanha data-driven ativada com sinais de CRM/Analytics e deduplicação de conversões.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37998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• Data Intelligence Framework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848442" y="381305"/>
            <a:ext cx="895198" cy="304495"/>
          </a:xfrm>
          <a:prstGeom prst="roundRect">
            <a:avLst>
              <a:gd name="adj" fmla="val 300300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1886" y="448056"/>
            <a:ext cx="724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 9+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61695"/>
            <a:ext cx="11392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4 — Optimization &amp; Scale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143000"/>
            <a:ext cx="11392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Evolução contínua do Data Quality Score e maximização de performance.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61795"/>
            <a:ext cx="7467905" cy="34290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9049" y="1723644"/>
            <a:ext cx="21314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Quality Score (0–100)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53405" y="1762049"/>
            <a:ext cx="114300" cy="114300"/>
          </a:xfrm>
          <a:prstGeom prst="ellipse">
            <a:avLst/>
          </a:prstGeom>
          <a:solidFill>
            <a:srgbClr val="00B07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4514" y="1742846"/>
            <a:ext cx="2165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Qualidade de dados (ilustrativo)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-70" r="-70" t="0" b="0"/>
          <a:stretch/>
        </p:blipFill>
        <p:spPr>
          <a:xfrm>
            <a:off x="619049" y="1990649"/>
            <a:ext cx="7144207" cy="28575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" y="5143500"/>
            <a:ext cx="942746" cy="304495"/>
          </a:xfrm>
          <a:prstGeom prst="roundRect">
            <a:avLst>
              <a:gd name="adj" fmla="val 300300"/>
            </a:avLst>
          </a:prstGeom>
          <a:solidFill>
            <a:srgbClr val="EAF7F1"/>
          </a:solidFill>
          <a:ln w="12700">
            <a:solidFill>
              <a:srgbClr val="00B07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0644" y="5210251"/>
            <a:ext cx="771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Wins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2267712" y="5201107"/>
            <a:ext cx="191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52521" y="5143500"/>
            <a:ext cx="1324051" cy="304495"/>
          </a:xfrm>
          <a:prstGeom prst="roundRect">
            <a:avLst>
              <a:gd name="adj" fmla="val 300300"/>
            </a:avLst>
          </a:prstGeom>
          <a:solidFill>
            <a:srgbClr val="E8EDF8"/>
          </a:solidFill>
          <a:ln w="12700">
            <a:solidFill>
              <a:srgbClr val="0A246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76879" y="5210251"/>
            <a:ext cx="117774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Sustained Growth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447081" y="5201107"/>
            <a:ext cx="191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31890" y="5143500"/>
            <a:ext cx="1495044" cy="304495"/>
          </a:xfrm>
          <a:prstGeom prst="roundRect">
            <a:avLst>
              <a:gd name="adj" fmla="val 300300"/>
            </a:avLst>
          </a:prstGeom>
          <a:solidFill>
            <a:srgbClr val="FFF2EC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56248" y="5210251"/>
            <a:ext cx="14849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Capability</a:t>
            </a:r>
            <a:endParaRPr lang="en-US" sz="9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-199" r="-199" t="0" b="0"/>
          <a:stretch/>
        </p:blipFill>
        <p:spPr>
          <a:xfrm>
            <a:off x="457200" y="5562295"/>
            <a:ext cx="7461504" cy="75895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-200" r="-200" t="0" b="0"/>
          <a:stretch/>
        </p:blipFill>
        <p:spPr>
          <a:xfrm>
            <a:off x="457200" y="5562295"/>
            <a:ext cx="2487168" cy="758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224114" y="1561795"/>
            <a:ext cx="36292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Improvement</a:t>
            </a:r>
            <a:endParaRPr lang="en-US" sz="13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24114" y="1943100"/>
            <a:ext cx="152705" cy="1527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490204" y="1943100"/>
            <a:ext cx="3363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 A/B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8490204" y="2133295"/>
            <a:ext cx="33247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Cadência recorrente com critérios de sucesso claros.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24114" y="2628900"/>
            <a:ext cx="152705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490204" y="2628900"/>
            <a:ext cx="3363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Modelagem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8490204" y="2819095"/>
            <a:ext cx="33247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Propensão, LTV e segmentação orientada a valor.</a:t>
            </a:r>
            <a:endParaRPr lang="en-US" sz="10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8224114" y="3314700"/>
            <a:ext cx="190195" cy="15270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528609" y="3314700"/>
            <a:ext cx="2981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Automações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8528609" y="3504895"/>
            <a:ext cx="3411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Bidding e audiências com sinais confiáveis.</a:t>
            </a:r>
            <a:endParaRPr lang="en-US" sz="10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24114" y="3810305"/>
            <a:ext cx="152705" cy="15270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490204" y="3810305"/>
            <a:ext cx="26947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Governança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8490204" y="4000500"/>
            <a:ext cx="3083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KPIs de dados, SLAs e rituais semanais.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8224114" y="4895698"/>
            <a:ext cx="3514954" cy="1238098"/>
          </a:xfrm>
          <a:prstGeom prst="roundRect">
            <a:avLst>
              <a:gd name="adj" fmla="val 6817"/>
            </a:avLst>
          </a:prstGeom>
          <a:noFill/>
          <a:ln w="12700">
            <a:solidFill>
              <a:srgbClr val="C9CBD1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8423453" y="5115154"/>
            <a:ext cx="2179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indicador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8423453" y="5343754"/>
            <a:ext cx="21717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Valores ilustrativos para apresentação.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10457993" y="5057546"/>
            <a:ext cx="10863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Quality Score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10438790" y="5400446"/>
            <a:ext cx="1105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0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↑</a:t>
            </a:r>
            <a:endParaRPr lang="en-US" sz="18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5" b="-5"/>
          <a:stretch/>
        </p:blipFill>
        <p:spPr>
          <a:xfrm>
            <a:off x="8423453" y="5838444"/>
            <a:ext cx="2560320" cy="114300"/>
          </a:xfrm>
          <a:prstGeom prst="rect">
            <a:avLst/>
          </a:prstGeom>
        </p:spPr>
      </p:pic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2" b="-2"/>
          <a:stretch/>
        </p:blipFill>
        <p:spPr>
          <a:xfrm>
            <a:off x="8423453" y="5838444"/>
            <a:ext cx="1920240" cy="1143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1098987" y="5820156"/>
            <a:ext cx="514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T0 → Tn</a:t>
            </a:r>
            <a:endParaRPr lang="en-US" sz="900" dirty="0"/>
          </a:p>
        </p:txBody>
      </p:sp>
      <p:sp>
        <p:nvSpPr>
          <p:cNvPr id="45" name="Text 34"/>
          <p:cNvSpPr txBox="1"/>
          <p:nvPr/>
        </p:nvSpPr>
        <p:spPr>
          <a:xfrm>
            <a:off x="457200" y="6286500"/>
            <a:ext cx="11392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fase de Optimization &amp; Scale é contínua e incremental, focada em qualidade de dados, aprendizado e expansão de impacto.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1305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• Data Intelligence Framework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"/>
            <a:ext cx="11392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Deliverables Matrix — O que a AXA recebe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8700"/>
            <a:ext cx="11392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Entregáveis por categoria, fase do projeto (F1–F4), formato e owner.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0005"/>
            <a:ext cx="1304849" cy="256946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2356" y="1457554"/>
            <a:ext cx="13039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 Discovery &amp; Audit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33372" y="1410005"/>
            <a:ext cx="1304849" cy="256946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37614" y="1457554"/>
            <a:ext cx="127833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F2 Foundation Build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14116" y="1410005"/>
            <a:ext cx="1657807" cy="256946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18358" y="1457554"/>
            <a:ext cx="172364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F3 Integration &amp; Activation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40503" y="1410005"/>
            <a:ext cx="1505102" cy="256946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45659" y="1457554"/>
            <a:ext cx="15416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F4 Optimization &amp; Scale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852574"/>
            <a:ext cx="11277295" cy="3152851"/>
          </a:xfrm>
          <a:prstGeom prst="roundRect">
            <a:avLst>
              <a:gd name="adj" fmla="val 1051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5" b="-55"/>
          <a:stretch/>
        </p:blipFill>
        <p:spPr>
          <a:xfrm>
            <a:off x="466344" y="1861718"/>
            <a:ext cx="11259007" cy="40050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57454" y="1976018"/>
            <a:ext cx="2714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Categoria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3414370" y="1976018"/>
            <a:ext cx="36393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Entregáveis / Exemplos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091172" y="1976018"/>
            <a:ext cx="17629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Fases (F1–F4)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930030" y="1976018"/>
            <a:ext cx="17629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Formato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767974" y="1976018"/>
            <a:ext cx="8485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</a:t>
            </a:r>
            <a:endParaRPr lang="en-US" sz="9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7454" y="2414930"/>
            <a:ext cx="142646" cy="19019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14400" y="2414930"/>
            <a:ext cx="1467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914400" y="2605126"/>
            <a:ext cx="16550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blueprints, runbooks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3414370" y="2414930"/>
            <a:ext cx="3600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Blueprint de arquitetura (tracking, data layer, integrações) e runbooks operacionais.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7091172" y="2414930"/>
            <a:ext cx="342900" cy="219456"/>
          </a:xfrm>
          <a:prstGeom prst="rect">
            <a:avLst/>
          </a:prstGeom>
          <a:solidFill>
            <a:srgbClr val="EAF7F1"/>
          </a:solidFill>
          <a:ln w="12700">
            <a:solidFill>
              <a:srgbClr val="00B074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7410298" y="2414930"/>
            <a:ext cx="362102" cy="219456"/>
          </a:xfrm>
          <a:prstGeom prst="rect">
            <a:avLst/>
          </a:prstGeom>
          <a:solidFill>
            <a:srgbClr val="EAF7F1"/>
          </a:solidFill>
          <a:ln w="12700">
            <a:solidFill>
              <a:srgbClr val="00B074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F2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9166860" y="2414930"/>
            <a:ext cx="392278" cy="257861"/>
          </a:xfrm>
          <a:prstGeom prst="rect">
            <a:avLst/>
          </a:prstGeom>
          <a:solidFill>
            <a:srgbClr val="F7F8FA"/>
          </a:solidFill>
          <a:ln w="12700">
            <a:solidFill>
              <a:srgbClr val="C9CBD1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PDF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9821570" y="2414930"/>
            <a:ext cx="686714" cy="257861"/>
          </a:xfrm>
          <a:prstGeom prst="rect">
            <a:avLst/>
          </a:prstGeom>
          <a:solidFill>
            <a:srgbClr val="F7F8FA"/>
          </a:solidFill>
          <a:ln w="12700">
            <a:solidFill>
              <a:srgbClr val="C9CBD1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Diagrama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10767974" y="2414930"/>
            <a:ext cx="8293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Nosso time</a:t>
            </a:r>
            <a:endParaRPr lang="en-US" sz="10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657454" y="2909621"/>
            <a:ext cx="10877702" cy="9144"/>
          </a:xfrm>
          <a:prstGeom prst="rect">
            <a:avLst/>
          </a:prstGeom>
        </p:spPr>
      </p:pic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7454" y="3033979"/>
            <a:ext cx="190195" cy="19019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61949" y="3033979"/>
            <a:ext cx="1895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961949" y="3224174"/>
            <a:ext cx="20738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GA4 custom, Looker Studio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3414370" y="3033979"/>
            <a:ext cx="3600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Painéis executivos e operacionais alinhados a KPIs (Data Quality, Atribuição, Mídia).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7091172" y="3033979"/>
            <a:ext cx="362102" cy="219456"/>
          </a:xfrm>
          <a:prstGeom prst="rect">
            <a:avLst/>
          </a:prstGeom>
          <a:solidFill>
            <a:srgbClr val="EAF7F1"/>
          </a:solidFill>
          <a:ln w="12700">
            <a:solidFill>
              <a:srgbClr val="00B074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F2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7430414" y="3033979"/>
            <a:ext cx="362102" cy="219456"/>
          </a:xfrm>
          <a:prstGeom prst="rect">
            <a:avLst/>
          </a:prstGeom>
          <a:solidFill>
            <a:srgbClr val="EAF7F1"/>
          </a:solidFill>
          <a:ln w="12700">
            <a:solidFill>
              <a:srgbClr val="00B074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F3</a:t>
            </a:r>
            <a:endParaRPr lang="en-US" sz="800" dirty="0"/>
          </a:p>
        </p:txBody>
      </p:sp>
      <p:sp>
        <p:nvSpPr>
          <p:cNvPr id="38" name="Text 32"/>
          <p:cNvSpPr txBox="1"/>
          <p:nvPr/>
        </p:nvSpPr>
        <p:spPr>
          <a:xfrm>
            <a:off x="7768742" y="3033979"/>
            <a:ext cx="372161" cy="219456"/>
          </a:xfrm>
          <a:prstGeom prst="rect">
            <a:avLst/>
          </a:prstGeom>
          <a:solidFill>
            <a:srgbClr val="EAF7F1"/>
          </a:solidFill>
          <a:ln w="12700">
            <a:solidFill>
              <a:srgbClr val="00B074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F4</a:t>
            </a:r>
            <a:endParaRPr lang="en-US" sz="800" dirty="0"/>
          </a:p>
        </p:txBody>
      </p:sp>
      <p:sp>
        <p:nvSpPr>
          <p:cNvPr id="39" name="Text 33"/>
          <p:cNvSpPr txBox="1"/>
          <p:nvPr/>
        </p:nvSpPr>
        <p:spPr>
          <a:xfrm>
            <a:off x="9166860" y="3033979"/>
            <a:ext cx="392278" cy="257861"/>
          </a:xfrm>
          <a:prstGeom prst="rect">
            <a:avLst/>
          </a:prstGeom>
          <a:solidFill>
            <a:srgbClr val="F7F8FA"/>
          </a:solidFill>
          <a:ln w="12700">
            <a:solidFill>
              <a:srgbClr val="C9CBD1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GA4</a:t>
            </a:r>
            <a:endParaRPr lang="en-US" sz="800" dirty="0"/>
          </a:p>
        </p:txBody>
      </p:sp>
      <p:sp>
        <p:nvSpPr>
          <p:cNvPr id="40" name="Text 34"/>
          <p:cNvSpPr txBox="1"/>
          <p:nvPr/>
        </p:nvSpPr>
        <p:spPr>
          <a:xfrm>
            <a:off x="9808769" y="3033979"/>
            <a:ext cx="525780" cy="257861"/>
          </a:xfrm>
          <a:prstGeom prst="rect">
            <a:avLst/>
          </a:prstGeom>
          <a:solidFill>
            <a:srgbClr val="F7F8FA"/>
          </a:solidFill>
          <a:ln w="12700">
            <a:solidFill>
              <a:srgbClr val="C9CBD1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Looker</a:t>
            </a:r>
            <a:endParaRPr lang="en-US" sz="800" dirty="0"/>
          </a:p>
        </p:txBody>
      </p:sp>
      <p:sp>
        <p:nvSpPr>
          <p:cNvPr id="41" name="Text 35"/>
          <p:cNvSpPr txBox="1"/>
          <p:nvPr/>
        </p:nvSpPr>
        <p:spPr>
          <a:xfrm>
            <a:off x="10767974" y="3033979"/>
            <a:ext cx="8293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Nosso time</a:t>
            </a:r>
            <a:endParaRPr lang="en-US" sz="10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657454" y="3528670"/>
            <a:ext cx="10877702" cy="9144"/>
          </a:xfrm>
          <a:prstGeom prst="rect">
            <a:avLst/>
          </a:prstGeom>
        </p:spPr>
      </p:pic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7454" y="3653028"/>
            <a:ext cx="237744" cy="190195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009498" y="3653028"/>
            <a:ext cx="1543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1009498" y="3843223"/>
            <a:ext cx="16596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playbooks, workshops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3414370" y="3653028"/>
            <a:ext cx="3600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Playbooks de operação e workshops de habilitação para time AXA (dados, mídia, CRM).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7091172" y="3653028"/>
            <a:ext cx="362102" cy="219456"/>
          </a:xfrm>
          <a:prstGeom prst="rect">
            <a:avLst/>
          </a:prstGeom>
          <a:solidFill>
            <a:srgbClr val="EAF7F1"/>
          </a:solidFill>
          <a:ln w="12700">
            <a:solidFill>
              <a:srgbClr val="00B074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F2</a:t>
            </a:r>
            <a:endParaRPr lang="en-US" sz="800" dirty="0"/>
          </a:p>
        </p:txBody>
      </p:sp>
      <p:sp>
        <p:nvSpPr>
          <p:cNvPr id="48" name="Text 40"/>
          <p:cNvSpPr txBox="1"/>
          <p:nvPr/>
        </p:nvSpPr>
        <p:spPr>
          <a:xfrm>
            <a:off x="7430414" y="3653028"/>
            <a:ext cx="362102" cy="219456"/>
          </a:xfrm>
          <a:prstGeom prst="rect">
            <a:avLst/>
          </a:prstGeom>
          <a:solidFill>
            <a:srgbClr val="EAF7F1"/>
          </a:solidFill>
          <a:ln w="12700">
            <a:solidFill>
              <a:srgbClr val="00B074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F3</a:t>
            </a:r>
            <a:endParaRPr lang="en-US" sz="800" dirty="0"/>
          </a:p>
        </p:txBody>
      </p:sp>
      <p:sp>
        <p:nvSpPr>
          <p:cNvPr id="49" name="Text 41"/>
          <p:cNvSpPr txBox="1"/>
          <p:nvPr/>
        </p:nvSpPr>
        <p:spPr>
          <a:xfrm>
            <a:off x="9138514" y="3653028"/>
            <a:ext cx="649224" cy="257861"/>
          </a:xfrm>
          <a:prstGeom prst="rect">
            <a:avLst/>
          </a:prstGeom>
          <a:solidFill>
            <a:srgbClr val="F7F8FA"/>
          </a:solidFill>
          <a:ln w="12700">
            <a:solidFill>
              <a:srgbClr val="C9CBD1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Playbook</a:t>
            </a:r>
            <a:endParaRPr lang="en-US" sz="800" dirty="0"/>
          </a:p>
        </p:txBody>
      </p:sp>
      <p:sp>
        <p:nvSpPr>
          <p:cNvPr id="50" name="Text 42"/>
          <p:cNvSpPr txBox="1"/>
          <p:nvPr/>
        </p:nvSpPr>
        <p:spPr>
          <a:xfrm>
            <a:off x="10069373" y="3653028"/>
            <a:ext cx="573329" cy="257861"/>
          </a:xfrm>
          <a:prstGeom prst="rect">
            <a:avLst/>
          </a:prstGeom>
          <a:solidFill>
            <a:srgbClr val="F7F8FA"/>
          </a:solidFill>
          <a:ln w="12700">
            <a:solidFill>
              <a:srgbClr val="C9CBD1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Sessões</a:t>
            </a:r>
            <a:endParaRPr lang="en-US" sz="800" dirty="0"/>
          </a:p>
        </p:txBody>
      </p:sp>
      <p:sp>
        <p:nvSpPr>
          <p:cNvPr id="51" name="Text 43"/>
          <p:cNvSpPr txBox="1"/>
          <p:nvPr/>
        </p:nvSpPr>
        <p:spPr>
          <a:xfrm>
            <a:off x="10767974" y="3653028"/>
            <a:ext cx="8293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+ Nosso time</a:t>
            </a:r>
            <a:endParaRPr lang="en-US" sz="100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657454" y="4338828"/>
            <a:ext cx="10877702" cy="9144"/>
          </a:xfrm>
          <a:prstGeom prst="rect">
            <a:avLst/>
          </a:prstGeom>
        </p:spPr>
      </p:pic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57454" y="4462272"/>
            <a:ext cx="190195" cy="19019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961949" y="4462272"/>
            <a:ext cx="1324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961949" y="4653382"/>
            <a:ext cx="1484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dias pós-go-live</a:t>
            </a:r>
            <a:endParaRPr lang="en-US" sz="1000" dirty="0"/>
          </a:p>
        </p:txBody>
      </p:sp>
      <p:sp>
        <p:nvSpPr>
          <p:cNvPr id="56" name="Text 46"/>
          <p:cNvSpPr txBox="1"/>
          <p:nvPr/>
        </p:nvSpPr>
        <p:spPr>
          <a:xfrm>
            <a:off x="3414370" y="4462272"/>
            <a:ext cx="3600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Suporte operacional e correções pós-implantação com SLAs definidos.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7091172" y="4462272"/>
            <a:ext cx="372161" cy="219456"/>
          </a:xfrm>
          <a:prstGeom prst="rect">
            <a:avLst/>
          </a:prstGeom>
          <a:solidFill>
            <a:srgbClr val="EAF7F1"/>
          </a:solidFill>
          <a:ln w="12700">
            <a:solidFill>
              <a:srgbClr val="00B074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F4</a:t>
            </a:r>
            <a:endParaRPr lang="en-US" sz="800" dirty="0"/>
          </a:p>
        </p:txBody>
      </p:sp>
      <p:sp>
        <p:nvSpPr>
          <p:cNvPr id="58" name="Text 48"/>
          <p:cNvSpPr txBox="1"/>
          <p:nvPr/>
        </p:nvSpPr>
        <p:spPr>
          <a:xfrm>
            <a:off x="9166860" y="4462272"/>
            <a:ext cx="544982" cy="257861"/>
          </a:xfrm>
          <a:prstGeom prst="rect">
            <a:avLst/>
          </a:prstGeom>
          <a:solidFill>
            <a:srgbClr val="F7F8FA"/>
          </a:solidFill>
          <a:ln w="12700">
            <a:solidFill>
              <a:srgbClr val="C9CBD1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Service</a:t>
            </a:r>
            <a:endParaRPr lang="en-US" sz="800" dirty="0"/>
          </a:p>
        </p:txBody>
      </p:sp>
      <p:sp>
        <p:nvSpPr>
          <p:cNvPr id="59" name="Text 49"/>
          <p:cNvSpPr txBox="1"/>
          <p:nvPr/>
        </p:nvSpPr>
        <p:spPr>
          <a:xfrm>
            <a:off x="9962388" y="4462272"/>
            <a:ext cx="534924" cy="257861"/>
          </a:xfrm>
          <a:prstGeom prst="rect">
            <a:avLst/>
          </a:prstGeom>
          <a:solidFill>
            <a:srgbClr val="F7F8FA"/>
          </a:solidFill>
          <a:ln w="12700">
            <a:solidFill>
              <a:srgbClr val="C9CBD1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30 dias</a:t>
            </a:r>
            <a:endParaRPr lang="en-US" sz="800" dirty="0"/>
          </a:p>
        </p:txBody>
      </p:sp>
      <p:sp>
        <p:nvSpPr>
          <p:cNvPr id="60" name="Text 50"/>
          <p:cNvSpPr txBox="1"/>
          <p:nvPr/>
        </p:nvSpPr>
        <p:spPr>
          <a:xfrm>
            <a:off x="10767974" y="4462272"/>
            <a:ext cx="8293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Nosso time</a:t>
            </a:r>
            <a:endParaRPr lang="en-US" sz="1000" dirty="0"/>
          </a:p>
        </p:txBody>
      </p:sp>
      <p:sp>
        <p:nvSpPr>
          <p:cNvPr id="61" name="Text 51"/>
          <p:cNvSpPr txBox="1"/>
          <p:nvPr/>
        </p:nvSpPr>
        <p:spPr>
          <a:xfrm>
            <a:off x="457200" y="5119726"/>
            <a:ext cx="11392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Matriz adaptável às necessidades da AXA. Entregáveis são versionados e documentados com governança.</a:t>
            </a:r>
            <a:endParaRPr lang="en-US" sz="1000" dirty="0"/>
          </a:p>
        </p:txBody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034272" y="2484425"/>
            <a:ext cx="105156" cy="105156"/>
          </a:xfrm>
          <a:prstGeom prst="rect">
            <a:avLst/>
          </a:prstGeom>
        </p:spPr>
      </p:pic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750" b="-1750"/>
          <a:stretch/>
        </p:blipFill>
        <p:spPr>
          <a:xfrm>
            <a:off x="9679838" y="2484425"/>
            <a:ext cx="114300" cy="105156"/>
          </a:xfrm>
          <a:prstGeom prst="rect">
            <a:avLst/>
          </a:prstGeom>
        </p:spPr>
      </p:pic>
      <p:pic>
        <p:nvPicPr>
          <p:cNvPr id="6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034272" y="3104388"/>
            <a:ext cx="105156" cy="105156"/>
          </a:xfrm>
          <a:prstGeom prst="rect">
            <a:avLst/>
          </a:prstGeom>
        </p:spPr>
      </p:pic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676181" y="3104388"/>
            <a:ext cx="105156" cy="105156"/>
          </a:xfrm>
          <a:prstGeom prst="rect">
            <a:avLst/>
          </a:prstGeom>
        </p:spPr>
      </p:pic>
      <p:pic>
        <p:nvPicPr>
          <p:cNvPr id="66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958" b="-1958"/>
          <a:stretch/>
        </p:blipFill>
        <p:spPr>
          <a:xfrm>
            <a:off x="9034272" y="3723437"/>
            <a:ext cx="75895" cy="105156"/>
          </a:xfrm>
          <a:prstGeom prst="rect">
            <a:avLst/>
          </a:prstGeom>
        </p:spPr>
      </p:pic>
      <p:pic>
        <p:nvPicPr>
          <p:cNvPr id="67" name="Image 13" descr="preencoded.png">    </p:cNvPr>
          <p:cNvPicPr>
            <a:picLocks noChangeAspect="1"/>
          </p:cNvPicPr>
          <p:nvPr/>
        </p:nvPicPr>
        <p:blipFill>
          <a:blip r:embed="rId14"/>
          <a:srcRect l="-783" r="-783" t="0" b="0"/>
          <a:stretch/>
        </p:blipFill>
        <p:spPr>
          <a:xfrm>
            <a:off x="9909353" y="3723437"/>
            <a:ext cx="133502" cy="105156"/>
          </a:xfrm>
          <a:prstGeom prst="rect">
            <a:avLst/>
          </a:prstGeom>
        </p:spPr>
      </p:pic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9034272" y="4532681"/>
            <a:ext cx="105156" cy="105156"/>
          </a:xfrm>
          <a:prstGeom prst="rect">
            <a:avLst/>
          </a:prstGeom>
        </p:spPr>
      </p:pic>
      <p:pic>
        <p:nvPicPr>
          <p:cNvPr id="69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9829800" y="4532681"/>
            <a:ext cx="105156" cy="1051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1305"/>
            <a:ext cx="3410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• Data Intelligence Framework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"/>
            <a:ext cx="11392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 Metrics &amp; KPIs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8700"/>
            <a:ext cx="117280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Painel executivo com 4 KPIs-chave: qualidade de dados, precisão de atribuição, sincronização com mídia e velocidade de decisão.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5900"/>
            <a:ext cx="5524805" cy="2190902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7454" y="1742846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86054" y="1686154"/>
            <a:ext cx="278892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Quality Score (0–100)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61204" y="1762049"/>
            <a:ext cx="114300" cy="114300"/>
          </a:xfrm>
          <a:prstGeom prst="ellipse">
            <a:avLst/>
          </a:prstGeom>
          <a:solidFill>
            <a:srgbClr val="EAF7F1"/>
          </a:solidFill>
          <a:ln w="25400">
            <a:solidFill>
              <a:srgbClr val="00B07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12994" y="1742846"/>
            <a:ext cx="648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Semáforo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57454" y="2104949"/>
            <a:ext cx="14100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B0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88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657454" y="2600554"/>
            <a:ext cx="15535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 atual (ilustrativo)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16652" r="-16652" t="0" b="0"/>
          <a:stretch/>
        </p:blipFill>
        <p:spPr>
          <a:xfrm>
            <a:off x="4257446" y="2238451"/>
            <a:ext cx="1524305" cy="3621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181551" y="2600554"/>
            <a:ext cx="1600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57454" y="3071470"/>
            <a:ext cx="857707" cy="256946"/>
          </a:xfrm>
          <a:prstGeom prst="roundRect">
            <a:avLst>
              <a:gd name="adj" fmla="val 355872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61695" y="3119018"/>
            <a:ext cx="77083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Baseline: 62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1584655" y="3071470"/>
            <a:ext cx="752551" cy="256946"/>
          </a:xfrm>
          <a:prstGeom prst="roundRect">
            <a:avLst>
              <a:gd name="adj" fmla="val 355872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688897" y="3119018"/>
            <a:ext cx="6464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Target: 90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4689043" y="3121762"/>
            <a:ext cx="13039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vs Target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210605" y="1485900"/>
            <a:ext cx="5524805" cy="2190902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6409944" y="1742846"/>
            <a:ext cx="171907" cy="15270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657746" y="1686154"/>
            <a:ext cx="260786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Attribution Accuracy (%)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10813694" y="1762049"/>
            <a:ext cx="114300" cy="114300"/>
          </a:xfrm>
          <a:prstGeom prst="ellipse">
            <a:avLst/>
          </a:prstGeom>
          <a:solidFill>
            <a:srgbClr val="FFF7DF"/>
          </a:solidFill>
          <a:ln w="25400">
            <a:solidFill>
              <a:srgbClr val="F5C97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0966399" y="1742846"/>
            <a:ext cx="648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Semáforo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6409944" y="2104949"/>
            <a:ext cx="14100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78%</a:t>
            </a:r>
            <a:endParaRPr lang="en-US" sz="3600" dirty="0"/>
          </a:p>
        </p:txBody>
      </p:sp>
      <p:sp>
        <p:nvSpPr>
          <p:cNvPr id="27" name="Text 22"/>
          <p:cNvSpPr txBox="1"/>
          <p:nvPr/>
        </p:nvSpPr>
        <p:spPr>
          <a:xfrm>
            <a:off x="6409944" y="2600554"/>
            <a:ext cx="15535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 atual (ilustrativo)</a:t>
            </a:r>
            <a:endParaRPr lang="en-US" sz="9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-16652" r="-16652" t="0" b="0"/>
          <a:stretch/>
        </p:blipFill>
        <p:spPr>
          <a:xfrm>
            <a:off x="10010851" y="2238451"/>
            <a:ext cx="1524305" cy="3621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934956" y="2600554"/>
            <a:ext cx="1600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409944" y="3071470"/>
            <a:ext cx="952805" cy="256946"/>
          </a:xfrm>
          <a:prstGeom prst="roundRect">
            <a:avLst>
              <a:gd name="adj" fmla="val 355872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515100" y="3119018"/>
            <a:ext cx="8750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Baseline: 60%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7436815" y="3071470"/>
            <a:ext cx="838505" cy="256946"/>
          </a:xfrm>
          <a:prstGeom prst="roundRect">
            <a:avLst>
              <a:gd name="adj" fmla="val 355872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541971" y="3119018"/>
            <a:ext cx="7397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Target: 85%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10442448" y="3121762"/>
            <a:ext cx="13039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vs Target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57200" y="3905402"/>
            <a:ext cx="5524805" cy="2266798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00" b="-100"/>
          <a:stretch/>
        </p:blipFill>
        <p:spPr>
          <a:xfrm>
            <a:off x="657454" y="4162349"/>
            <a:ext cx="114300" cy="15270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47649" y="4105656"/>
            <a:ext cx="308244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 Platform Sync Rate (%)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5061204" y="4181551"/>
            <a:ext cx="114300" cy="114300"/>
          </a:xfrm>
          <a:prstGeom prst="ellipse">
            <a:avLst/>
          </a:prstGeom>
          <a:solidFill>
            <a:srgbClr val="EAF7F1"/>
          </a:solidFill>
          <a:ln w="25400">
            <a:solidFill>
              <a:srgbClr val="00B074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5212994" y="4162349"/>
            <a:ext cx="648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Semáforo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657454" y="4524451"/>
            <a:ext cx="14100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B0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94%</a:t>
            </a:r>
            <a:endParaRPr lang="en-US" sz="3600" dirty="0"/>
          </a:p>
        </p:txBody>
      </p:sp>
      <p:sp>
        <p:nvSpPr>
          <p:cNvPr id="41" name="Text 34"/>
          <p:cNvSpPr txBox="1"/>
          <p:nvPr/>
        </p:nvSpPr>
        <p:spPr>
          <a:xfrm>
            <a:off x="657454" y="5020056"/>
            <a:ext cx="15535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 atual (ilustrativo)</a:t>
            </a:r>
            <a:endParaRPr lang="en-US" sz="9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rcRect l="-16652" r="-16652" t="0" b="0"/>
          <a:stretch/>
        </p:blipFill>
        <p:spPr>
          <a:xfrm>
            <a:off x="4257446" y="4657954"/>
            <a:ext cx="1524305" cy="362102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4181551" y="5020056"/>
            <a:ext cx="1600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657454" y="5567782"/>
            <a:ext cx="952805" cy="256946"/>
          </a:xfrm>
          <a:prstGeom prst="roundRect">
            <a:avLst>
              <a:gd name="adj" fmla="val 355872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761695" y="5615330"/>
            <a:ext cx="8750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Baseline: 70%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1679753" y="5567782"/>
            <a:ext cx="838505" cy="256946"/>
          </a:xfrm>
          <a:prstGeom prst="roundRect">
            <a:avLst>
              <a:gd name="adj" fmla="val 355872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1784909" y="5615330"/>
            <a:ext cx="7397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Target: 95%</a:t>
            </a:r>
            <a:endParaRPr lang="en-US" sz="800" dirty="0"/>
          </a:p>
        </p:txBody>
      </p:sp>
      <p:sp>
        <p:nvSpPr>
          <p:cNvPr id="48" name="Text 40"/>
          <p:cNvSpPr txBox="1"/>
          <p:nvPr/>
        </p:nvSpPr>
        <p:spPr>
          <a:xfrm>
            <a:off x="4689043" y="5617159"/>
            <a:ext cx="13039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vs Target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6210605" y="3905402"/>
            <a:ext cx="5524805" cy="2266798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6409944" y="4162349"/>
            <a:ext cx="133502" cy="152705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6620256" y="4105656"/>
            <a:ext cx="28712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Speed Improvement</a:t>
            </a:r>
            <a:endParaRPr lang="en-US" sz="1300" dirty="0"/>
          </a:p>
        </p:txBody>
      </p:sp>
      <p:sp>
        <p:nvSpPr>
          <p:cNvPr id="52" name="Shape 43"/>
          <p:cNvSpPr/>
          <p:nvPr/>
        </p:nvSpPr>
        <p:spPr>
          <a:xfrm>
            <a:off x="10813694" y="4181551"/>
            <a:ext cx="114300" cy="114300"/>
          </a:xfrm>
          <a:prstGeom prst="ellipse">
            <a:avLst/>
          </a:prstGeom>
          <a:solidFill>
            <a:srgbClr val="EAF7F1"/>
          </a:solidFill>
          <a:ln w="25400">
            <a:solidFill>
              <a:srgbClr val="00B074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10966399" y="4162349"/>
            <a:ext cx="648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Semáforo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6409944" y="4524451"/>
            <a:ext cx="1954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B0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h</a:t>
            </a:r>
            <a:endParaRPr lang="en-US" sz="3600" dirty="0"/>
          </a:p>
        </p:txBody>
      </p:sp>
      <p:sp>
        <p:nvSpPr>
          <p:cNvPr id="55" name="Text 46"/>
          <p:cNvSpPr txBox="1"/>
          <p:nvPr/>
        </p:nvSpPr>
        <p:spPr>
          <a:xfrm>
            <a:off x="6409944" y="5020056"/>
            <a:ext cx="21543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5 dias → 12 horas (ilustrativo)</a:t>
            </a:r>
            <a:endParaRPr lang="en-US" sz="900" dirty="0"/>
          </a:p>
        </p:txBody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rcRect l="-16652" r="-16652" t="0" b="0"/>
          <a:stretch/>
        </p:blipFill>
        <p:spPr>
          <a:xfrm>
            <a:off x="10010851" y="4657954"/>
            <a:ext cx="1524305" cy="362102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9934956" y="5020056"/>
            <a:ext cx="1600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6409944" y="5490972"/>
            <a:ext cx="1037844" cy="256946"/>
          </a:xfrm>
          <a:prstGeom prst="roundRect">
            <a:avLst>
              <a:gd name="adj" fmla="val 355872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6515100" y="5538521"/>
            <a:ext cx="9866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Baseline: 5 dias</a:t>
            </a:r>
            <a:endParaRPr lang="en-US" sz="800" dirty="0"/>
          </a:p>
        </p:txBody>
      </p:sp>
      <p:sp>
        <p:nvSpPr>
          <p:cNvPr id="60" name="Shape 50"/>
          <p:cNvSpPr/>
          <p:nvPr/>
        </p:nvSpPr>
        <p:spPr>
          <a:xfrm>
            <a:off x="7520940" y="5490972"/>
            <a:ext cx="914400" cy="256946"/>
          </a:xfrm>
          <a:prstGeom prst="roundRect">
            <a:avLst>
              <a:gd name="adj" fmla="val 355872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61" name="Text 51"/>
          <p:cNvSpPr txBox="1"/>
          <p:nvPr/>
        </p:nvSpPr>
        <p:spPr>
          <a:xfrm>
            <a:off x="7625182" y="5538521"/>
            <a:ext cx="83941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Target: &lt; 24h</a:t>
            </a:r>
            <a:endParaRPr lang="en-US" sz="800" dirty="0"/>
          </a:p>
        </p:txBody>
      </p:sp>
      <p:sp>
        <p:nvSpPr>
          <p:cNvPr id="62" name="Text 52"/>
          <p:cNvSpPr txBox="1"/>
          <p:nvPr/>
        </p:nvSpPr>
        <p:spPr>
          <a:xfrm>
            <a:off x="10442448" y="5541264"/>
            <a:ext cx="13039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vs Target</a:t>
            </a:r>
            <a:endParaRPr lang="en-US" sz="900" dirty="0"/>
          </a:p>
        </p:txBody>
      </p:sp>
      <p:sp>
        <p:nvSpPr>
          <p:cNvPr id="63" name="Text 53"/>
          <p:cNvSpPr txBox="1"/>
          <p:nvPr/>
        </p:nvSpPr>
        <p:spPr>
          <a:xfrm>
            <a:off x="11124590" y="5820156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900" dirty="0"/>
          </a:p>
        </p:txBody>
      </p:sp>
      <p:sp>
        <p:nvSpPr>
          <p:cNvPr id="64" name="Text 54"/>
          <p:cNvSpPr txBox="1"/>
          <p:nvPr/>
        </p:nvSpPr>
        <p:spPr>
          <a:xfrm>
            <a:off x="457200" y="6286500"/>
            <a:ext cx="11392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Valores ilustrativos para apresentação. KPIs serão parametrizados com baseline e metas acordadas com a AXA.</a:t>
            </a:r>
            <a:endParaRPr lang="en-US" sz="1000" dirty="0"/>
          </a:p>
        </p:txBody>
      </p:sp>
      <p:pic>
        <p:nvPicPr>
          <p:cNvPr id="65" name="Image 8" descr="preencoded.png">    </p:cNvPr>
          <p:cNvPicPr>
            <a:picLocks noChangeAspect="1"/>
          </p:cNvPicPr>
          <p:nvPr/>
        </p:nvPicPr>
        <p:blipFill>
          <a:blip r:embed="rId9"/>
          <a:srcRect l="-200" r="-200" t="0" b="0"/>
          <a:stretch/>
        </p:blipFill>
        <p:spPr>
          <a:xfrm>
            <a:off x="657454" y="3400654"/>
            <a:ext cx="5124298" cy="75895"/>
          </a:xfrm>
          <a:prstGeom prst="rect">
            <a:avLst/>
          </a:prstGeom>
        </p:spPr>
      </p:pic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0"/>
          <a:srcRect l="-205" r="-205" t="0" b="0"/>
          <a:stretch/>
        </p:blipFill>
        <p:spPr>
          <a:xfrm>
            <a:off x="657454" y="3400654"/>
            <a:ext cx="4509821" cy="75895"/>
          </a:xfrm>
          <a:prstGeom prst="rect">
            <a:avLst/>
          </a:prstGeom>
        </p:spPr>
      </p:pic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rcRect l="-299" r="-299" t="0" b="0"/>
          <a:stretch/>
        </p:blipFill>
        <p:spPr>
          <a:xfrm>
            <a:off x="5268773" y="3362249"/>
            <a:ext cx="19202" cy="152705"/>
          </a:xfrm>
          <a:prstGeom prst="rect">
            <a:avLst/>
          </a:prstGeom>
        </p:spPr>
      </p:pic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12"/>
          <a:srcRect l="-200" r="-200" t="0" b="0"/>
          <a:stretch/>
        </p:blipFill>
        <p:spPr>
          <a:xfrm>
            <a:off x="6409944" y="3400654"/>
            <a:ext cx="5124298" cy="75895"/>
          </a:xfrm>
          <a:prstGeom prst="rect">
            <a:avLst/>
          </a:prstGeom>
        </p:spPr>
      </p:pic>
      <p:pic>
        <p:nvPicPr>
          <p:cNvPr id="69" name="Image 12" descr="preencoded.png">    </p:cNvPr>
          <p:cNvPicPr>
            <a:picLocks noChangeAspect="1"/>
          </p:cNvPicPr>
          <p:nvPr/>
        </p:nvPicPr>
        <p:blipFill>
          <a:blip r:embed="rId13"/>
          <a:srcRect l="-200" r="-200" t="0" b="0"/>
          <a:stretch/>
        </p:blipFill>
        <p:spPr>
          <a:xfrm>
            <a:off x="6409944" y="3400654"/>
            <a:ext cx="3996842" cy="75895"/>
          </a:xfrm>
          <a:prstGeom prst="rect">
            <a:avLst/>
          </a:prstGeom>
        </p:spPr>
      </p:pic>
      <p:pic>
        <p:nvPicPr>
          <p:cNvPr id="70" name="Image 13" descr="preencoded.png">    </p:cNvPr>
          <p:cNvPicPr>
            <a:picLocks noChangeAspect="1"/>
          </p:cNvPicPr>
          <p:nvPr/>
        </p:nvPicPr>
        <p:blipFill>
          <a:blip r:embed="rId14"/>
          <a:srcRect l="-299" r="-299" t="0" b="0"/>
          <a:stretch/>
        </p:blipFill>
        <p:spPr>
          <a:xfrm>
            <a:off x="10766146" y="3362249"/>
            <a:ext cx="19202" cy="152705"/>
          </a:xfrm>
          <a:prstGeom prst="rect">
            <a:avLst/>
          </a:prstGeom>
        </p:spPr>
      </p:pic>
      <p:pic>
        <p:nvPicPr>
          <p:cNvPr id="71" name="Image 14" descr="preencoded.png">    </p:cNvPr>
          <p:cNvPicPr>
            <a:picLocks noChangeAspect="1"/>
          </p:cNvPicPr>
          <p:nvPr/>
        </p:nvPicPr>
        <p:blipFill>
          <a:blip r:embed="rId15"/>
          <a:srcRect l="-200" r="-200" t="0" b="0"/>
          <a:stretch/>
        </p:blipFill>
        <p:spPr>
          <a:xfrm>
            <a:off x="657454" y="5896051"/>
            <a:ext cx="5124298" cy="75895"/>
          </a:xfrm>
          <a:prstGeom prst="rect">
            <a:avLst/>
          </a:prstGeom>
        </p:spPr>
      </p:pic>
      <p:pic>
        <p:nvPicPr>
          <p:cNvPr id="72" name="Image 15" descr="preencoded.png">    </p:cNvPr>
          <p:cNvPicPr>
            <a:picLocks noChangeAspect="1"/>
          </p:cNvPicPr>
          <p:nvPr/>
        </p:nvPicPr>
        <p:blipFill>
          <a:blip r:embed="rId16"/>
          <a:srcRect l="-202" r="-202" t="0" b="0"/>
          <a:stretch/>
        </p:blipFill>
        <p:spPr>
          <a:xfrm>
            <a:off x="657454" y="5896051"/>
            <a:ext cx="4817059" cy="75895"/>
          </a:xfrm>
          <a:prstGeom prst="rect">
            <a:avLst/>
          </a:prstGeom>
        </p:spPr>
      </p:pic>
      <p:pic>
        <p:nvPicPr>
          <p:cNvPr id="73" name="Image 16" descr="preencoded.png">    </p:cNvPr>
          <p:cNvPicPr>
            <a:picLocks noChangeAspect="1"/>
          </p:cNvPicPr>
          <p:nvPr/>
        </p:nvPicPr>
        <p:blipFill>
          <a:blip r:embed="rId17"/>
          <a:srcRect l="-299" r="-299" t="0" b="0"/>
          <a:stretch/>
        </p:blipFill>
        <p:spPr>
          <a:xfrm>
            <a:off x="5525719" y="5857646"/>
            <a:ext cx="19202" cy="152705"/>
          </a:xfrm>
          <a:prstGeom prst="rect">
            <a:avLst/>
          </a:prstGeom>
        </p:spPr>
      </p:pic>
      <p:pic>
        <p:nvPicPr>
          <p:cNvPr id="74" name="Image 17" descr="preencoded.png">    </p:cNvPr>
          <p:cNvPicPr>
            <a:picLocks noChangeAspect="1"/>
          </p:cNvPicPr>
          <p:nvPr/>
        </p:nvPicPr>
        <p:blipFill>
          <a:blip r:embed="rId18"/>
          <a:srcRect l="-205" r="-205" t="0" b="0"/>
          <a:stretch/>
        </p:blipFill>
        <p:spPr>
          <a:xfrm>
            <a:off x="6409944" y="5857646"/>
            <a:ext cx="4600346" cy="75895"/>
          </a:xfrm>
          <a:prstGeom prst="rect">
            <a:avLst/>
          </a:prstGeom>
        </p:spPr>
      </p:pic>
      <p:pic>
        <p:nvPicPr>
          <p:cNvPr id="75" name="Image 18" descr="preencoded.png">    </p:cNvPr>
          <p:cNvPicPr>
            <a:picLocks noChangeAspect="1"/>
          </p:cNvPicPr>
          <p:nvPr/>
        </p:nvPicPr>
        <p:blipFill>
          <a:blip r:embed="rId19"/>
          <a:srcRect l="-196" r="-196" t="0" b="0"/>
          <a:stretch/>
        </p:blipFill>
        <p:spPr>
          <a:xfrm>
            <a:off x="6409944" y="5857646"/>
            <a:ext cx="3679546" cy="75895"/>
          </a:xfrm>
          <a:prstGeom prst="rect">
            <a:avLst/>
          </a:prstGeom>
        </p:spPr>
      </p:pic>
      <p:pic>
        <p:nvPicPr>
          <p:cNvPr id="76" name="Image 19" descr="preencoded.png">    </p:cNvPr>
          <p:cNvPicPr>
            <a:picLocks noChangeAspect="1"/>
          </p:cNvPicPr>
          <p:nvPr/>
        </p:nvPicPr>
        <p:blipFill>
          <a:blip r:embed="rId20"/>
          <a:srcRect l="-299" r="-299" t="0" b="0"/>
          <a:stretch/>
        </p:blipFill>
        <p:spPr>
          <a:xfrm>
            <a:off x="10550347" y="5820156"/>
            <a:ext cx="19202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2394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AXA • Data Intelligence Framework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603382" y="381305"/>
            <a:ext cx="1133856" cy="256946"/>
          </a:xfrm>
          <a:prstGeom prst="roundRect">
            <a:avLst>
              <a:gd name="adj" fmla="val 355872"/>
            </a:avLst>
          </a:prstGeom>
          <a:solidFill>
            <a:srgbClr val="F7F8FA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08538" y="428854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&amp; ROI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09574"/>
            <a:ext cx="11392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&amp; ROI Model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90879"/>
            <a:ext cx="11392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Comparativo de custo do projeto vs cost of inaction, timeline de break-even e faixas de ROI por cenário.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09674"/>
            <a:ext cx="7248449" cy="5105095"/>
          </a:xfrm>
          <a:prstGeom prst="roundRect">
            <a:avLst>
              <a:gd name="adj" fmla="val 401"/>
            </a:avLst>
          </a:prstGeom>
          <a:solidFill>
            <a:srgbClr val="FFFFFF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7454" y="1709928"/>
            <a:ext cx="32863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 vs Inação e Benefício acumulado (ilustrativo)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63340" y="1843430"/>
            <a:ext cx="105156" cy="114300"/>
          </a:xfrm>
          <a:prstGeom prst="roundRect">
            <a:avLst>
              <a:gd name="adj" fmla="val 237154"/>
            </a:avLst>
          </a:prstGeom>
          <a:solidFill>
            <a:srgbClr val="0A24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42562" y="1747418"/>
            <a:ext cx="9144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 do projeto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48402" y="1843430"/>
            <a:ext cx="105156" cy="114300"/>
          </a:xfrm>
          <a:prstGeom prst="roundRect">
            <a:avLst>
              <a:gd name="adj" fmla="val 237154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27625" y="1747418"/>
            <a:ext cx="8668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of Inaction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85916" y="1886407"/>
            <a:ext cx="142646" cy="28346"/>
          </a:xfrm>
          <a:prstGeom prst="roundRect">
            <a:avLst>
              <a:gd name="adj" fmla="val 2150568"/>
            </a:avLst>
          </a:prstGeom>
          <a:solidFill>
            <a:srgbClr val="00B07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99886" y="1747418"/>
            <a:ext cx="11622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Benefício acumulado</a:t>
            </a:r>
            <a:endParaRPr lang="en-US" sz="9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-77" r="-77" t="0" b="0"/>
          <a:stretch/>
        </p:blipFill>
        <p:spPr>
          <a:xfrm>
            <a:off x="657454" y="2204618"/>
            <a:ext cx="6848856" cy="3047695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657454" y="5386730"/>
            <a:ext cx="133502" cy="1527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66851" y="5367528"/>
            <a:ext cx="20775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Break-even estimado em M3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24351" y="5386730"/>
            <a:ext cx="152705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952951" y="5386730"/>
            <a:ext cx="4200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Valores e horizonte meramente ilustrativos para apresentação.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8008315" y="1509674"/>
            <a:ext cx="3733495" cy="2495398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207654" y="1709928"/>
            <a:ext cx="34482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ROI por cenário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8207654" y="2128723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Conservador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0972800" y="2128723"/>
            <a:ext cx="6803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1,5×–2,0×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-198" r="-198" t="0" b="0"/>
          <a:stretch/>
        </p:blipFill>
        <p:spPr>
          <a:xfrm>
            <a:off x="8207654" y="2395728"/>
            <a:ext cx="3326587" cy="75895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-202" r="-202" t="0" b="0"/>
          <a:stretch/>
        </p:blipFill>
        <p:spPr>
          <a:xfrm>
            <a:off x="8207654" y="2395728"/>
            <a:ext cx="1829714" cy="7589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207654" y="2585923"/>
            <a:ext cx="419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0935310" y="2585923"/>
            <a:ext cx="7141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2,0×–3,0×</a:t>
            </a:r>
            <a:endParaRPr lang="en-US" sz="10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-198" r="-198" t="0" b="0"/>
          <a:stretch/>
        </p:blipFill>
        <p:spPr>
          <a:xfrm>
            <a:off x="8207654" y="2852928"/>
            <a:ext cx="3326587" cy="75895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210" r="-210" t="0" b="0"/>
          <a:stretch/>
        </p:blipFill>
        <p:spPr>
          <a:xfrm>
            <a:off x="8207654" y="2852928"/>
            <a:ext cx="2495398" cy="7589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207654" y="3043123"/>
            <a:ext cx="77083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Agressivo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10917022" y="3043123"/>
            <a:ext cx="7370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3,0×–4,0×</a:t>
            </a:r>
            <a:endParaRPr lang="en-US" sz="10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-198" r="-198" t="0" b="0"/>
          <a:stretch/>
        </p:blipFill>
        <p:spPr>
          <a:xfrm>
            <a:off x="8207654" y="3310128"/>
            <a:ext cx="3326587" cy="75895"/>
          </a:xfrm>
          <a:prstGeom prst="rect">
            <a:avLst/>
          </a:prstGeom>
        </p:spPr>
      </p:pic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rcRect l="-201" r="-201" t="0" b="0"/>
          <a:stretch/>
        </p:blipFill>
        <p:spPr>
          <a:xfrm>
            <a:off x="8207654" y="3310128"/>
            <a:ext cx="3060497" cy="7589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8207654" y="3500323"/>
            <a:ext cx="34107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Faixas estimadas dependem de mix de mídia, ticket e ciclo de venda.</a:t>
            </a:r>
            <a:endParaRPr lang="en-US" sz="900" dirty="0"/>
          </a:p>
        </p:txBody>
      </p:sp>
      <p:sp>
        <p:nvSpPr>
          <p:cNvPr id="37" name="Shape 26"/>
          <p:cNvSpPr/>
          <p:nvPr/>
        </p:nvSpPr>
        <p:spPr>
          <a:xfrm>
            <a:off x="8008315" y="4196182"/>
            <a:ext cx="3733495" cy="2419502"/>
          </a:xfrm>
          <a:prstGeom prst="roundRect">
            <a:avLst>
              <a:gd name="adj" fmla="val 1785"/>
            </a:avLst>
          </a:prstGeom>
          <a:solidFill>
            <a:srgbClr val="FFFFFF"/>
          </a:solidFill>
          <a:ln w="12700">
            <a:solidFill>
              <a:srgbClr val="C9CBD1"/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8207654" y="4395521"/>
            <a:ext cx="34482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Assunções-chave</a:t>
            </a:r>
            <a:endParaRPr lang="en-US" sz="13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207654" y="4776826"/>
            <a:ext cx="152705" cy="152705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8474659" y="4776826"/>
            <a:ext cx="3029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Eficiência de mídia</a:t>
            </a:r>
            <a:endParaRPr lang="en-US" sz="1000" dirty="0"/>
          </a:p>
        </p:txBody>
      </p:sp>
      <p:sp>
        <p:nvSpPr>
          <p:cNvPr id="41" name="Text 29"/>
          <p:cNvSpPr txBox="1"/>
          <p:nvPr/>
        </p:nvSpPr>
        <p:spPr>
          <a:xfrm>
            <a:off x="8474659" y="4967021"/>
            <a:ext cx="34664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Redução de dispersão de budget (ex.: −15%).</a:t>
            </a:r>
            <a:endParaRPr lang="en-US" sz="100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rcRect l="-33" r="-33" t="0" b="0"/>
          <a:stretch/>
        </p:blipFill>
        <p:spPr>
          <a:xfrm>
            <a:off x="8207654" y="5272430"/>
            <a:ext cx="171907" cy="152705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8493862" y="5272430"/>
            <a:ext cx="3086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Precisão de atribuição</a:t>
            </a:r>
            <a:endParaRPr lang="en-US" sz="1000" dirty="0"/>
          </a:p>
        </p:txBody>
      </p:sp>
      <p:sp>
        <p:nvSpPr>
          <p:cNvPr id="44" name="Text 31"/>
          <p:cNvSpPr txBox="1"/>
          <p:nvPr/>
        </p:nvSpPr>
        <p:spPr>
          <a:xfrm>
            <a:off x="8493862" y="5462626"/>
            <a:ext cx="35323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Melhora com eventos validados (ex.: +10 p.p.).</a:t>
            </a:r>
            <a:endParaRPr lang="en-US" sz="100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rcRect l="-33" r="-33" t="0" b="0"/>
          <a:stretch/>
        </p:blipFill>
        <p:spPr>
          <a:xfrm>
            <a:off x="8207654" y="5767121"/>
            <a:ext cx="171907" cy="152705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8493862" y="5767121"/>
            <a:ext cx="2724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Redução de CAC</a:t>
            </a:r>
            <a:endParaRPr lang="en-US" sz="1000" dirty="0"/>
          </a:p>
        </p:txBody>
      </p:sp>
      <p:sp>
        <p:nvSpPr>
          <p:cNvPr id="47" name="Text 33"/>
          <p:cNvSpPr txBox="1"/>
          <p:nvPr/>
        </p:nvSpPr>
        <p:spPr>
          <a:xfrm>
            <a:off x="8493862" y="5958230"/>
            <a:ext cx="3117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Audiências e sinais melhores (ex.: −12%).</a:t>
            </a:r>
            <a:endParaRPr lang="en-US" sz="1000" dirty="0"/>
          </a:p>
        </p:txBody>
      </p:sp>
      <p:sp>
        <p:nvSpPr>
          <p:cNvPr id="48" name="Text 34"/>
          <p:cNvSpPr txBox="1"/>
          <p:nvPr/>
        </p:nvSpPr>
        <p:spPr>
          <a:xfrm>
            <a:off x="8207654" y="6262726"/>
            <a:ext cx="3448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Assunções serão calibradas com dados da AXA.</a:t>
            </a:r>
            <a:endParaRPr lang="en-US" sz="900" dirty="0"/>
          </a:p>
        </p:txBody>
      </p:sp>
      <p:sp>
        <p:nvSpPr>
          <p:cNvPr id="49" name="Text 35"/>
          <p:cNvSpPr txBox="1"/>
          <p:nvPr/>
        </p:nvSpPr>
        <p:spPr>
          <a:xfrm>
            <a:off x="457200" y="6729070"/>
            <a:ext cx="11392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Comparativo inclui custo do projeto e custo da inação (perdas por dados fragmentados e oportunidades não capturadas).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2026-01-28T17:57:26Z</dcterms:created>
  <dcterms:modified xsi:type="dcterms:W3CDTF">2026-01-28T17:57:26Z</dcterms:modified>
</cp:coreProperties>
</file>