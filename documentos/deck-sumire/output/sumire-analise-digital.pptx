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PERFUMARIA SUMIRÊ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Análise de Presença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59436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V4 Carvalho Consultoria Digital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Metodologia e Ferramentas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/>
            </a:pPr>
            <a:r>
              <a:t>Esta análise foi realizada utilizando ferramentas profissionais de mercado para garantir precisão e profundidade nos dados coletados:</a:t>
            </a:r>
            <a:br/>
          </a:p>
          <a:p>
            <a:pPr>
              <a:spcBef>
                <a:spcPts val="1000"/>
              </a:spcBef>
              <a:defRPr sz="1600"/>
            </a:pPr>
            <a:r>
              <a:t>• SimilarWeb — Análise de tráfego e comportamento de audiência</a:t>
            </a:r>
          </a:p>
          <a:p>
            <a:pPr>
              <a:spcBef>
                <a:spcPts val="1000"/>
              </a:spcBef>
              <a:defRPr sz="1600"/>
            </a:pPr>
            <a:r>
              <a:t>• Ubersuggest — SEO, keywords e posicionamento orgânico</a:t>
            </a:r>
          </a:p>
          <a:p>
            <a:pPr>
              <a:spcBef>
                <a:spcPts val="1000"/>
              </a:spcBef>
              <a:defRPr sz="1600"/>
            </a:pPr>
            <a:r>
              <a:t>• Google PageSpeed Insights — Performance técnica do site</a:t>
            </a:r>
          </a:p>
          <a:p>
            <a:pPr>
              <a:spcBef>
                <a:spcPts val="1000"/>
              </a:spcBef>
              <a:defRPr sz="1600"/>
            </a:pPr>
            <a:r>
              <a:t>• Google Trends — Tendências de busca e sazonalidade</a:t>
            </a:r>
          </a:p>
          <a:p>
            <a:pPr>
              <a:spcBef>
                <a:spcPts val="1000"/>
              </a:spcBef>
              <a:defRPr sz="1600"/>
            </a:pPr>
            <a:r>
              <a:t>• DevTools — Análise de tags, pixels e implementações técnicas</a:t>
            </a:r>
          </a:p>
          <a:p>
            <a:pPr>
              <a:spcBef>
                <a:spcPts val="1000"/>
              </a:spcBef>
              <a:defRPr sz="1600"/>
            </a:pPr>
            <a:r>
              <a:t>• Testes em LLMs — ChatGPT, Perplexity, Gemini, Claude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B35"/>
                </a:solidFill>
              </a:defRPr>
            </a:pPr>
            <a:r>
              <a:t>Perfumaria Sumirê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800" b="1">
                <a:solidFill>
                  <a:srgbClr val="4ECDC4"/>
                </a:solidFill>
              </a:defRPr>
            </a:pPr>
            <a:r>
              <a:t>História</a:t>
            </a:r>
          </a:p>
          <a:p>
            <a:pPr>
              <a:defRPr sz="1400"/>
            </a:pPr>
            <a:r>
              <a:t>Fundada em 1984, a Perfumaria Sumirê é uma das maiores redes de perfumarias do Brasil, com mais de 0 anos de tradição no mercado.</a:t>
            </a:r>
          </a:p>
          <a:p>
            <a:pPr>
              <a:spcBef>
                <a:spcPts val="2000"/>
              </a:spcBef>
              <a:defRPr sz="1800" b="1">
                <a:solidFill>
                  <a:srgbClr val="4ECDC4"/>
                </a:solidFill>
              </a:defRPr>
            </a:pPr>
            <a:r>
              <a:t>Presença Física</a:t>
            </a:r>
          </a:p>
          <a:p>
            <a:pPr>
              <a:defRPr sz="1400"/>
            </a:pPr>
            <a:r>
              <a:t>Aproximadamente 70 lojas estrategicamente localizadas em São Paulo, atendendo diversos bairros e regiões da capital e interior.</a:t>
            </a:r>
          </a:p>
          <a:p>
            <a:pPr>
              <a:spcBef>
                <a:spcPts val="2000"/>
              </a:spcBef>
              <a:defRPr sz="1800" b="1">
                <a:solidFill>
                  <a:srgbClr val="4ECDC4"/>
                </a:solidFill>
              </a:defRPr>
            </a:pPr>
            <a:r>
              <a:t>Digital</a:t>
            </a:r>
          </a:p>
          <a:p>
            <a:pPr>
              <a:defRPr sz="1400"/>
            </a:pPr>
            <a:r>
              <a:t>Forte presença no Instagram com 124,000 seguidores, além de e-commerce próprio e app Sumirê Club VIP para programa de fidelidade.</a:t>
            </a:r>
          </a:p>
          <a:p>
            <a:pPr>
              <a:spcBef>
                <a:spcPts val="2000"/>
              </a:spcBef>
              <a:defRPr sz="1800" b="1">
                <a:solidFill>
                  <a:srgbClr val="4ECDC4"/>
                </a:solidFill>
              </a:defRPr>
            </a:pPr>
            <a:r>
              <a:t>Posicionamento</a:t>
            </a:r>
          </a:p>
          <a:p>
            <a:pPr>
              <a:defRPr sz="1400"/>
            </a:pPr>
            <a:r>
              <a:t>"Maior rede de perfumarias do Brasil" — Competindo com grandes players nacionais e internacionais no setor de beleza e cosméticos.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Radar de Maturidade Digital</a:t>
            </a:r>
          </a:p>
        </p:txBody>
      </p:sp>
      <p:pic>
        <p:nvPicPr>
          <p:cNvPr id="3" name="Picture 2" descr="radar_sum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01542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Fundamentos Técnicos — Matriz de Priorização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1371600"/>
                <a:gridCol w="128016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Ponto de Melhoria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Esforço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Prioridade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Otimizar velocidade 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Implementar remarketing avançado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Baixo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Estruturar CRM integrado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7B73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Melhorar SEO 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Baixo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7B73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Adicionar chatbot inteligente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Expandir presença em LLMs (GEO)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Baixo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7B7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Comparativo de Maturidade Digital</a:t>
            </a:r>
          </a:p>
        </p:txBody>
      </p:sp>
      <p:pic>
        <p:nvPicPr>
          <p:cNvPr id="3" name="Picture 2" descr="radar_competi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50808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Evolução de Tráfego — 12 Meses</a:t>
            </a:r>
          </a:p>
        </p:txBody>
      </p:sp>
      <p:pic>
        <p:nvPicPr>
          <p:cNvPr id="3" name="Picture 2" descr="traffic_12mon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959027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Comparativo de Canais — Concorrentes</a:t>
            </a:r>
          </a:p>
        </p:txBody>
      </p:sp>
      <p:pic>
        <p:nvPicPr>
          <p:cNvPr id="3" name="Picture 2" descr="competitors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37477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Fluxo de Tráfego — Origem e Destino</a:t>
            </a:r>
          </a:p>
        </p:txBody>
      </p:sp>
      <p:pic>
        <p:nvPicPr>
          <p:cNvPr id="3" name="Picture 2" descr="sanke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094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Top 15 Keywords Transacionais</a:t>
            </a:r>
          </a:p>
        </p:txBody>
      </p:sp>
      <p:pic>
        <p:nvPicPr>
          <p:cNvPr id="3" name="Picture 2" descr="keyword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2723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Demanda de Mercado — 12 Meses</a:t>
            </a:r>
          </a:p>
        </p:txBody>
      </p:sp>
      <p:pic>
        <p:nvPicPr>
          <p:cNvPr id="3" name="Picture 2" descr="deman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958563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 Importância do SEO + GEO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800" b="1">
                <a:solidFill>
                  <a:srgbClr val="FF6B35"/>
                </a:solidFill>
              </a:defRPr>
            </a:pPr>
            <a:r>
              <a:t>SEO (Search Engine Optimization)</a:t>
            </a:r>
          </a:p>
          <a:p>
            <a:pPr>
              <a:spcAft>
                <a:spcPts val="1000"/>
              </a:spcAft>
              <a:defRPr sz="1500"/>
            </a:pPr>
            <a:r>
              <a:t>Posicionamento em buscadores tradicionais (Google, Bing) para capturar demanda ativa de usuários buscando produtos e serviços.</a:t>
            </a:r>
          </a:p>
          <a:p>
            <a:pPr>
              <a:spcBef>
                <a:spcPts val="2200"/>
              </a:spcBef>
              <a:defRPr sz="1800" b="1">
                <a:solidFill>
                  <a:srgbClr val="FF6B35"/>
                </a:solidFill>
              </a:defRPr>
            </a:pPr>
            <a:r>
              <a:t>GEO (Generative Engine Optimization)</a:t>
            </a:r>
          </a:p>
          <a:p>
            <a:pPr>
              <a:spcAft>
                <a:spcPts val="1000"/>
              </a:spcAft>
              <a:defRPr sz="1500"/>
            </a:pPr>
            <a:r>
              <a:t>Otimização para aparecer em respostas de LLMs (ChatGPT, Perplexity, Gemini, Claude) que estão se tornando o novo canal de descoberta de marcas.</a:t>
            </a:r>
          </a:p>
          <a:p>
            <a:pPr>
              <a:spcBef>
                <a:spcPts val="2200"/>
              </a:spcBef>
              <a:defRPr sz="1800" b="1">
                <a:solidFill>
                  <a:srgbClr val="FF6B35"/>
                </a:solidFill>
              </a:defRPr>
            </a:pPr>
            <a:r>
              <a:t>Por que é crítico para Sumirê?</a:t>
            </a:r>
          </a:p>
          <a:p>
            <a:pPr>
              <a:spcAft>
                <a:spcPts val="1000"/>
              </a:spcAft>
              <a:defRPr sz="1500"/>
            </a:pPr>
            <a:r>
              <a:t>• Busca orgânica = Custo de aquisição zero</a:t>
            </a:r>
            <a:br/>
            <a:r>
              <a:t>• LLMs respondem 40% das buscas em 2026</a:t>
            </a:r>
            <a:br/>
            <a:r>
              <a:t>• Presença em ambos = Máxima visibilidade</a:t>
            </a:r>
            <a:br/>
            <a:r>
              <a:t>• Concorrentes ainda não dominam este espaço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Presença em LLMs — Ranking de Menções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2011680"/>
          <a:ext cx="76809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78638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LLM / Marca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Época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Boticário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Sumirê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Sephora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Natura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2º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1º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3º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5º</a:t>
                      </a:r>
                    </a:p>
                  </a:txBody>
                  <a:tcPr/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Perplexity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1º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3º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4º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2º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5º</a:t>
                      </a:r>
                    </a:p>
                  </a:txBody>
                  <a:tcPr/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2º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1º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5º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3º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4º</a:t>
                      </a:r>
                    </a:p>
                  </a:txBody>
                  <a:tcPr/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1º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2º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4º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3º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5º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