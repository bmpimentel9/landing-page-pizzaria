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4572000" cy="6720840"/>
          </a:xfrm>
          <a:prstGeom prst="rect">
            <a:avLst/>
          </a:prstGeom>
          <a:solidFill>
            <a:srgbClr val="1F4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6B35"/>
                </a:solidFill>
                <a:latin typeface="Calibri"/>
              </a:rPr>
              <a:t>v4</a:t>
            </a:r>
            <a:r>
              <a:rPr sz="2800">
                <a:solidFill>
                  <a:srgbClr val="FFFFFF"/>
                </a:solidFill>
                <a:latin typeface="Calibri"/>
              </a:rPr>
              <a:t> company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Analise Digital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3931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8EA9DB"/>
                </a:solidFill>
                <a:latin typeface="Calibri"/>
              </a:rPr>
              <a:t>Oportunidades de Transformacao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286000"/>
            <a:ext cx="6675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200" b="1">
                <a:solidFill>
                  <a:srgbClr val="1F4788"/>
                </a:solidFill>
                <a:latin typeface="Calibri"/>
              </a:rPr>
              <a:t>Perfumaria Sumire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383280"/>
            <a:ext cx="6675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i="1">
                <a:solidFill>
                  <a:srgbClr val="595959"/>
                </a:solidFill>
                <a:latin typeface="Calibri"/>
              </a:rPr>
              <a:t>Maior rede de perfumarias do Brasil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43891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6B35"/>
                </a:solidFill>
                <a:latin typeface="Calibri"/>
              </a:rPr>
              <a:t>40+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9377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  <a:latin typeface="Calibri"/>
              </a:rPr>
              <a:t>Anos de Historia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43891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6B35"/>
                </a:solidFill>
                <a:latin typeface="Calibri"/>
              </a:rPr>
              <a:t>~70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49377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  <a:latin typeface="Calibri"/>
              </a:rPr>
              <a:t>Lojas em SP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43891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6B35"/>
                </a:solidFill>
                <a:latin typeface="Calibri"/>
              </a:rPr>
              <a:t>124K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49377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  <a:latin typeface="Calibri"/>
              </a:rPr>
              <a:t>Seguidores Instagram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943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EA9DB"/>
                </a:solidFill>
                <a:latin typeface="Calibri"/>
              </a:rPr>
              <a:t>Janeiro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62179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F7F7F"/>
                </a:solidFill>
                <a:latin typeface="Calibri"/>
              </a:rPr>
              <a:t>CONFIDENCIAL | Proposta Comercial Inicial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Agenda da Reuniao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6576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FF6B35"/>
                </a:solidFill>
                <a:latin typeface="Calibri"/>
              </a:rPr>
              <a:t>35 minutos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417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Calibri"/>
              </a:rPr>
              <a:t>Visao Geral do Cliente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37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  <a:latin typeface="Calibri"/>
              </a:rPr>
              <a:t>Contexto de mercado e posicionamento atual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15087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4472C4"/>
                </a:solidFill>
                <a:latin typeface="Calibri"/>
              </a:rPr>
              <a:t>5 min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24028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2860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Calibri"/>
              </a:rPr>
              <a:t>Analise de Audiencia Digital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60604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  <a:latin typeface="Calibri"/>
              </a:rPr>
              <a:t>Trafego, canais e comportamento do consumidor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23774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4472C4"/>
                </a:solidFill>
                <a:latin typeface="Calibri"/>
              </a:rPr>
              <a:t>8 min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10896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2004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1546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Calibri"/>
              </a:rPr>
              <a:t>Radar de Maturidade Digital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47472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  <a:latin typeface="Calibri"/>
              </a:rPr>
              <a:t>Avaliacao comparativa vs. concorrentes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32461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4472C4"/>
                </a:solidFill>
                <a:latin typeface="Calibri"/>
              </a:rPr>
              <a:t>7 min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3977639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069079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023359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Calibri"/>
              </a:rPr>
              <a:t>Gaps e Oportunidades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343399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  <a:latin typeface="Calibri"/>
              </a:rPr>
              <a:t>Pontos de melhoria com impacto de negocio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4114799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4472C4"/>
                </a:solidFill>
                <a:latin typeface="Calibri"/>
              </a:rPr>
              <a:t>8 min</a:t>
            </a:r>
          </a:p>
        </p:txBody>
      </p:sp>
      <p:sp>
        <p:nvSpPr>
          <p:cNvPr id="25" name="Oval 24"/>
          <p:cNvSpPr/>
          <p:nvPr/>
        </p:nvSpPr>
        <p:spPr>
          <a:xfrm>
            <a:off x="457200" y="484632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9377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8920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Calibri"/>
              </a:rPr>
              <a:t>Keywords Transacionais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212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  <a:latin typeface="Calibri"/>
              </a:rPr>
              <a:t>Oportunidades de busca organica e paga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4983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4472C4"/>
                </a:solidFill>
                <a:latin typeface="Calibri"/>
              </a:rPr>
              <a:t>5 min</a:t>
            </a:r>
          </a:p>
        </p:txBody>
      </p:sp>
      <p:sp>
        <p:nvSpPr>
          <p:cNvPr id="30" name="Oval 29"/>
          <p:cNvSpPr/>
          <p:nvPr/>
        </p:nvSpPr>
        <p:spPr>
          <a:xfrm>
            <a:off x="457200" y="571500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8064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7607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Calibri"/>
              </a:rPr>
              <a:t>Proximos Passos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60807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  <a:latin typeface="Calibri"/>
              </a:rPr>
              <a:t>Recomendacoes e proposta de parceria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58521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4472C4"/>
                </a:solidFill>
                <a:latin typeface="Calibri"/>
              </a:rPr>
              <a:t>2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7F7F7F"/>
                </a:solidFill>
                <a:latin typeface="Calibri"/>
              </a:rPr>
              <a:t>* Dados obtidos atraves da tecnologia proprietaria v4 Company - Inteligencia Digital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Perfumaria Sumire: Lider Regional com Oportunidade Digital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685800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6492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788"/>
                </a:solidFill>
                <a:latin typeface="Calibri"/>
              </a:rPr>
              <a:t>Sobre a Empresa</a:t>
            </a:r>
          </a:p>
          <a:p>
            <a:r>
              <a:rPr sz="1300">
                <a:solidFill>
                  <a:srgbClr val="333333"/>
                </a:solidFill>
                <a:latin typeface="Calibri"/>
              </a:rPr>
              <a:t>
Fundada em 1984, a Perfumaria Sumire se consolidou como a maior rede de perfumarias do Brasil, com aproximadamente 70 lojas no estado de Sao Paulo. A empresa combina tradicao familiar com presenca omnichannel, operando e-commerce integrado com varejo fisico.</a:t>
            </a:r>
          </a:p>
          <a:p>
            <a:r>
              <a:rPr sz="1300" b="1">
                <a:solidFill>
                  <a:srgbClr val="595959"/>
                </a:solidFill>
                <a:latin typeface="Calibri"/>
              </a:rPr>
              <a:t>
Posicionamento: Perfumes importados e nacionais com atendimento especializado e precos competitivos.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0" y="1371600"/>
            <a:ext cx="169164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89520" y="1371600"/>
            <a:ext cx="73152" cy="1188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80" y="1508760"/>
            <a:ext cx="1508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788"/>
                </a:solidFill>
                <a:latin typeface="Calibri"/>
              </a:rPr>
              <a:t>2.04M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80" y="1920240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Calibri"/>
              </a:rPr>
              <a:t>Visitas Anuais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80" y="219456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F7F7F"/>
                </a:solidFill>
                <a:latin typeface="Calibri"/>
              </a:rPr>
              <a:t>Website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2743200"/>
            <a:ext cx="169164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0" y="2743200"/>
            <a:ext cx="73152" cy="1188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80" y="2880360"/>
            <a:ext cx="1508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788"/>
                </a:solidFill>
                <a:latin typeface="Calibri"/>
              </a:rPr>
              <a:t>~70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80" y="3291840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Calibri"/>
              </a:rPr>
              <a:t>Lojas Fisicas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80" y="356616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F7F7F"/>
                </a:solidFill>
                <a:latin typeface="Calibri"/>
              </a:rPr>
              <a:t>Estado de SP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4114800"/>
            <a:ext cx="169164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89520" y="4114800"/>
            <a:ext cx="73152" cy="1188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80" y="4251960"/>
            <a:ext cx="1508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788"/>
                </a:solidFill>
                <a:latin typeface="Calibri"/>
              </a:rPr>
              <a:t>124K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80" y="4663440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Calibri"/>
              </a:rPr>
              <a:t>Seguidores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80" y="493776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F7F7F"/>
                </a:solidFill>
                <a:latin typeface="Calibri"/>
              </a:rPr>
              <a:t>Instagram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5486400"/>
            <a:ext cx="169164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89520" y="5486400"/>
            <a:ext cx="73152" cy="1188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26680" y="5623560"/>
            <a:ext cx="1508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788"/>
                </a:solidFill>
                <a:latin typeface="Calibri"/>
              </a:rPr>
              <a:t>1.87%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80" y="6035040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33333"/>
                </a:solidFill>
                <a:latin typeface="Calibri"/>
              </a:rPr>
              <a:t>Engajamento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80" y="630936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F7F7F"/>
                </a:solidFill>
                <a:latin typeface="Calibri"/>
              </a:rPr>
              <a:t>Redes Sociais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840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788"/>
                </a:solidFill>
                <a:latin typeface="Calibri"/>
              </a:rPr>
              <a:t>Avaliacao Tecnica Atual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2976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PageSpeed Mobile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61772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70AD47"/>
                </a:solidFill>
                <a:latin typeface="Calibri"/>
              </a:rPr>
              <a:t>79/100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42976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PageSpeed Desktop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461772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70AD47"/>
                </a:solidFill>
                <a:latin typeface="Calibri"/>
              </a:rPr>
              <a:t>83/100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2976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SEO Score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461772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0504D"/>
                </a:solidFill>
                <a:latin typeface="Calibri"/>
              </a:rPr>
              <a:t>74/100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42976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Acessibilidade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61772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0504D"/>
                </a:solidFill>
                <a:latin typeface="Calibri"/>
              </a:rPr>
              <a:t>70/100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12064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Google Analytics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4406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70AD47"/>
                </a:solidFill>
                <a:latin typeface="Calibri"/>
              </a:rPr>
              <a:t>Implementado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512064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Facebook Pixel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54406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70AD47"/>
                </a:solidFill>
                <a:latin typeface="Calibri"/>
              </a:rPr>
              <a:t>Implementado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512064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Google Tag Manager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54406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0504D"/>
                </a:solidFill>
                <a:latin typeface="Calibri"/>
              </a:rPr>
              <a:t>Ausente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solidFill>
            <a:srgbClr val="8EA9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6035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4788"/>
                </a:solidFill>
                <a:latin typeface="Calibri"/>
              </a:rPr>
              <a:t>INSIGHT: </a:t>
            </a:r>
            <a:r>
              <a:rPr sz="1200">
                <a:solidFill>
                  <a:srgbClr val="333333"/>
                </a:solidFill>
                <a:latin typeface="Calibri"/>
              </a:rPr>
              <a:t>Ausencia de Google Tag Manager limita a capacidade de rastreamento avancado e integracao com plataformas de automacao de marketing.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Sumire vs. Mercado: Trafego Solido, Maturidade Digital a Desenvolver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788"/>
                </a:solidFill>
                <a:latin typeface="Calibri"/>
              </a:rPr>
              <a:t>Evolucao de Trafego 12 Meses</a:t>
            </a:r>
          </a:p>
        </p:txBody>
      </p:sp>
      <p:pic>
        <p:nvPicPr>
          <p:cNvPr id="5" name="Picture 4" descr="traffic_12mon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5669280" cy="28108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788"/>
                </a:solidFill>
                <a:latin typeface="Calibri"/>
              </a:rPr>
              <a:t>Radar de Maturidade Digital</a:t>
            </a:r>
          </a:p>
        </p:txBody>
      </p:sp>
      <p:pic>
        <p:nvPicPr>
          <p:cNvPr id="7" name="Picture 6" descr="radar_sumi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645920"/>
            <a:ext cx="5669280" cy="537477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852160"/>
            <a:ext cx="1124712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4788"/>
                </a:solidFill>
                <a:latin typeface="Calibri"/>
              </a:rPr>
              <a:t>2.042.820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  <a:latin typeface="Calibri"/>
              </a:rPr>
              <a:t>Visitas em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594360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70AD47"/>
                </a:solidFill>
                <a:latin typeface="Calibri"/>
              </a:rPr>
              <a:t>+92%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630936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  <a:latin typeface="Calibri"/>
              </a:rPr>
              <a:t>Crescimento YoY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594360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472C4"/>
                </a:solidFill>
                <a:latin typeface="Calibri"/>
              </a:rPr>
              <a:t>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630936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  <a:latin typeface="Calibri"/>
              </a:rPr>
              <a:t>Trafego Direto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594360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472C4"/>
                </a:solidFill>
                <a:latin typeface="Calibri"/>
              </a:rPr>
              <a:t>28%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630936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  <a:latin typeface="Calibri"/>
              </a:rPr>
              <a:t>Busca Organica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594360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6B35"/>
                </a:solidFill>
                <a:latin typeface="Calibri"/>
              </a:rPr>
              <a:t>15%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630936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  <a:latin typeface="Calibri"/>
              </a:rPr>
              <a:t>Redes Sociais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Gaps Identificados: Oportunidades de Alto Impacto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56692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09728" cy="246888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1371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C0504D"/>
                </a:solidFill>
                <a:latin typeface="Calibri"/>
              </a:rPr>
              <a:t>IMPACTO ALTO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33333"/>
                </a:solidFill>
                <a:latin typeface="Calibri"/>
              </a:rPr>
              <a:t>Ausencia de Google Tag 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Sem GTM, cada alteracao de tracking exige desenvolvimento. Isso impede testes A/B rapidos, integracao com CRMs e automacao de marketing. Concorrentes com GTM implementam campanhas 60% mais rapido.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089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70AD47"/>
                </a:solidFill>
                <a:latin typeface="Calibri"/>
              </a:rPr>
              <a:t>-&gt; </a:t>
            </a:r>
            <a:r>
              <a:rPr sz="1000">
                <a:solidFill>
                  <a:srgbClr val="70AD47"/>
                </a:solidFill>
                <a:latin typeface="Calibri"/>
              </a:rPr>
              <a:t>Implementar GTM com camada de dados estruturada para e-commerce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6692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109728" cy="2468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1371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6B35"/>
                </a:solidFill>
                <a:latin typeface="Calibri"/>
              </a:rPr>
              <a:t>IMPACTO MEDIO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41732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33333"/>
                </a:solidFill>
                <a:latin typeface="Calibri"/>
              </a:rPr>
              <a:t>Score de Acessibilidade Baixo (70/100)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82880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Problemas de contraste, navegacao por teclado e leitores de tela. Alem de excluir 15% do publico potencial, afeta negativamente o ranking no Google, que prioriza sites acessiveis.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1089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70AD47"/>
                </a:solidFill>
                <a:latin typeface="Calibri"/>
              </a:rPr>
              <a:t>-&gt; </a:t>
            </a:r>
            <a:r>
              <a:rPr sz="1000">
                <a:solidFill>
                  <a:srgbClr val="70AD47"/>
                </a:solidFill>
                <a:latin typeface="Calibri"/>
              </a:rPr>
              <a:t>Auditoria WCAG 2.1 e correcoes prioritarias de navegacao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931920"/>
            <a:ext cx="56692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931920"/>
            <a:ext cx="109728" cy="246888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4023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C0504D"/>
                </a:solidFill>
                <a:latin typeface="Calibri"/>
              </a:rPr>
              <a:t>IMPACTO ALTO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06908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33333"/>
                </a:solidFill>
                <a:latin typeface="Calibri"/>
              </a:rPr>
              <a:t>Presenca Limitada em LLMs/IA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4805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Sumire aparece em apenas 57% das buscas relevantes em ChatGPT, Perplexity, Gemini e Claude. Posicao media: 3.2 (vs. Soneda: 2.8). A nova geracao de consumidores usa IA para descoberta de marcas.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607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70AD47"/>
                </a:solidFill>
                <a:latin typeface="Calibri"/>
              </a:rPr>
              <a:t>-&gt; </a:t>
            </a:r>
            <a:r>
              <a:rPr sz="1000">
                <a:solidFill>
                  <a:srgbClr val="70AD47"/>
                </a:solidFill>
                <a:latin typeface="Calibri"/>
              </a:rPr>
              <a:t>Estrategia de conteudo otimizada para citacao em LLMs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931920"/>
            <a:ext cx="56692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931920"/>
            <a:ext cx="109728" cy="246888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0" y="4023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C0504D"/>
                </a:solidFill>
                <a:latin typeface="Calibri"/>
              </a:rPr>
              <a:t>IMPACTO ALTO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06908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33333"/>
                </a:solidFill>
                <a:latin typeface="Calibri"/>
              </a:rPr>
              <a:t>Trafego Pago Subotimizado (5%)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4805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Apenas 5% do trafego vem de midia paga, enquanto Lojas REDE investe ~6% e Epoca 6%. Ha oportunidade de capturar demanda transacional com ROI mensuravel em keywords de alta intencao.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7607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70AD47"/>
                </a:solidFill>
                <a:latin typeface="Calibri"/>
              </a:rPr>
              <a:t>-&gt; </a:t>
            </a:r>
            <a:r>
              <a:rPr sz="1000">
                <a:solidFill>
                  <a:srgbClr val="70AD47"/>
                </a:solidFill>
                <a:latin typeface="Calibri"/>
              </a:rPr>
              <a:t>Campanha piloto Google Ads focada em top 10 keywords transacionais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solidFill>
            <a:srgbClr val="8EA9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4788"/>
                </a:solidFill>
                <a:latin typeface="Calibri"/>
              </a:rPr>
              <a:t>Potencial de crescimento estimado: +35% em trafego qualificado e +25% em conversao com implementacao das recomendacoes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Keywords Transacionais: 102K Buscas Mensais em Oportunidade</a:t>
            </a:r>
          </a:p>
        </p:txBody>
      </p:sp>
      <p:pic>
        <p:nvPicPr>
          <p:cNvPr id="4" name="Picture 3" descr="keyword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7772400" cy="58920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280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788"/>
                </a:solidFill>
                <a:latin typeface="Calibri"/>
              </a:rPr>
              <a:t>Destaques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737360"/>
            <a:ext cx="3657600" cy="685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828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6B35"/>
                </a:solidFill>
                <a:latin typeface="Calibri"/>
              </a:rPr>
              <a:t>102K+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192024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alibri"/>
              </a:rPr>
              <a:t>Volume mensal total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2560320"/>
            <a:ext cx="3657600" cy="685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26517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6B35"/>
                </a:solidFill>
                <a:latin typeface="Calibri"/>
              </a:rPr>
              <a:t>R$2.20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27432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alibri"/>
              </a:rPr>
              <a:t>CPC medio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3383280"/>
            <a:ext cx="3657600" cy="685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34747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6B35"/>
                </a:solidFill>
                <a:latin typeface="Calibri"/>
              </a:rPr>
              <a:t>Pos.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356616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alibri"/>
              </a:rPr>
              <a:t>Melhor ranking atual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4206240"/>
            <a:ext cx="3657600" cy="685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42976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6B35"/>
                </a:solidFill>
                <a:latin typeface="Calibri"/>
              </a:rPr>
              <a:t>6 de 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438912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Calibri"/>
              </a:rPr>
              <a:t>Keywords no Top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0292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4788"/>
                </a:solidFill>
                <a:latin typeface="Calibri"/>
              </a:rPr>
              <a:t>Oportunidade Imediata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5394960"/>
            <a:ext cx="3657600" cy="1188720"/>
          </a:xfrm>
          <a:prstGeom prst="rect">
            <a:avLst/>
          </a:prstGeom>
          <a:solidFill>
            <a:srgbClr val="8EA9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54864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Calibri"/>
              </a:rPr>
              <a:t>9 keywords com posicao &gt;5 e volume &gt;5K representam oportunidade de R$180K/ano em trafego organico equivalente (vs. custo de aquisicao paga).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Proximo passo: Proposta detalhada de SEO + Paid Search com projecao de ROI em 90 dias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